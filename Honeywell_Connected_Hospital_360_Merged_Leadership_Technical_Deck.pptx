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01752"/>
            <a:ext cx="3886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Arial"/>
              </a:defRPr>
            </a:pPr>
            <a:r>
              <a:t>Whole-Hospital Application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9692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800" b="1">
                <a:solidFill>
                  <a:srgbClr val="202020"/>
                </a:solidFill>
                <a:latin typeface="Arial"/>
              </a:defRPr>
            </a:pPr>
            <a:r>
              <a:t>Honeywell Connected Hospital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96926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36393F"/>
                </a:solidFill>
                <a:latin typeface="Arial"/>
              </a:defRPr>
            </a:pPr>
            <a:r>
              <a:t>Patient Journey Command Center from OPD to post-discharge 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OPD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Emergency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IPD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OT / ICU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Discharge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Post-discharge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202020"/>
                </a:solidFill>
                <a:latin typeface="Arial"/>
              </a:defRPr>
            </a:pPr>
            <a:r>
              <a:t>An intelligent operating layer that connects patient monitoring, hospital operations, risk prediction, discharge coordination, and care continuity.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Executive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Connected Hospital 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51560"/>
            <a:ext cx="106070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Honeywell Connected Hospital 360 follows the patient across the full hospital journey and gives leaders one operating picture for care, capacity, assets, discharge, and post-discharge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22402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Clinical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risk visibility, early warning, faster intervention.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560320"/>
            <a:ext cx="73152" cy="22402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flow, discharge readiness, asset availability, staff coordination.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560320"/>
            <a:ext cx="73152" cy="22402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Less waiting, safer transitions, stronger post-discharge follow-up.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4040" y="2560320"/>
            <a:ext cx="73152" cy="22402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Better throughput, lower delays, scalable software and services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349240"/>
            <a:ext cx="62179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From device innovation to whole-hospital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End-to-end patient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OPD to post-discharge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OPD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536192"/>
            <a:ext cx="137159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77439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Emergency / triage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1536192"/>
            <a:ext cx="137159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59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Admission / IPD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19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79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OT / ICU / step-down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01000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Discharge readiness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38360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0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Post-discharge care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Appointment, queue, vitals, ECG snapshot, risk pre-screening.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251460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Emergency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Triage scoring, ER vitals, intervention readiness.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7304" y="25146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IPD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Patch monitoring, BP/SpO2, nurse task queue, risk score.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06908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OT/ICU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Readiness board, transfer queue, post-procedure monitoring.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5112" y="406908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Clinical, pharmacy, billing, diagnostics, transport, housekeeping.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7304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406908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3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Post-care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3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Remote monitoring, adherence, follow-up, readmission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Clinical 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Creating time to intervene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024128"/>
            <a:ext cx="103327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300" b="1">
                <a:solidFill>
                  <a:srgbClr val="202020"/>
                </a:solidFill>
                <a:latin typeface="Arial"/>
              </a:defRPr>
            </a:pPr>
            <a:r>
              <a:t>Leading hospitals can save lives when patients reach the right intervention team in time. Connected Hospital 360 creates that time window through continuous monitoring, risk scoring, and coordinated escalation.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803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Detect earlier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vitals, ECG, BP, SpO2, trends, missed observations.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8803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Predict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Patient-specific risk score and deterioration prediction.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8803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Act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Escalation queues, OT/ICU readiness, team coordination.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5257800"/>
            <a:ext cx="75895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Clinical outcome: right patient, right team, right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OPD and pre-admission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Front door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Connected vitals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BP, SpO2, temperature, heart rate, ECG snapshot.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Risk pre-screening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Cardiac, respiratory, diabetic, elderly, post-operative follow-up cohorts.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Doctor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 history, risk trend, previous vitals, next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10149840" cy="132588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Queue visibility improves patient flow before consultation.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High-risk patients are fast-tracked to diagnostics, emergency, or admission.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OPD becomes a risk-detection layer rather than only a consultation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Emergency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Critical-front-door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Rapid triage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symptoms, age, comorbidity,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ER command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Waiting risk, observation status, intervention priority.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Pre-arrival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Ambulance vitals and patient context before arrival.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383280"/>
            <a:ext cx="818387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When risk crosses threshold, OT/ICU readiness begins before deterioration becomes irreversible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251960"/>
            <a:ext cx="1001268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251960"/>
            <a:ext cx="73152" cy="9144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97200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Emergency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09160"/>
            <a:ext cx="9701784" cy="40233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Earlier prioritization, faster escalation, better preparedness for cardiac and high-acuity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Admission and IPD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Continuous ward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43000"/>
            <a:ext cx="73152" cy="21945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Patient-bed-device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Patient, bed, patch, BP device, ward, episode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1143000"/>
            <a:ext cx="73152" cy="21945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Wearable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ECG, HR, respiration, temperature, posture, restlessness.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143000"/>
            <a:ext cx="73152" cy="21945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Nurse task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alerts, medication reminders, escalation follow-up.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1143000"/>
            <a:ext cx="73152" cy="21945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Risk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trends, missed observations, patient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892040"/>
            <a:ext cx="68122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IPD outcome: fewer blind spots between rounds and clearer escalation ownership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OT, ICU, and step-down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High-acuity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6916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OT readiness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Patient, staff, equipment, clearance, transfer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6916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ICU / CCU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availability, transfer queue, acuity demand.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6916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Step-down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Stability trend, post-procedure monitoring, deterioration alerts.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10241280" cy="128016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Post-procedure patients remain visible through patch and connected vitals.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Step-down transitions become data-backed rather than only schedule-driven.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Care teams see deterioration risk after transfer, not only during ICU stay.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Diagnostics, pharmacy, and support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Department coordination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Diagnostics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14300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Pharmacy readiness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Billing clearance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0312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Biomedical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10312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Patient 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Housekeeping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49834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4290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38728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state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467258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Each department updates readiness, delay reason, owner, and expected completion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429000"/>
            <a:ext cx="49834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2900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38728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Command-center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467258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Bottlenecks become visible before they delay admission, discharge, or bed release.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Discharge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Turning discharge into bed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Clinical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1430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Diagnostics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1430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Pharmacy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430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0574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Nursing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0574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574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Housekeeping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574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Bed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Clearance status, delay reason codes, expected discharge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33756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cleaning starts after discharge confirmation and bed release.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33756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Capacity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Admission and emergency teams see upcoming bed availability.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5257800"/>
            <a:ext cx="63093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Discharge readiness becomes a measurable operating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Post-discharge remote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Care continuity beyond hospital walls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6459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Home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Wearable patch, BP monitor, SpO2, home vitals kit.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6459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Medication reminders, follow-up coordination, symptoms check-ins.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6459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Readmission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Risk prediction and escalation to hospital care team.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141732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Post-discharge patients remain visible during the risk window after hospitalization.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Care teams receive alerts when vitals or symptoms cross thresholds.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The hospital extends its care relationship and reduces avoidable readmission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Whole-hospital operations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Beyond patient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Occupancy, cleaning, blocked, maintenance, transfer, discharge-ready.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Pumps, monitors, wheelchairs, cylinders, ECG carts, stretchers.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Staff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Nurse tasks, transport requests, housekeeping, biomedical actions.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OPD queues, ER wait, transfer queue, discharge queue.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Service SLAs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Department delays, owner, aging, bottleneck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Leadership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Throughput, occupancy, risk heatmap, utilization, readmission risk.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Clinical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Continuous scoring and early warning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Vitals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0515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ECG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BP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0515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SpO2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5208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Respiration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2" y="17373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Symptoms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7373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Missed observations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Care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88920"/>
            <a:ext cx="338328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Risk score + deterioration prediction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08760" y="1783080"/>
            <a:ext cx="4572000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6472" y="1783080"/>
            <a:ext cx="2304288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4184" y="1783080"/>
            <a:ext cx="36576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80760" y="1783080"/>
            <a:ext cx="2231136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0760" y="1783080"/>
            <a:ext cx="4498848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2468880"/>
            <a:ext cx="4572000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76472" y="2468880"/>
            <a:ext cx="2304288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44184" y="2468880"/>
            <a:ext cx="36576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80760" y="2468880"/>
            <a:ext cx="2231136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80760" y="2468880"/>
            <a:ext cx="4498848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68680" y="4160520"/>
            <a:ext cx="484632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160520"/>
            <a:ext cx="73152" cy="960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27024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Clinical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617720"/>
            <a:ext cx="4535424" cy="448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Risk band, trend, reason codes, escalation queue, intervention readiness.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160520"/>
            <a:ext cx="484632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4160520"/>
            <a:ext cx="73152" cy="960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27024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617720"/>
            <a:ext cx="4535424" cy="448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Nurse task, doctor review, OT/ICU readiness, transfer priority.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Leadership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One hospital operating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OPD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Queue, wait, high-risk OPD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ER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Triage status, observation, critical escalations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IPD acuity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Ward risk heatmap, nurse workload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Occupancy, cleaning, discharge-ready,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Critical equipment location and utilization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Readmission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Post-discharge alerts and follow-up gaps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Data and integration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Hospital systems plus connected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34440"/>
            <a:ext cx="1965960" cy="62179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HMS / EHR / EMR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1965960" cy="621792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ADT + appointments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34440"/>
            <a:ext cx="1965960" cy="62179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Device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34440"/>
            <a:ext cx="1965960" cy="621792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Workflow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743200"/>
            <a:ext cx="448056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Connected Hospital 360 Platform</a:t>
            </a:r>
            <a:br/>
            <a:r>
              <a:t>FHIR / HL7 / REST / adapters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14500" y="1856231"/>
            <a:ext cx="436626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20540" y="1856231"/>
            <a:ext cx="176022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1856231"/>
            <a:ext cx="84582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1856231"/>
            <a:ext cx="345186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68680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25196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Patch, BP, SpO2, bed sensors, asset tags.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25196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Nursing, pharmacy, diagnostics, billing, housekeeping.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425196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 risk, flow KPIs, utilization, readmission 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Measurable value across hospital and Honeywell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risk visibility and faster escalation.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Better bed utilization, discharge readiness, and turnover.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Lower manual coordination and asset search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Care continuity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Remote monitoring and reduced avoidable readmission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Leadership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One operating picture across departments and facilities.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Honeywell growth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Software, devices, analytics, integration, services, enterprise licensing.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Application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Modular platform for phased hospital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Care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OPD, ER, IPD, OT/ICU monitoring and clinical risk engine.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Operations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management, asset intelligence, staff tasks, service queues.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Discharge readiness, clearances, delay reasons, bed release.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Remote care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Post-discharge monitoring, adherence, follow-up, readmission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Leadership dashboards, KPIs, bottlenecks, multi-site analytics.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Integration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HMS/EHR/EMR, ADT, FHIR/HL7, REST, hospital adapters.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Closing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Whole-hospital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097280"/>
            <a:ext cx="1033272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800" b="1">
                <a:solidFill>
                  <a:srgbClr val="202020"/>
                </a:solidFill>
                <a:latin typeface="Arial"/>
              </a:defRPr>
            </a:pPr>
            <a:r>
              <a:t>Honeywell Connected Hospital 360 is the intelligent operating layer for modern hospitals.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9921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6393F"/>
                </a:solidFill>
                <a:latin typeface="Arial"/>
              </a:defRPr>
            </a:pPr>
            <a:r>
              <a:t>It connects the full patient journey with hospital operations, helping providers move from reactive care to predictive, coordinated, and measurable care across OPD, IPD, discharge, and post-discharge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892040"/>
            <a:ext cx="63093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From wearable patch to whole-hospital command center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  <a:latin typeface="Arial"/>
              </a:defRPr>
            </a:pPr>
            <a:r>
              <a:t>Technical Architecture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36393F"/>
                </a:solidFill>
                <a:latin typeface="Arial"/>
              </a:defRPr>
            </a:pPr>
            <a:r>
              <a:t>Wearable Smart Patch foundation, edge architecture, data flows, integrations, security, and deployment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251960"/>
            <a:ext cx="5349240" cy="438912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Section 2: Architecture and implementation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30175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Arial"/>
              </a:defRPr>
            </a:pPr>
            <a:r>
              <a:t>Technical Architecture Version |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202020"/>
                </a:solidFill>
                <a:latin typeface="Arial"/>
              </a:defRPr>
            </a:pPr>
            <a:r>
              <a:t>Connected Care and Hospital Operations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87168"/>
            <a:ext cx="6126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36393F"/>
                </a:solidFill>
                <a:latin typeface="Arial"/>
              </a:defRPr>
            </a:pPr>
            <a:r>
              <a:t>A technically rich architecture view using existing WSP product, prototype, and component visuals</a:t>
            </a:r>
          </a:p>
        </p:txBody>
      </p:sp>
      <p:pic>
        <p:nvPicPr>
          <p:cNvPr id="7" name="Picture 6" descr="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234440"/>
            <a:ext cx="4480560" cy="2215964"/>
          </a:xfrm>
          <a:prstGeom prst="rect">
            <a:avLst/>
          </a:prstGeom>
        </p:spPr>
      </p:pic>
      <p:pic>
        <p:nvPicPr>
          <p:cNvPr id="8" name="Picture 7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160520"/>
            <a:ext cx="2834640" cy="21060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3886200"/>
            <a:ext cx="20116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Patient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886200"/>
            <a:ext cx="182880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Edge +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886200"/>
            <a:ext cx="182880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6400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50" b="0">
                <a:solidFill>
                  <a:srgbClr val="63666A"/>
                </a:solidFill>
                <a:latin typeface="Arial"/>
              </a:defRPr>
            </a:pPr>
            <a:r>
              <a:t>2026 India and APAC Innovation 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Clinical imperative: world-class hospitals can save patients when they reach the intervention team in time. Honeywell creates that time window through continuous risk scoring, deterioration prediction, and faster escalation.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23160"/>
            <a:ext cx="73152" cy="2331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Patch, BP, SpO2, bed sensors, asset tags.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423160"/>
            <a:ext cx="73152" cy="23317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Resilient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Authentication, buffering, protocol normalization, gateway orchestration.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423160"/>
            <a:ext cx="73152" cy="23317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Platform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Registry, assignment, time-series ingest, rules, alerts, analytics.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423160"/>
            <a:ext cx="242316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4040" y="2423160"/>
            <a:ext cx="73152" cy="23317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3288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Hospital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880360"/>
            <a:ext cx="2112264" cy="181965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Nurse, doctor, bed board, asset map, leadership command center.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349240"/>
            <a:ext cx="66751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Clinical objective: monitor risk continuously, predict attacks earlier, and help save lives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WSP foundation already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Prototype, concept, and hardware visuals already documented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1" name="Picture 10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3383280" cy="2392311"/>
          </a:xfrm>
          <a:prstGeom prst="rect">
            <a:avLst/>
          </a:prstGeom>
        </p:spPr>
      </p:pic>
      <p:pic>
        <p:nvPicPr>
          <p:cNvPr id="12" name="Picture 11" descr="image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078992"/>
            <a:ext cx="3154680" cy="2343829"/>
          </a:xfrm>
          <a:prstGeom prst="rect">
            <a:avLst/>
          </a:prstGeom>
        </p:spPr>
      </p:pic>
      <p:pic>
        <p:nvPicPr>
          <p:cNvPr id="13" name="Picture 12" descr="imag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097280"/>
            <a:ext cx="3337560" cy="235998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" y="4315968"/>
            <a:ext cx="338328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15968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25696"/>
            <a:ext cx="30906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Industrial design 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07238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Reusable patch housing, LED indication, button, USB-C opening.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315968"/>
            <a:ext cx="315468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4315968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425696"/>
            <a:ext cx="28620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Prototype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773168"/>
            <a:ext cx="284378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Physical WSP unit, ECG cable, charger, and lead interface.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315968"/>
            <a:ext cx="33375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4315968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25696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Electrode-side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773168"/>
            <a:ext cx="30266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Electrode placement concept for ECG and body-contact sensing.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577840"/>
            <a:ext cx="626364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Source visuals embedded from existing concept and MVO documents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Wearable patch hardware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Current MVO component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115568"/>
            <a:ext cx="1508760" cy="1225296"/>
          </a:xfrm>
          <a:prstGeom prst="rect">
            <a:avLst/>
          </a:prstGeom>
        </p:spPr>
      </p:pic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43200"/>
            <a:ext cx="1417320" cy="1202436"/>
          </a:xfrm>
          <a:prstGeom prst="rect">
            <a:avLst/>
          </a:prstGeom>
        </p:spPr>
      </p:pic>
      <p:pic>
        <p:nvPicPr>
          <p:cNvPr id="13" name="Picture 12" descr="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143000"/>
            <a:ext cx="3108960" cy="15611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0" y="105156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ESP32-S3-MINI-1</a:t>
            </a:r>
            <a:br/>
            <a:r>
              <a:t>MCU + Wi-Fi + 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05156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MAX30003</a:t>
            </a:r>
            <a:br/>
            <a:r>
              <a:t>ECG 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105156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TMP1075</a:t>
            </a:r>
            <a:br/>
            <a:r>
              <a:t>Skin temp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14884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ADXL367</a:t>
            </a:r>
            <a:br/>
            <a:r>
              <a:t>Posture +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14884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MAX20356 PMIC</a:t>
            </a:r>
            <a:br/>
            <a:r>
              <a:t>Charger + power path + fuel gauge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214884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450 mAh Li-Po</a:t>
            </a:r>
            <a:br/>
            <a:r>
              <a:t>Rechargeable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42900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USB-C + ECG lead cable</a:t>
            </a:r>
            <a:br/>
            <a:r>
              <a:t>Power + data + sensor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429000"/>
            <a:ext cx="1572768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RGB LED + button</a:t>
            </a:r>
            <a:br/>
            <a:r>
              <a:t>Status + wakeup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429000"/>
            <a:ext cx="1572768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Debug UART</a:t>
            </a:r>
            <a:br/>
            <a:r>
              <a:t>Manufacturing + support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5968" y="1371600"/>
            <a:ext cx="484632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73368" y="1371600"/>
            <a:ext cx="13716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15968" y="2468880"/>
            <a:ext cx="484632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73368" y="2468880"/>
            <a:ext cx="13716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29584" y="1709928"/>
            <a:ext cx="0" cy="438912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4315968" y="1371600"/>
            <a:ext cx="484632" cy="2377439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29600" y="3886200"/>
            <a:ext cx="306324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8862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95928"/>
            <a:ext cx="27706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Hardware 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275234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Patient-worn telemetry endpoint for ECG, temperature, posture, movement, derived respiration, device health, and future vitals expansion.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Patch signal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From body signal to actionable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1" name="Picture 10" descr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3383280" cy="166698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Body contact</a:t>
            </a:r>
            <a:br/>
            <a:r>
              <a:t>ECG/temp/motion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146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Analog front end</a:t>
            </a:r>
            <a:br/>
            <a:r>
              <a:t>filter + sample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MCU processing</a:t>
            </a:r>
            <a:br/>
            <a:r>
              <a:t>packetize + status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22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Wi-Fi/BLE telemetry</a:t>
            </a:r>
            <a:br/>
            <a:r>
              <a:t>authenticated send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3794760"/>
            <a:ext cx="1600200" cy="7772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Edge ingest</a:t>
            </a:r>
            <a:br/>
            <a:r>
              <a:t>buffer + normalize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4187952"/>
            <a:ext cx="2286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3794760"/>
            <a:ext cx="160020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Rules + dashboard</a:t>
            </a:r>
            <a:br/>
            <a:r>
              <a:t>alerts +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097280"/>
            <a:ext cx="6492240" cy="196596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Sampling and packet cadence configurable by clinical workflow and battery budget.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Telemetry contains sensor values, timestamp, device ID, battery, RSSI/connectivity state, and firmware/config version.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Edge buffering protects against temporary hospital Wi-Fi disruption.</a:t>
            </a:r>
          </a:p>
          <a:p>
            <a:pPr>
              <a:spcAft>
                <a:spcPts val="400"/>
              </a:spcAft>
              <a:defRPr sz="1280">
                <a:solidFill>
                  <a:srgbClr val="202020"/>
                </a:solidFill>
                <a:latin typeface="Arial"/>
              </a:defRPr>
            </a:pPr>
            <a:r>
              <a:t>Platform association links every payload to patient, bed, ward, and care episode.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Expanded device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Clinical and operational telemetry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11" name="Picture 10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2743200" cy="13567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703320"/>
            <a:ext cx="2926080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03320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13048"/>
            <a:ext cx="26334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Wearable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615184" cy="658368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Continuous ECG, HR, temperature, respiration, posture, restlessness.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234440"/>
            <a:ext cx="2057400" cy="7315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Connected BP + SpO2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194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Periodic vitals capture during ward rounds and high-risk monitoring.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234440"/>
            <a:ext cx="2057400" cy="7315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state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194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Occupied, vacant, cleaning, blocked, transfer, discharge-ready, maintenance.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234440"/>
            <a:ext cx="2057400" cy="7315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 tags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194560"/>
            <a:ext cx="205740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194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2304288"/>
            <a:ext cx="1764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651760"/>
            <a:ext cx="174650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6393F"/>
                </a:solidFill>
                <a:latin typeface="Arial"/>
              </a:defRPr>
            </a:pPr>
            <a:r>
              <a:t>BLE, Wi-Fi, RFID, or UWB tags for pumps, monitors, cylinders, carts, wheelchairs.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429000" y="1600200"/>
            <a:ext cx="548639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29000" y="1600200"/>
            <a:ext cx="3063240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29000" y="1600200"/>
            <a:ext cx="5577840" cy="64008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83280" y="5440680"/>
            <a:ext cx="62179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Unified event model across clinical signals and operations events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Connectivity and edge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Hospital-grade connectivity under network variability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0972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Patch + BP + SpO2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1704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Wi-Fi / 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1371600"/>
            <a:ext cx="777240" cy="13716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20116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848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BLE / wired 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2286000"/>
            <a:ext cx="777240" cy="4572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29260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 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9992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BLE / RFID / UWB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40480" y="2743200"/>
            <a:ext cx="777240" cy="4572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840480"/>
            <a:ext cx="201168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Mobile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913632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Tablet / workstation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840480" y="2743200"/>
            <a:ext cx="777240" cy="137160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2148840"/>
            <a:ext cx="2331720" cy="11887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Honeywell Edge Gateway</a:t>
            </a:r>
            <a:br/>
            <a:r>
              <a:t>Auth + buffer + normalize + route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325880"/>
            <a:ext cx="2423160" cy="56692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Device registry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949440" y="1609344"/>
            <a:ext cx="1417320" cy="1133856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66760" y="2240280"/>
            <a:ext cx="2423160" cy="56692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Time-series ingestion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949440" y="2523744"/>
            <a:ext cx="1417320" cy="219456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66760" y="3154680"/>
            <a:ext cx="2423160" cy="56692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Event bus +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49440" y="2743200"/>
            <a:ext cx="1417320" cy="694944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4069080"/>
            <a:ext cx="2423160" cy="56692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Command center APIs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49440" y="2743200"/>
            <a:ext cx="1417320" cy="1609344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77240" y="5074920"/>
            <a:ext cx="10058400" cy="6858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074920"/>
            <a:ext cx="73152" cy="6858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184648"/>
            <a:ext cx="9765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Edge 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532120"/>
            <a:ext cx="9747504" cy="17373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Local buffering, retry logic, time synchronization, device-health monitoring, and controlled reconnect behavior support hospital network variability.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Event-driven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Telemetry, workflow state, and analytics separation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024128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024128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133856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Raw telemetry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481328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Sensor payloads, ECG snapshots, vitals values, device metadata, timestamps.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56816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56816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066544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event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14016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Bed state changes, asset zone events, assignment changes, alert lifecycle.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89504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889504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999232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Rules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46704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Thresholds, trends, missed-vitals windows, battery/connectivity, bed/asset exceptions.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822191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822191"/>
            <a:ext cx="73152" cy="7498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931920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9392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Nurse queue, doctor review, housekeeping queue, biomedical action, transport task.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54879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754879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64607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Analytics aggregates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79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110">
                <a:solidFill>
                  <a:srgbClr val="36393F"/>
                </a:solidFill>
                <a:latin typeface="Arial"/>
              </a:defRPr>
            </a:pPr>
            <a:r>
              <a:t>Ward, hospital, and hospital-chain KPIs for throughput, acuity, utilization, response.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Patient-bed-device assignment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Avoiding orphan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MRN / episode / demographics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234440"/>
            <a:ext cx="1691640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Admission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60" y="205740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ward / department / care episode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234440"/>
            <a:ext cx="1691640" cy="658368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205740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bed ID / state / location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serial / firmware / battery /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1234440"/>
            <a:ext cx="1691640" cy="658368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Asset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2057400"/>
            <a:ext cx="169164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4040" y="205740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19" y="2167128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202020"/>
                </a:solidFill>
                <a:latin typeface="Arial"/>
              </a:defRPr>
            </a:pPr>
            <a:r>
              <a:t>Data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2514600"/>
            <a:ext cx="138074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36393F"/>
                </a:solidFill>
                <a:latin typeface="Arial"/>
              </a:defRPr>
            </a:pPr>
            <a:r>
              <a:t>tag ID / class / zone / service 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744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7200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6656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61120" y="1554480"/>
            <a:ext cx="5029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14400" y="3886200"/>
            <a:ext cx="484632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3886200"/>
            <a:ext cx="73152" cy="1234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9592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Assignment service responsibilities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343400"/>
            <a:ext cx="4535424" cy="7223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Pair device to patient, patient to bed, asset to zone, and events to care episode with auditability.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886200"/>
            <a:ext cx="484632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3886200"/>
            <a:ext cx="73152" cy="12344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99592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343400"/>
            <a:ext cx="4535424" cy="7223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Every telemetry point, bed event, and asset event is traceable to the right operational context.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Rules engine and alerting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Clinical and operations logic in one configurable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78992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Vitals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BP, HR, SpO2, temperature, ECG-derived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78992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Trend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Change over baseline, repeated abnormalities, escalation windows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78992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78992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8871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Missed vitals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36192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Expected observation not received within defined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53511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Battery, RSSI, offline, firmware/config mismatch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53511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delay, blocked bed, discharge-ready 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53511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53511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63239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exception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10711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Missing asset, zone exit, service due, low utilization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5349240"/>
            <a:ext cx="59893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Alert lifecycle: generated -&gt; routed -&gt; acknowledged -&gt; resolved -&gt; audited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Bed management technical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State machine plus workflow queues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Vacant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45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Occupied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Discharge-ready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120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Cleaning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951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Blocked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1188720"/>
            <a:ext cx="141732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Maintenance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146304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188720"/>
            <a:ext cx="1417320" cy="54864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514600"/>
            <a:ext cx="73152" cy="19202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State 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ADT feed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Nurse/ward update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Housekeeping update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Maintenance status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Transfer request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2514600"/>
            <a:ext cx="73152" cy="19202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Admission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Transport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Maintenance queue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Discharge coordination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514600"/>
            <a:ext cx="342900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514600"/>
            <a:ext cx="73152" cy="19202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KPIs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2971800"/>
            <a:ext cx="3118104" cy="14081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Turnaround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Blocked-bed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Cleaning cycle time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Occupancy</a:t>
            </a:r>
          </a:p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Transfer bottlenecks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257800"/>
            <a:ext cx="66751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Bed intelligence connects patient acuity, capacity, and hospital flow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Asset tracking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Accuracy tiers matched to operational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1556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115568"/>
            <a:ext cx="73152" cy="107899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25295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BLE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57276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Low cost zone proximity for pumps, wheelchairs, monitors.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115568"/>
            <a:ext cx="73152" cy="107899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25295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RFID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Entry/exit control for storerooms, wards, departments.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2432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624328"/>
            <a:ext cx="73152" cy="107899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34056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UWB zones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8152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Higher precision for critical assets and high-value equipment.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624328"/>
            <a:ext cx="4983480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624328"/>
            <a:ext cx="73152" cy="107899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34056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Wi-Fi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81528"/>
            <a:ext cx="4672584" cy="566927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Network-based location where infrastructure supports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72000"/>
            <a:ext cx="1033272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72000"/>
            <a:ext cx="73152" cy="7498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81728"/>
            <a:ext cx="10040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event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0021824" cy="237743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tag_id, asset_class, zone, timestamp, movement event, utilization state, service state, exception type, assigned department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Hospital integration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API-first, adapter-ready interoperability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205740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Hospital systems</a:t>
            </a:r>
            <a:br/>
            <a:r>
              <a:t>HMS / EHR / EMR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234440"/>
            <a:ext cx="205740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Integration adapter</a:t>
            </a:r>
            <a:br/>
            <a:r>
              <a:t>FHIR / HL7 /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234440"/>
            <a:ext cx="205740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Platform services</a:t>
            </a:r>
            <a:br/>
            <a:r>
              <a:t>ADT + assignment +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234440"/>
            <a:ext cx="182880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  <a:br/>
            <a:r>
              <a:t>Dashboards + APIs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21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23960" y="1572768"/>
            <a:ext cx="91440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7432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Inbound hospital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ADT, patient demographics, ward, bed, encounter, clinician assignment.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74320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Outbound platform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Alerts, vitals summaries, device events, bed-state updates, asset exceptions.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43200"/>
            <a:ext cx="329184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7432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529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Mapping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298094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Hospital-specific data dictionaries, interface monitoring, retry/error handling.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5166360"/>
            <a:ext cx="672084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Integration pattern supports heterogeneous India and APAC hospital environments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Security and compliance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Controls across device, edge, platform, and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Device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Provisioning, device registry, serial binding, firmware/config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9728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Secure 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Authenticated ingestion, encryption in transit, controlled gateways.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Role-based access for nurse, doctor, biomedical, operations, admin, leadership.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Auditability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Assignment changes, alert lifecycle, integration events, device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Network segmentation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Device, edge, platform, and hospital integration zones separated.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Deployment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On-premise, private cloud, or hybrid data-retention policies.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Deployment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Ward, hospital, and hospital-chain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210312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Ward deployment</a:t>
            </a:r>
            <a:br/>
            <a:r>
              <a:t>50-100 beds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234440"/>
            <a:ext cx="237744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Hospital deployment</a:t>
            </a:r>
            <a:br/>
            <a:r>
              <a:t>Multiple wards +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234440"/>
            <a:ext cx="2377440" cy="68580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Chain deployment</a:t>
            </a:r>
            <a:br/>
            <a:r>
              <a:t>Multi-site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234440"/>
            <a:ext cx="1645920" cy="6858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Enterprise</a:t>
            </a:r>
            <a:br/>
            <a:r>
              <a:t>Analytics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1572768"/>
            <a:ext cx="77724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1572768"/>
            <a:ext cx="77724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1572768"/>
            <a:ext cx="73152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78892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Ward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Patch devices, BP/SpO2, BLE gateway, nurse dashboard, basic alerts.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78892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Hospital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Bed board, asset tags, integration adapter, command-center workflows.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8892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Enterprise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4612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Multi-site KPIs, analytics aggregates, standard deployment template.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 guardrails for hospital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Buffered edge telemetry, retry logic, device health monitoring.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9728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Ward-to-chain architecture with event partitioning and modular services.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9728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07007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5448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Device registry, firmware/config visibility, interface monitoring.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Interoperability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FHIR/HL7 where available, REST adapters for local hospital systems.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Usability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Role-specific dashboards and exception-first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36393F"/>
                </a:solidFill>
                <a:latin typeface="Arial"/>
              </a:defRPr>
            </a:pPr>
            <a:r>
              <a:t>Telemetry-to-patient-to-bed-to-event lineage and audit logs.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End-to-end technical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How the platform demonstrates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1. 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Patient + bed + patch + BP device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74320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1460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2.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ECG, vitals, posture, temperature, device health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2743200"/>
            <a:ext cx="182880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34840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3. 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Edge authentication, buffering, payload normalization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35507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4. 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Risk scores, trends, thresholds, missed vitals, battery, connectivity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244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7531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143000"/>
            <a:ext cx="73152" cy="3246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19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5. 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Nurse queue, doctor review, bed board, asset map, command center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12680" y="2743200"/>
            <a:ext cx="182879" cy="0"/>
          </a:xfrm>
          <a:prstGeom prst="line">
            <a:avLst/>
          </a:prstGeom>
          <a:ln w="15240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195559" y="1143000"/>
            <a:ext cx="1737360" cy="3246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95559" y="1143000"/>
            <a:ext cx="73152" cy="3246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39" y="1252728"/>
            <a:ext cx="144475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6. 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39" y="1600200"/>
            <a:ext cx="1426463" cy="2734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6393F"/>
                </a:solidFill>
                <a:latin typeface="Arial"/>
              </a:defRPr>
            </a:pPr>
            <a:r>
              <a:t>Ward KPIs, throughput, utilization, enterprise reporting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5257800"/>
            <a:ext cx="65836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Demo story: sensor signal becomes risk score, clinical action, and measurable outcome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Technical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Architecture-led healthcare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18</a:t>
            </a:r>
          </a:p>
        </p:txBody>
      </p:sp>
      <p:pic>
        <p:nvPicPr>
          <p:cNvPr id="11" name="Picture 10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078992"/>
            <a:ext cx="3474720" cy="17185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143000"/>
            <a:ext cx="6309360" cy="420624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Honeywell sensing foundation connected to hospital workflow intelligence.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Multi-domain architecture for vitals, bed state, asset tracking, and command-center operations.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Edge resilience for real-world hospital network variability.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Integration-aware design for heterogeneous India and APAC hospital systems.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Scalable event model supporting ward deployment, hospital operations, and chain-level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40680"/>
            <a:ext cx="6080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From wearable telemetry to whole-hospital technical architecture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What we have already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288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Wearable Smart Patch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24128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33856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Clinical scope defined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53896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ECG, heart rate, skin temperature, respiration, posture, restlessness, SpO2 expansion, connected vitals workflows.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24128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024128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133856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MVO1 requirements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453896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Narayana Hrudayalaya business overview, reusable rechargeable device, periodic telemetry, API endpoint direction.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024128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024128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33856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Prototype and concepts created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453896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Industrial design renders, POC visuals, electrode placement, ECG cable options, USB-C interface, enclosure concepts.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96896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596896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06624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Hardware baseline developed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026663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ESP32-S3-MINI-1, MAX30003 ECG AFE, TMP1075, ADXL367, MAX20356 PMIC, Li-polymer battery, LED, debug support.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596896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596896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706624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Deliverables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026663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Smart patch device, ECG-USB cable, adhesive samples, user manual, Type-C charger, ECG plotting utility.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596896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596896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706624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Integration model mapped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026663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Honeywell hardware/firmware/backend responsibilities and NH API, HMS/patient-ID, reporting, alerts, validation roles.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169664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169664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79392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Clinical protocols researched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99432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Pre-surgical, post-cardiac, post-major surgery, emergency chest pain, arrhythmia, ICU/sepsis/shock monitoring.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169664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169664"/>
            <a:ext cx="73152" cy="117043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4279392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Business case prepared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99432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Bed capacity, launch device assumptions, pricing rationale, lifecycle view, patient-charge positioning, benefit/cost framing.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80" y="4169664"/>
            <a:ext cx="3364992" cy="1170432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4169664"/>
            <a:ext cx="73152" cy="1170432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279392"/>
            <a:ext cx="307238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30" b="1">
                <a:solidFill>
                  <a:srgbClr val="202020"/>
                </a:solidFill>
                <a:latin typeface="Arial"/>
              </a:defRPr>
            </a:pPr>
            <a:r>
              <a:t>MVO expansion path outlined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599432"/>
            <a:ext cx="3054096" cy="685800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defRPr sz="940">
                <a:solidFill>
                  <a:srgbClr val="36393F"/>
                </a:solidFill>
                <a:latin typeface="Arial"/>
              </a:defRPr>
            </a:pPr>
            <a:r>
              <a:t>MVO1 foundation toward respiration rate, HRV, posture, IPX4, and SpO2 expansion.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6601968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Technical Architecture Version | India and APAC Innovation Challenge - 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