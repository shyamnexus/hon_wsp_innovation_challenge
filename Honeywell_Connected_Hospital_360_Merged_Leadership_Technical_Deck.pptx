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4" Type="http://schemas.openxmlformats.org/officeDocument/2006/relationships/image" Target="../media/image2.jpg"/><Relationship Id="rId5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7373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01752"/>
            <a:ext cx="38862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Whole-Hospital Application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9692640" cy="1005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3800" b="1">
                <a:solidFill>
                  <a:srgbClr val="202020"/>
                </a:solidFill>
                <a:latin typeface="Arial"/>
              </a:defRPr>
            </a:pPr>
            <a:r>
              <a:t>Honeywell Connected Hospital 360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31720"/>
            <a:ext cx="969264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000" b="1">
                <a:solidFill>
                  <a:srgbClr val="36393F"/>
                </a:solidFill>
                <a:latin typeface="Arial"/>
              </a:defRPr>
            </a:pPr>
            <a:r>
              <a:t>Patient Journey Command Center from OPD to post-discharge care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94760"/>
            <a:ext cx="15087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OPD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79" y="3794760"/>
            <a:ext cx="150876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Emergency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94760"/>
            <a:ext cx="15087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IPD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6520" y="3794760"/>
            <a:ext cx="150876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OT / ICU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3794760"/>
            <a:ext cx="15087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Discharge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95560" y="3794760"/>
            <a:ext cx="150876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Post-discharge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987552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700" b="1">
                <a:solidFill>
                  <a:srgbClr val="202020"/>
                </a:solidFill>
                <a:latin typeface="Arial"/>
              </a:defRPr>
            </a:pPr>
            <a:r>
              <a:t>An intelligent operating layer that connects patient monitoring, hospital operations, risk prediction, discharge coordination, and care continuity.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Executive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Connected Hospital 360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051560"/>
            <a:ext cx="1060704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000" b="1">
                <a:solidFill>
                  <a:srgbClr val="202020"/>
                </a:solidFill>
                <a:latin typeface="Arial"/>
              </a:defRPr>
            </a:pPr>
            <a:r>
              <a:t>Honeywell Connected Hospital 360 follows the patient across the full hospital journey and gives leaders one operating picture for care, capacity, assets, discharge, and post-discharge risk.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60320"/>
            <a:ext cx="2423160" cy="22402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60320"/>
            <a:ext cx="73152" cy="22402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7004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Clinical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017520"/>
            <a:ext cx="2112264" cy="172821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Continuous risk visibility, early warning, faster intervention.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560320"/>
            <a:ext cx="2423160" cy="22402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11880" y="2560320"/>
            <a:ext cx="73152" cy="22402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67004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017520"/>
            <a:ext cx="2112264" cy="172821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Bed flow, discharge readiness, asset availability, staff coordination.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560320"/>
            <a:ext cx="2423160" cy="22402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2560320"/>
            <a:ext cx="73152" cy="22402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67004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Patient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17520"/>
            <a:ext cx="2112264" cy="172821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Less waiting, safer transitions, stronger post-discharge follow-up.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2560320"/>
            <a:ext cx="2423160" cy="22402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40" y="2560320"/>
            <a:ext cx="73152" cy="22402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267004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Business impact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19" y="3017520"/>
            <a:ext cx="2112264" cy="172821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Better throughput, lower delays, scalable software and services model.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6080" y="5349240"/>
            <a:ext cx="62179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From device innovation to whole-hospital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End-to-end patient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OPD to post-discharge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234440"/>
            <a:ext cx="1737360" cy="5943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rial"/>
              </a:defRPr>
            </a:pPr>
            <a:r>
              <a:t>OPD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1536192"/>
            <a:ext cx="137159" cy="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77439" y="1234440"/>
            <a:ext cx="1737360" cy="5943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rial"/>
              </a:defRPr>
            </a:pPr>
            <a:r>
              <a:t>Emergency / triage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0" y="1536192"/>
            <a:ext cx="137159" cy="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51959" y="1234440"/>
            <a:ext cx="1737360" cy="5943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rial"/>
              </a:defRPr>
            </a:pPr>
            <a:r>
              <a:t>Admission / IPD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19" y="1536192"/>
            <a:ext cx="137160" cy="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26479" y="1234440"/>
            <a:ext cx="1737360" cy="5943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rial"/>
              </a:defRPr>
            </a:pPr>
            <a:r>
              <a:t>OT / ICU / step-down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40" y="1536192"/>
            <a:ext cx="137160" cy="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001000" y="1234440"/>
            <a:ext cx="1737360" cy="5943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rial"/>
              </a:defRPr>
            </a:pPr>
            <a:r>
              <a:t>Discharge readiness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38360" y="1536192"/>
            <a:ext cx="137160" cy="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875520" y="1234440"/>
            <a:ext cx="1737360" cy="5943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80" b="1">
                <a:solidFill>
                  <a:srgbClr val="FFFFFF"/>
                </a:solidFill>
                <a:latin typeface="Arial"/>
              </a:defRPr>
            </a:pPr>
            <a:r>
              <a:t>Post-discharge care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14600"/>
            <a:ext cx="342900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971800"/>
            <a:ext cx="311810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36393F"/>
                </a:solidFill>
                <a:latin typeface="Arial"/>
              </a:defRPr>
            </a:pPr>
            <a:r>
              <a:t>Appointment, queue, vitals, ECG snapshot, risk pre-screening.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514600"/>
            <a:ext cx="342900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514600"/>
            <a:ext cx="73152" cy="1143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Emergency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07992" y="2971800"/>
            <a:ext cx="311810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36393F"/>
                </a:solidFill>
                <a:latin typeface="Arial"/>
              </a:defRPr>
            </a:pPr>
            <a:r>
              <a:t>Triage scoring, ER vitals, intervention readiness.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47304" y="2514600"/>
            <a:ext cx="342900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47304" y="2514600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0183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IPD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3" y="2971800"/>
            <a:ext cx="311810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36393F"/>
                </a:solidFill>
                <a:latin typeface="Arial"/>
              </a:defRPr>
            </a:pPr>
            <a:r>
              <a:t>Patch monitoring, BP/SpO2, nurse task queue, risk score.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69080"/>
            <a:ext cx="342900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069080"/>
            <a:ext cx="73152" cy="1143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17880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OT/ICU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526280"/>
            <a:ext cx="311810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36393F"/>
                </a:solidFill>
                <a:latin typeface="Arial"/>
              </a:defRPr>
            </a:pPr>
            <a:r>
              <a:t>Readiness board, transfer queue, post-procedure monitoring.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5112" y="4069080"/>
            <a:ext cx="342900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25112" y="4069080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07992" y="417880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Discharge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7992" y="4526280"/>
            <a:ext cx="311810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36393F"/>
                </a:solidFill>
                <a:latin typeface="Arial"/>
              </a:defRPr>
            </a:pPr>
            <a:r>
              <a:t>Clinical, pharmacy, billing, diagnostics, transport, housekeeping.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47304" y="4069080"/>
            <a:ext cx="342900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7304" y="4069080"/>
            <a:ext cx="73152" cy="1143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30183" y="417880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Post-care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0183" y="4526280"/>
            <a:ext cx="311810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19">
                <a:solidFill>
                  <a:srgbClr val="36393F"/>
                </a:solidFill>
                <a:latin typeface="Arial"/>
              </a:defRPr>
            </a:pPr>
            <a:r>
              <a:t>Remote monitoring, adherence, follow-up, readmission risk.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Clinical 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Creating time to intervene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024128"/>
            <a:ext cx="1033272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300" b="1">
                <a:solidFill>
                  <a:srgbClr val="202020"/>
                </a:solidFill>
                <a:latin typeface="Arial"/>
              </a:defRPr>
            </a:pPr>
            <a:r>
              <a:t>Leading hospitals can save lives when patients reach the right intervention team in time. Connected Hospital 360 creates that time window through continuous monitoring, risk scoring, and coordinated escalation.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80360"/>
            <a:ext cx="324612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803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990088"/>
            <a:ext cx="29535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Detect earlier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37560"/>
            <a:ext cx="293522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Continuous vitals, ECG, BP, SpO2, trends, missed observations.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880360"/>
            <a:ext cx="324612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28803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990088"/>
            <a:ext cx="29535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Predict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337560"/>
            <a:ext cx="293522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Patient-specific risk score and deterioration prediction.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880360"/>
            <a:ext cx="324612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28803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19" y="2990088"/>
            <a:ext cx="29535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Act faster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337560"/>
            <a:ext cx="293522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Escalation queues, OT/ICU readiness, team coordination.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5257800"/>
            <a:ext cx="75895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Clinical outcome: right patient, right team, right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OPD and pre-admission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Front door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14300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430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Connected vitals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60020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BP, SpO2, temperature, heart rate, ECG snapshot.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14300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1430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Risk pre-screening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60020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Cardiac, respiratory, diabetic, elderly, post-operative follow-up cohorts.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14300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1430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Doctor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60020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Patient history, risk trend, previous vitals, next action.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246120"/>
            <a:ext cx="10149840" cy="132588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Queue visibility improves patient flow before consultation.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High-risk patients are fast-tracked to diagnostics, emergency, or admission.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OPD becomes a risk-detection layer rather than only a consultation endpoint.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Emergency and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Critical-front-door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143000"/>
            <a:ext cx="329184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4300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Rapid triage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600200"/>
            <a:ext cx="298094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Vitals, symptoms, age, comorbidity, history.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143000"/>
            <a:ext cx="329184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1430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ER command 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600200"/>
            <a:ext cx="298094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Waiting risk, observation status, intervention priority.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143000"/>
            <a:ext cx="329184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14300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Pre-arrival handoff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600200"/>
            <a:ext cx="298094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Ambulance vitals and patient context before arrival.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383280"/>
            <a:ext cx="8183879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When risk crosses threshold, OT/ICU readiness begins before deterioration becomes irreversible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251960"/>
            <a:ext cx="10012680" cy="9144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4251960"/>
            <a:ext cx="73152" cy="9144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361688"/>
            <a:ext cx="97200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Emergency outcome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09160"/>
            <a:ext cx="9701784" cy="40233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Earlier prioritization, faster escalation, better preparedness for cardiac and high-acuity events.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Admission and IPD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Continuous ward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143000"/>
            <a:ext cx="2377440" cy="21945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143000"/>
            <a:ext cx="73152" cy="21945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1252728"/>
            <a:ext cx="20848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Patient-bed-device 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600200"/>
            <a:ext cx="2066544" cy="16824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Patient, bed, patch, BP device, ward, episode context.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1143000"/>
            <a:ext cx="2377440" cy="21945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1143000"/>
            <a:ext cx="73152" cy="21945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1252728"/>
            <a:ext cx="20848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Wearable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1600200"/>
            <a:ext cx="2066544" cy="16824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ECG, HR, respiration, temperature, posture, restlessness.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143000"/>
            <a:ext cx="2377440" cy="21945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1143000"/>
            <a:ext cx="73152" cy="21945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252728"/>
            <a:ext cx="20848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Nurse task queue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600200"/>
            <a:ext cx="2066544" cy="16824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Vitals, alerts, medication reminders, escalation follow-up.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55480" y="1143000"/>
            <a:ext cx="2377440" cy="21945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55480" y="1143000"/>
            <a:ext cx="73152" cy="21945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59" y="1252728"/>
            <a:ext cx="20848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Risk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59" y="1600200"/>
            <a:ext cx="2066544" cy="16824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Vitals, trends, missed observations, patient context.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4892040"/>
            <a:ext cx="68122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IPD outcome: fewer blind spots between rounds and clearer escalation ownership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OT, ICU, and step-down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High-acuity coordination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143000"/>
            <a:ext cx="3291840" cy="16916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43000"/>
            <a:ext cx="73152" cy="16916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OT readiness 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600200"/>
            <a:ext cx="2980944" cy="11795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Patient, staff, equipment, clearance, transfer status.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143000"/>
            <a:ext cx="3291840" cy="16916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143000"/>
            <a:ext cx="73152" cy="16916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ICU / CCU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600200"/>
            <a:ext cx="2980944" cy="11795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Bed availability, transfer queue, acuity demand.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143000"/>
            <a:ext cx="3291840" cy="16916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143000"/>
            <a:ext cx="73152" cy="16916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Step-down readiness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600200"/>
            <a:ext cx="2980944" cy="11795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Stability trend, post-procedure monitoring, deterioration alerts.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29000"/>
            <a:ext cx="10241280" cy="128016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Post-procedure patients remain visible through patch and connected vitals.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Step-down transitions become data-backed rather than only schedule-driven.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Care teams see deterioration risk after transfer, not only during ICU stay.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Diagnostics, pharmacy, and support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Department coordination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143000"/>
            <a:ext cx="29260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Diagnostics queue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1143000"/>
            <a:ext cx="292608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Pharmacy readiness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143000"/>
            <a:ext cx="29260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Billing clearance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103120"/>
            <a:ext cx="292608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Biomedical 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80" y="2103120"/>
            <a:ext cx="29260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Patient transport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103120"/>
            <a:ext cx="292608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Housekeeping queue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429000"/>
            <a:ext cx="498348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68680" y="34290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38728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state events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86200"/>
            <a:ext cx="467258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Each department updates readiness, delay reason, owner, and expected completion time.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3429000"/>
            <a:ext cx="498348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342900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538728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Command-center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886200"/>
            <a:ext cx="467258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Bottlenecks become visible before they delay admission, discharge, or bed release.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Discharge Command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Turning discharge into bed capacity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143000"/>
            <a:ext cx="2331720" cy="5029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Clinical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143000"/>
            <a:ext cx="2331720" cy="5029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Diagnostics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143000"/>
            <a:ext cx="2331720" cy="5029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Pharmacy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1143000"/>
            <a:ext cx="2331720" cy="5029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Billing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057400"/>
            <a:ext cx="2331720" cy="5029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Nursing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2057400"/>
            <a:ext cx="2331720" cy="5029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Transport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2057400"/>
            <a:ext cx="2331720" cy="5029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Housekeeping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057400"/>
            <a:ext cx="2331720" cy="5029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Bed release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37560"/>
            <a:ext cx="324612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33756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47288"/>
            <a:ext cx="29535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Discharge visibility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794760"/>
            <a:ext cx="293522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Clearance status, delay reason codes, expected discharge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0" y="3337560"/>
            <a:ext cx="324612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333756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3447288"/>
            <a:ext cx="29535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794760"/>
            <a:ext cx="293522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Bed cleaning starts after discharge confirmation and bed release.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337560"/>
            <a:ext cx="324612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33756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59" y="3447288"/>
            <a:ext cx="29535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Capacity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59" y="3794760"/>
            <a:ext cx="293522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Admission and emergency teams see upcoming bed availability.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5257800"/>
            <a:ext cx="63093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19" b="1">
                <a:solidFill>
                  <a:srgbClr val="FFFFFF"/>
                </a:solidFill>
                <a:latin typeface="Arial"/>
              </a:defRPr>
            </a:pPr>
            <a:r>
              <a:t>Discharge readiness becomes a measurable operating workflow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Post-discharge remote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Care continuity beyond hospital walls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143000"/>
            <a:ext cx="3291840" cy="16459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43000"/>
            <a:ext cx="73152" cy="16459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Home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600200"/>
            <a:ext cx="2980944" cy="11338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Wearable patch, BP monitor, SpO2, home vitals kit.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143000"/>
            <a:ext cx="3291840" cy="16459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143000"/>
            <a:ext cx="73152" cy="16459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Patient engagement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600200"/>
            <a:ext cx="2980944" cy="11338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Medication reminders, follow-up coordination, symptoms check-ins.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143000"/>
            <a:ext cx="3291840" cy="16459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143000"/>
            <a:ext cx="73152" cy="16459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527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Readmission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600200"/>
            <a:ext cx="2980944" cy="11338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Risk prediction and escalation to hospital care team.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383280"/>
            <a:ext cx="10149840" cy="141732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Post-discharge patients remain visible during the risk window after hospitalization.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Care teams receive alerts when vitals or symptoms cross thresholds.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The hospital extends its care relationship and reduces avoidable readmission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Whole-hospital operations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Beyond patient monitoring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Bed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Occupancy, cleaning, blocked, maintenance, transfer, discharge-ready.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515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Pumps, monitors, wheelchairs, cylinders, ECG carts, stretchers.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Staff coordination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Nurse tasks, transport requests, housekeeping, biomedical actions.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Patient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OPD queues, ER wait, transfer queue, discharge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Service SLAs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Department delays, owner, aging, bottleneck view.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Leadership KPIs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Throughput, occupancy, risk heatmap, utilization, readmission risk.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Clinical Risk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Continuous scoring and early warning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051560"/>
            <a:ext cx="1874519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Vitals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62072" y="1051560"/>
            <a:ext cx="1874519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ECG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9784" y="1051560"/>
            <a:ext cx="1874519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BP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97496" y="1051560"/>
            <a:ext cx="1874519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SpO2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5208" y="1051560"/>
            <a:ext cx="1874519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Respiration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1737360"/>
            <a:ext cx="1874519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Temperature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62072" y="1737360"/>
            <a:ext cx="1874519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Symptoms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9784" y="1737360"/>
            <a:ext cx="1874519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97496" y="1737360"/>
            <a:ext cx="1874519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Missed observations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65208" y="1737360"/>
            <a:ext cx="1874519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0" b="1">
                <a:solidFill>
                  <a:srgbClr val="FFFFFF"/>
                </a:solidFill>
                <a:latin typeface="Arial"/>
              </a:defRPr>
            </a:pPr>
            <a:r>
              <a:t>Care context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2788920"/>
            <a:ext cx="338328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Risk score + deterioration prediction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508760" y="1783080"/>
            <a:ext cx="4572000" cy="10058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776472" y="1783080"/>
            <a:ext cx="2304288" cy="10058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44184" y="1783080"/>
            <a:ext cx="36576" cy="10058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6080760" y="1783080"/>
            <a:ext cx="2231136" cy="10058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080760" y="1783080"/>
            <a:ext cx="4498848" cy="10058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508760" y="2468880"/>
            <a:ext cx="4572000" cy="3200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76472" y="2468880"/>
            <a:ext cx="2304288" cy="3200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44184" y="2468880"/>
            <a:ext cx="36576" cy="3200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6080760" y="2468880"/>
            <a:ext cx="2231136" cy="3200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6080760" y="2468880"/>
            <a:ext cx="4498848" cy="320040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68680" y="4160520"/>
            <a:ext cx="4846320" cy="960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4160520"/>
            <a:ext cx="73152" cy="960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27024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Clinical output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617720"/>
            <a:ext cx="4535424" cy="448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Risk band, trend, reason codes, escalation queue, intervention readiness.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160520"/>
            <a:ext cx="4846320" cy="960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55080" y="4160520"/>
            <a:ext cx="73152" cy="960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27024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4617720"/>
            <a:ext cx="4535424" cy="448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Nurse task, doctor review, OT/ICU readiness, transfer priority.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Leadership Command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One hospital operating picture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OPD 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Queue, wait, high-risk OPD patients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515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ER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Triage status, observation, critical escalations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IPD acuity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Ward risk heatmap, nurse workload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Bed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Occupancy, cleaning, discharge-ready, blocked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availability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Critical equipment location and utilization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Readmission risk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Post-discharge alerts and follow-up gaps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Data and integration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Hospital systems plus connected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234440"/>
            <a:ext cx="1965960" cy="62179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HMS / EHR / EMR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234440"/>
            <a:ext cx="1965960" cy="621792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ADT + appointments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234440"/>
            <a:ext cx="1965960" cy="62179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Device telemetry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1234440"/>
            <a:ext cx="1965960" cy="621792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Workflow events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2743200"/>
            <a:ext cx="448056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Connected Hospital 360 Platform</a:t>
            </a:r>
            <a:br/>
            <a:r>
              <a:t>FHIR / HL7 / REST / adapters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714500" y="1856231"/>
            <a:ext cx="4366260" cy="886969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20540" y="1856231"/>
            <a:ext cx="1760220" cy="886969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080760" y="1856231"/>
            <a:ext cx="845820" cy="886969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80760" y="1856231"/>
            <a:ext cx="3451860" cy="886969"/>
          </a:xfrm>
          <a:prstGeom prst="line">
            <a:avLst/>
          </a:prstGeom>
          <a:ln w="15875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868680" y="4251960"/>
            <a:ext cx="310896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" y="425196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61688"/>
            <a:ext cx="28163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709160"/>
            <a:ext cx="279806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Patch, BP, SpO2, bed sensors, asset tags.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6280" y="4251960"/>
            <a:ext cx="310896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26280" y="4251960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60" y="4361688"/>
            <a:ext cx="28163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4709160"/>
            <a:ext cx="279806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Nursing, pharmacy, diagnostics, billing, housekeeping.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4251960"/>
            <a:ext cx="310896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425196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66759" y="4361688"/>
            <a:ext cx="28163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59" y="4709160"/>
            <a:ext cx="279806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Patient risk, flow KPIs, utilization, readmission risk.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Business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Measurable value across hospital and Honeywell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Patient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Continuous risk visibility and faster escalation.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515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Better bed utilization, discharge readiness, and turnover.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Productivity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Lower manual coordination and asset search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Care continuity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Remote monitoring and reduced avoidable readmission risk.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Leadership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One operating picture across departments and facilities.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Honeywell growth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Software, devices, analytics, integration, services, enterprise licensing.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Application packaging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Modular platform for phased hospital 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Care module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OPD, ER, IPD, OT/ICU monitoring and clinical risk engine.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515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Operations module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Bed management, asset intelligence, staff tasks, service queues.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5156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51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16128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Discharge module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0876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Discharge readiness, clearances, delay reasons, bed release.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Remote care module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Post-discharge monitoring, adherence, follow-up, readmission risk.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Command center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Leadership dashboards, KPIs, bottlenecks, multi-site analytics.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Integration layer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40">
                <a:solidFill>
                  <a:srgbClr val="36393F"/>
                </a:solidFill>
                <a:latin typeface="Arial"/>
              </a:defRPr>
            </a:pPr>
            <a:r>
              <a:t>HMS/EHR/EMR, ADT, FHIR/HL7, REST, hospital adapters.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Closing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6840" y="182880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Whole-hospital intelligence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6601968"/>
            <a:ext cx="61264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Connected Hospital 360 | Patient Journey 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097280"/>
            <a:ext cx="10332720" cy="12344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800" b="1">
                <a:solidFill>
                  <a:srgbClr val="202020"/>
                </a:solidFill>
                <a:latin typeface="Arial"/>
              </a:defRPr>
            </a:pPr>
            <a:r>
              <a:t>Honeywell Connected Hospital 360 is the intelligent operating layer for modern hospitals.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43200"/>
            <a:ext cx="9921240" cy="914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000" b="1">
                <a:solidFill>
                  <a:srgbClr val="36393F"/>
                </a:solidFill>
                <a:latin typeface="Arial"/>
              </a:defRPr>
            </a:pPr>
            <a:r>
              <a:t>It connects the full patient journey with hospital operations, helping providers move from reactive care to predictive, coordinated, and measurable care across OPD, IPD, discharge, and post-discharge services.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4892040"/>
            <a:ext cx="63093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From wearable patch to whole-hospital command center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828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202020"/>
                </a:solidFill>
                <a:latin typeface="Arial"/>
              </a:defRPr>
            </a:pPr>
            <a:r>
              <a:t>Technical Architecture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36393F"/>
                </a:solidFill>
                <a:latin typeface="Arial"/>
              </a:defRPr>
            </a:pPr>
            <a:r>
              <a:t>Wearable Smart Patch foundation, edge architecture, data flows, integrations, security, and deployment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4251960"/>
            <a:ext cx="5349240" cy="438912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Section 2: Architecture and implementation depth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7373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5240" y="301752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Technical Architecture Version |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640080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3400" b="1">
                <a:solidFill>
                  <a:srgbClr val="202020"/>
                </a:solidFill>
                <a:latin typeface="Arial"/>
              </a:defRPr>
            </a:pPr>
            <a:r>
              <a:t>Connected Care and Hospital Operations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87168"/>
            <a:ext cx="612648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500" b="0">
                <a:solidFill>
                  <a:srgbClr val="36393F"/>
                </a:solidFill>
                <a:latin typeface="Arial"/>
              </a:defRPr>
            </a:pPr>
            <a:r>
              <a:t>A technically rich architecture view using existing WSP product, prototype, and component visuals</a:t>
            </a:r>
          </a:p>
        </p:txBody>
      </p:sp>
      <p:pic>
        <p:nvPicPr>
          <p:cNvPr id="7" name="Picture 6" descr="image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234440"/>
            <a:ext cx="4480560" cy="2215964"/>
          </a:xfrm>
          <a:prstGeom prst="rect">
            <a:avLst/>
          </a:prstGeom>
        </p:spPr>
      </p:pic>
      <p:pic>
        <p:nvPicPr>
          <p:cNvPr id="8" name="Picture 7" descr="image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4160520"/>
            <a:ext cx="2834640" cy="21060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3886200"/>
            <a:ext cx="20116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Patient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886200"/>
            <a:ext cx="182880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Edge +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886200"/>
            <a:ext cx="182880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Command center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6400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0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051560"/>
            <a:ext cx="1060704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000" b="1">
                <a:solidFill>
                  <a:srgbClr val="202020"/>
                </a:solidFill>
                <a:latin typeface="Arial"/>
              </a:defRPr>
            </a:pPr>
            <a:r>
              <a:t>Clinical imperative: world-class hospitals can save patients when they reach the intervention team in time. Honeywell creates that time window through continuous risk scoring, deterioration prediction, and faster escalation.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423160"/>
            <a:ext cx="73152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ecosystem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Patch, BP, SpO2, bed sensors, asset tags.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11880" y="2423160"/>
            <a:ext cx="73152" cy="23317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Resilient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Authentication, buffering, protocol normalization, gateway orchestration.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2423160"/>
            <a:ext cx="73152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Platform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Registry, assignment, time-series ingest, rules, alerts, analytics.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40" y="2423160"/>
            <a:ext cx="73152" cy="23317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Hospital apps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19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Nurse, doctor, bed board, asset map, leadership command center.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5349240"/>
            <a:ext cx="66751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Clinical objective: monitor risk continuously, predict attacks earlier, and help save lives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WSP foundation already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Prototype, concept, and hardware visuals already documented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11" name="Picture 10" descr="image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097280"/>
            <a:ext cx="3383280" cy="2392311"/>
          </a:xfrm>
          <a:prstGeom prst="rect">
            <a:avLst/>
          </a:prstGeom>
        </p:spPr>
      </p:pic>
      <p:pic>
        <p:nvPicPr>
          <p:cNvPr id="12" name="Picture 11" descr="image3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078992"/>
            <a:ext cx="3154680" cy="2343829"/>
          </a:xfrm>
          <a:prstGeom prst="rect">
            <a:avLst/>
          </a:prstGeom>
        </p:spPr>
      </p:pic>
      <p:pic>
        <p:nvPicPr>
          <p:cNvPr id="13" name="Picture 12" descr="image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097280"/>
            <a:ext cx="3337560" cy="235998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31520" y="4315968"/>
            <a:ext cx="338328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15968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25696"/>
            <a:ext cx="30906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Industrial design render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73168"/>
            <a:ext cx="307238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Reusable patch housing, LED indication, button, USB-C opening.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4315968"/>
            <a:ext cx="315468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4315968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4425696"/>
            <a:ext cx="28620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Prototype kit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773168"/>
            <a:ext cx="284378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Physical WSP unit, ECG cable, charger, and lead interface.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4315968"/>
            <a:ext cx="333756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9560" y="4315968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2440" y="4425696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Electrode-side concept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773168"/>
            <a:ext cx="302666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Electrode placement concept for ECG and body-contact sensing.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71800" y="5577840"/>
            <a:ext cx="626364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Source visuals embedded from existing concept and MVO documents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Wearable patch hardware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Current MVO component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1115568"/>
            <a:ext cx="1508760" cy="1225296"/>
          </a:xfrm>
          <a:prstGeom prst="rect">
            <a:avLst/>
          </a:prstGeom>
        </p:spPr>
      </p:pic>
      <p:pic>
        <p:nvPicPr>
          <p:cNvPr id="12" name="Picture 11" descr="imag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743200"/>
            <a:ext cx="1417320" cy="1202436"/>
          </a:xfrm>
          <a:prstGeom prst="rect">
            <a:avLst/>
          </a:prstGeom>
        </p:spPr>
      </p:pic>
      <p:pic>
        <p:nvPicPr>
          <p:cNvPr id="13" name="Picture 12" descr="image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143000"/>
            <a:ext cx="3108960" cy="1561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743200" y="105156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ESP32-S3-MINI-1</a:t>
            </a:r>
            <a:br/>
            <a:r>
              <a:t>MCU + Wi-Fi + 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105156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MAX30003</a:t>
            </a:r>
            <a:br/>
            <a:r>
              <a:t>ECG 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0528" y="105156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TMP1075</a:t>
            </a:r>
            <a:br/>
            <a:r>
              <a:t>Skin temp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14884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ADXL367</a:t>
            </a:r>
            <a:br/>
            <a:r>
              <a:t>Posture + motion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214884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MAX20356 PMIC</a:t>
            </a:r>
            <a:br/>
            <a:r>
              <a:t>Charger + power path + fuel gauge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0528" y="214884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450 mAh Li-Po</a:t>
            </a:r>
            <a:br/>
            <a:r>
              <a:t>Rechargeable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342900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USB-C + ECG lead cable</a:t>
            </a:r>
            <a:br/>
            <a:r>
              <a:t>Power + data + sensor interface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342900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RGB LED + button</a:t>
            </a:r>
            <a:br/>
            <a:r>
              <a:t>Status + wakeup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42900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Debug UART</a:t>
            </a:r>
            <a:br/>
            <a:r>
              <a:t>Manufacturing + support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5968" y="1371600"/>
            <a:ext cx="484632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73368" y="1371600"/>
            <a:ext cx="13716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315968" y="2468880"/>
            <a:ext cx="484632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73368" y="2468880"/>
            <a:ext cx="13716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29584" y="1709928"/>
            <a:ext cx="0" cy="438912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4315968" y="1371600"/>
            <a:ext cx="484632" cy="2377439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229600" y="3886200"/>
            <a:ext cx="306324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3886200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995928"/>
            <a:ext cx="27706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Hardware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343400"/>
            <a:ext cx="275234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Patient-worn telemetry endpoint for ECG, temperature, posture, movement, derived respiration, device health, and future vitals expansion.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Patch signal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From body signal to actionable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1" name="Picture 10" descr="image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51560"/>
            <a:ext cx="3383280" cy="166698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58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Body contact</a:t>
            </a:r>
            <a:br/>
            <a:r>
              <a:t>ECG/temp/motion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60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5146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Analog front end</a:t>
            </a:r>
            <a:br/>
            <a:r>
              <a:t>filter + sample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434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MCU processing</a:t>
            </a:r>
            <a:br/>
            <a:r>
              <a:t>packetize + status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Wi-Fi/BLE telemetry</a:t>
            </a:r>
            <a:br/>
            <a:r>
              <a:t>authenticated send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010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Edge ingest</a:t>
            </a:r>
            <a:br/>
            <a:r>
              <a:t>buffer + normalize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012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98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Rules + dashboard</a:t>
            </a:r>
            <a:br/>
            <a:r>
              <a:t>alerts + trends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097280"/>
            <a:ext cx="6492240" cy="196596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Sampling and packet cadence configurable by clinical workflow and battery budget.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Telemetry contains sensor values, timestamp, device ID, battery, RSSI/connectivity state, and firmware/config version.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Edge buffering protects against temporary hospital Wi-Fi disruption.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Platform association links every payload to patient, bed, ward, and care episode.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Expanded device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Clinical and operational telemetry endpoints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11" name="Picture 10" descr="image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97280"/>
            <a:ext cx="2743200" cy="13567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703320"/>
            <a:ext cx="2926080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703320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13048"/>
            <a:ext cx="26334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Wearable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2615184" cy="65836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Continuous ECG, HR, temperature, respiration, posture, restlessness.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234440"/>
            <a:ext cx="2057400" cy="7315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Connected BP + SpO2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1945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Periodic vitals capture during ward rounds and high-risk monitoring.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234440"/>
            <a:ext cx="2057400" cy="7315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state input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Occupied, vacant, cleaning, blocked, transfer, discharge-ready, maintenance.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234440"/>
            <a:ext cx="2057400" cy="7315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 tags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6840" y="2194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19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BLE, Wi-Fi, RFID, or UWB tags for pumps, monitors, cylinders, carts, wheelchairs.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429000" y="1600200"/>
            <a:ext cx="548639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429000" y="1600200"/>
            <a:ext cx="3063240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429000" y="1600200"/>
            <a:ext cx="5577840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383280" y="5440680"/>
            <a:ext cx="62179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Unified event model across clinical signals and operations events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Connectivity and edge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Hospital-grade connectivity under network variability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0972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Patch + BP + SpO2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1704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Wi-Fi / 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0" y="1371600"/>
            <a:ext cx="777240" cy="13716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" y="20116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sensors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848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BLE / wired input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2286000"/>
            <a:ext cx="777240" cy="4572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77240" y="29260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 tags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9992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BLE / RFID / UWB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840480" y="2743200"/>
            <a:ext cx="777240" cy="4572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77240" y="38404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Mobile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9136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Tablet / workstation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840480" y="2743200"/>
            <a:ext cx="777240" cy="13716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17720" y="2148840"/>
            <a:ext cx="2331720" cy="11887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Honeywell Edge Gateway</a:t>
            </a:r>
            <a:br/>
            <a:r>
              <a:t>Auth + buffer + normalize + route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1325880"/>
            <a:ext cx="2423160" cy="56692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Device registry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949440" y="1609344"/>
            <a:ext cx="1417320" cy="1133856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366760" y="2240280"/>
            <a:ext cx="2423160" cy="56692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Time-series ingestion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6949440" y="2523744"/>
            <a:ext cx="1417320" cy="219456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366760" y="3154680"/>
            <a:ext cx="2423160" cy="56692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Event bus + rules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49440" y="2743200"/>
            <a:ext cx="1417320" cy="694944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366760" y="4069080"/>
            <a:ext cx="2423160" cy="56692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Command center APIs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49440" y="2743200"/>
            <a:ext cx="1417320" cy="1609344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77240" y="5074920"/>
            <a:ext cx="10058400" cy="6858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074920"/>
            <a:ext cx="73152" cy="6858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184648"/>
            <a:ext cx="9765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Edge resilience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532120"/>
            <a:ext cx="9747504" cy="17373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Local buffering, retry logic, time synchronization, device-health monitoring, and controlled reconnect behavior support hospital network variability.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Event-driven data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Telemetry, workflow state, and analytics separation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1024128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133856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Raw telemetry 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481328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Sensor payloads, ECG snapshots, vitals values, device metadata, timestamps.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1956816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1956816"/>
            <a:ext cx="73152" cy="749808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066544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event 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414016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Bed state changes, asset zone events, assignment changes, alert lifecycle.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889504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2889504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999232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Rules outputs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346704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Thresholds, trends, missed-vitals windows, battery/connectivity, bed/asset exceptions.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822191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822191"/>
            <a:ext cx="73152" cy="749808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931920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tasks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79392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Nurse queue, doctor review, housekeeping queue, biomedical action, transport task.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754879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4754879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864607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Analytics aggregates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212079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Ward, hospital, and hospital-chain KPIs for throughput, acuity, utilization, response.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Patient-bed-device assignment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Avoiding orphan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MRN / episode / demographics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1234440"/>
            <a:ext cx="1691640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Admission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0360" y="2057400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324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ward / department / care episode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1234440"/>
            <a:ext cx="1691640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2057400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80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bed ID / state / location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6948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serial / firmware / battery / status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6404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6404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6404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19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19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tag ID / class / zone / service state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7744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7200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76656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6112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14400" y="3886200"/>
            <a:ext cx="4846320" cy="12344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886200"/>
            <a:ext cx="73152" cy="12344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99592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Assignment service responsibilities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343400"/>
            <a:ext cx="4535424" cy="7223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Pair device to patient, patient to bed, asset to zone, and events to care episode with auditability.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886200"/>
            <a:ext cx="4846320" cy="12344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3886200"/>
            <a:ext cx="73152" cy="12344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399592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Why it matters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4343400"/>
            <a:ext cx="4535424" cy="7223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Every telemetry point, bed event, and asset event is traceable to the right operational context.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Rules engine and alerting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Clinical and operations logic in one configurable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78992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Vitals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BP, HR, SpO2, temperature, ECG-derived alerts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78992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Trend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Change over baseline, repeated abnormalities, escalation windows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Missed vitals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Expected observation not received within defined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53511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health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Battery, RSSI, offline, firmware/config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53511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Bed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delay, blocked bed, discharge-ready queue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53511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exception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Missing asset, zone exit, service due, low utilization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63240" y="5349240"/>
            <a:ext cx="59893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Alert lifecycle: generated -&gt; routed -&gt; acknowledged -&gt; resolved -&gt; audited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Bed management technical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State machine plus workflow queues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Vacant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945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Occupied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118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947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Discharge-ready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120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949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Cleaning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22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951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Blocked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953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Maintenance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126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1955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Transfer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2514600"/>
            <a:ext cx="73152" cy="19202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State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ADT feed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Nurse/ward update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Housekeeping update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Maintenance status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Transfer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2514600"/>
            <a:ext cx="73152" cy="19202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queues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Admission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Transport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Maintenance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Discharge coordination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2514600"/>
            <a:ext cx="73152" cy="19202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KPIs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Turnaround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Blocked-bed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cycle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Occupancy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Transfer bottlenecks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5257800"/>
            <a:ext cx="66751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intelligence connects patient acuity, capacity, and hospital flow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Asset tracking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Accuracy tiers matched to operational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11556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115568"/>
            <a:ext cx="73152" cy="107899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25295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BLE tags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57276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Low cost zone proximity for pumps, wheelchairs, monitors.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11556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115568"/>
            <a:ext cx="73152" cy="107899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25295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RFID gates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57276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Entry/exit control for storerooms, wards, departments.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2432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2624328"/>
            <a:ext cx="73152" cy="107899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2734056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UWB zones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08152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Higher precision for critical assets and high-value equipment.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62432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624328"/>
            <a:ext cx="73152" cy="107899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734056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Wi-Fi tags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08152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Network-based location where infrastructure supports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72000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572000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681728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event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029200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tag_id, asset_class, zone, timestamp, movement event, utilization state, service state, exception type, assigned department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Hospital integration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API-first, adapter-ready interoperability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234440"/>
            <a:ext cx="205740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Hospital systems</a:t>
            </a:r>
            <a:br/>
            <a:r>
              <a:t>HMS / EHR / EMR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234440"/>
            <a:ext cx="205740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Integration adapter</a:t>
            </a:r>
            <a:br/>
            <a:r>
              <a:t>FHIR / HL7 /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1234440"/>
            <a:ext cx="205740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Platform services</a:t>
            </a:r>
            <a:br/>
            <a:r>
              <a:t>ADT + assignment +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38360" y="1234440"/>
            <a:ext cx="182880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  <a:br/>
            <a:r>
              <a:t>Dashboards + APIs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521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8239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7432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Inbound hospital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ADT, patient demographics, ward, bed, encounter, clinician assignment.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274320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Outbound platform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Alerts, vitals summaries, device events, bed-state updates, asset exceptions.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7432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Mapping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Hospital-specific data dictionaries, interface monitoring, retry/error handling.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5166360"/>
            <a:ext cx="672084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Integration pattern supports heterogeneous India and APAC hospital environments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Security and compliance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Controls across device, edge, platform, and 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Provisioning, device registry, serial binding, firmware/config visibility.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9728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Secure transport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Authenticated ingestion, encryption in transit, controlled gateways.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Access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Role-based access for nurse, doctor, biomedical, operations, admin, leadership.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Auditability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Assignment changes, alert lifecycle, integration events, device actions.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Network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Device, edge, platform, and hospital integration zones separated.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Deployment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On-premise, private cloud, or hybrid data-retention policies.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Deployment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Ward, hospital, and hospital-chain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10312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Ward deployment</a:t>
            </a:r>
            <a:br/>
            <a:r>
              <a:t>50-100 beds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234440"/>
            <a:ext cx="237744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Hospital deployment</a:t>
            </a:r>
            <a:br/>
            <a:r>
              <a:t>Multiple wards + 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234440"/>
            <a:ext cx="237744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Chain deployment</a:t>
            </a:r>
            <a:br/>
            <a:r>
              <a:t>Multi-site dashboards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21240" y="1234440"/>
            <a:ext cx="164592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Enterprise</a:t>
            </a:r>
            <a:br/>
            <a:r>
              <a:t>Analytics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1572768"/>
            <a:ext cx="77724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35040" y="1572768"/>
            <a:ext cx="77724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9720" y="1572768"/>
            <a:ext cx="7315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78892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Ward package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Patch devices, BP/SpO2, BLE gateway, nurse dashboard, basic alerts.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278892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Hospital package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Bed board, asset tags, integration adapter, command-center workflows.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78892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Enterprise package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Multi-site KPIs, analytics aggregates, standard deployment template.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non-functional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 guardrails for hospital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Buffered edge telemetry, retry logic, device health monitoring.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9728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Scalability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Ward-to-chain architecture with event partitioning and modular services.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Maintainability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Device registry, firmware/config visibility, interface monitoring.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Interoperability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FHIR/HL7 where available, REST adapters for local hospital systems.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Usability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Role-specific dashboards and exception-first workflows.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Telemetry-to-patient-to-bed-to-event lineage and audit logs.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End-to-end technical 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How the platform demonstrates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1. Assign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Patient + bed + patch + BP device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274320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51460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14600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2. Capture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ECG, vitals, posture, temperature, device health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51960" y="274320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43484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3. Normalize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Edge authentication, buffering, payload normalization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7220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35507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79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4. Evaluate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Risk scores, trends, thresholds, missed vitals, battery, connectivity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9244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27531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75319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19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5. 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19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Nurse queue, doctor review, bed board, asset map, command center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1268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019555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95559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7843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6. Analyze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3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Ward KPIs, throughput, utilization, enterprise reporting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88920" y="5257800"/>
            <a:ext cx="65836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Demo story: sensor signal becomes risk score, clinical action, and measurable outcome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differentiators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Architecture-led healthcare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18</a:t>
            </a:r>
          </a:p>
        </p:txBody>
      </p:sp>
      <p:pic>
        <p:nvPicPr>
          <p:cNvPr id="11" name="Picture 10" descr="image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1078992"/>
            <a:ext cx="3474720" cy="1718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1143000"/>
            <a:ext cx="6309360" cy="420624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Honeywell sensing foundation connected to hospital workflow intelligence.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Multi-domain architecture for vitals, bed state, asset tracking, and command-center operations.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Edge resilience for real-world hospital network variability.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Integration-aware design for heterogeneous India and APAC hospital systems.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Scalable event model supporting ward deployment, hospital operations, and chain-level analytics.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440680"/>
            <a:ext cx="60807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From wearable telemetry to whole-hospital technical architecture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What we have already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Wearable Smart Patch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024128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024128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33856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Clinical scope defined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53896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ECG, heart rate, skin temperature, respiration, posture, restlessness, SpO2 expansion, connected vitals workflows.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024128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024128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133856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MVO1 requirements captured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453896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Narayana Hrudayalaya business overview, reusable rechargeable device, periodic telemetry, API endpoint direction.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024128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024128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133856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Prototype and concepts created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453896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Industrial design renders, POC visuals, electrode placement, ECG cable options, USB-C interface, enclosure concepts.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2596896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596896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706624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Hardware baseline developed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026663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ESP32-S3-MINI-1, MAX30003 ECG AFE, TMP1075, ADXL367, MAX20356 PMIC, Li-polymer battery, LED, debug support.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2596896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2596896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706624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Deliverables identified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026663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Smart patch device, ECG-USB cable, adhesive samples, user manual, Type-C charger, ECG plotting utility.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2596896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80" y="2596896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706624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Integration model mapped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026663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Honeywell hardware/firmware/backend responsibilities and NH API, HMS/patient-ID, reporting, alerts, validation roles.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169664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4360" y="4169664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279392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Clinical protocols researched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599432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Pre-surgical, post-cardiac, post-major surgery, emergency chest pain, arrhythmia, ICU/sepsis/shock monitoring.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169664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4169664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279392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Business case prepared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99432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Bed capacity, launch device assumptions, pricing rationale, lifecycle view, patient-charge positioning, benefit/cost framing.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83880" y="4169664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3880" y="4169664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6760" y="4279392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MVO expansion path outlined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599432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MVO1 foundation toward respiration rate, HRV, posture, IPX4, and SpO2 expansion.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