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diagrams/data6.xml" ContentType="application/vnd.openxmlformats-officedocument.drawingml.diagramData+xml"/>
  <Override PartName="/ppt/diagrams/data4.xml" ContentType="application/vnd.openxmlformats-officedocument.drawingml.diagramData+xml"/>
  <Override PartName="/ppt/diagrams/data5.xml" ContentType="application/vnd.openxmlformats-officedocument.drawingml.diagramData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theme/theme1.xml" ContentType="application/vnd.openxmlformats-officedocument.theme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revisionInfo.xml" ContentType="application/vnd.ms-powerpoint.revisioninfo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custom-properties" Target="docProps/custom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60" r:id="rId4"/>
    <p:sldId id="261" r:id="rId5"/>
    <p:sldId id="256" r:id="rId6"/>
    <p:sldId id="262" r:id="rId7"/>
    <p:sldId id="266" r:id="rId8"/>
    <p:sldId id="267" r:id="rId9"/>
    <p:sldId id="268" r:id="rId10"/>
    <p:sldId id="263" r:id="rId11"/>
    <p:sldId id="264" r:id="rId12"/>
    <p:sldId id="265" r:id="rId13"/>
    <p:sldId id="25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4104C4-F433-4727-B3F9-E106E5B96D26}" v="192" dt="2025-02-11T11:31:12.54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89" d="100"/>
          <a:sy n="89" d="100"/>
        </p:scale>
        <p:origin x="298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ustomXml" Target="../customXml/item3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20.svg"/><Relationship Id="rId4" Type="http://schemas.openxmlformats.org/officeDocument/2006/relationships/image" Target="../media/image16.svg"/><Relationship Id="rId9" Type="http://schemas.openxmlformats.org/officeDocument/2006/relationships/image" Target="../media/image19.pn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Relationship Id="rId14" Type="http://schemas.openxmlformats.org/officeDocument/2006/relationships/image" Target="../media/image45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svg"/><Relationship Id="rId1" Type="http://schemas.openxmlformats.org/officeDocument/2006/relationships/image" Target="../media/image11.png"/><Relationship Id="rId4" Type="http://schemas.openxmlformats.org/officeDocument/2006/relationships/image" Target="../media/image14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5.png"/><Relationship Id="rId7" Type="http://schemas.openxmlformats.org/officeDocument/2006/relationships/image" Target="../media/image17.png"/><Relationship Id="rId2" Type="http://schemas.openxmlformats.org/officeDocument/2006/relationships/image" Target="../media/image6.svg"/><Relationship Id="rId1" Type="http://schemas.openxmlformats.org/officeDocument/2006/relationships/image" Target="../media/image5.png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20.svg"/><Relationship Id="rId4" Type="http://schemas.openxmlformats.org/officeDocument/2006/relationships/image" Target="../media/image16.svg"/><Relationship Id="rId9" Type="http://schemas.openxmlformats.org/officeDocument/2006/relationships/image" Target="../media/image19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10" Type="http://schemas.openxmlformats.org/officeDocument/2006/relationships/image" Target="../media/image31.svg"/><Relationship Id="rId4" Type="http://schemas.openxmlformats.org/officeDocument/2006/relationships/image" Target="../media/image25.svg"/><Relationship Id="rId9" Type="http://schemas.openxmlformats.org/officeDocument/2006/relationships/image" Target="../media/image30.pn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13" Type="http://schemas.openxmlformats.org/officeDocument/2006/relationships/image" Target="../media/image44.pn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Relationship Id="rId14" Type="http://schemas.openxmlformats.org/officeDocument/2006/relationships/image" Target="../media/image45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77399B-6067-4549-8618-B533431CA0A6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EC996839-32D4-456A-96DE-28F54234E51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2016: the estimated prevalence of CVDs in India was estimated to be 54.5 million</a:t>
          </a:r>
          <a:endParaRPr lang="en-US"/>
        </a:p>
      </dgm:t>
    </dgm:pt>
    <dgm:pt modelId="{BD4F60BF-9182-48C9-87AC-D1983BC04D44}" type="parTrans" cxnId="{D0E1AB21-E641-4381-86CE-E42DF4B9289D}">
      <dgm:prSet/>
      <dgm:spPr/>
      <dgm:t>
        <a:bodyPr/>
        <a:lstStyle/>
        <a:p>
          <a:endParaRPr lang="en-US"/>
        </a:p>
      </dgm:t>
    </dgm:pt>
    <dgm:pt modelId="{B205071F-81AB-4018-8B1C-7644796CD790}" type="sibTrans" cxnId="{D0E1AB21-E641-4381-86CE-E42DF4B9289D}">
      <dgm:prSet/>
      <dgm:spPr/>
      <dgm:t>
        <a:bodyPr/>
        <a:lstStyle/>
        <a:p>
          <a:endParaRPr lang="en-US"/>
        </a:p>
      </dgm:t>
    </dgm:pt>
    <dgm:pt modelId="{88E1E0A7-EFE6-402E-9F0C-2E7DBF49FBD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/>
            <a:t>One in 4 deaths in India are because of CVDs with ischemic heart disease with stroke responsible for &gt;80%</a:t>
          </a:r>
          <a:endParaRPr lang="en-US"/>
        </a:p>
      </dgm:t>
    </dgm:pt>
    <dgm:pt modelId="{24EA3BCD-4B4B-40DB-81E0-7A0C70C84DC3}" type="parTrans" cxnId="{68DE58C4-2F90-4DAD-967F-D7238ABCF3B7}">
      <dgm:prSet/>
      <dgm:spPr/>
      <dgm:t>
        <a:bodyPr/>
        <a:lstStyle/>
        <a:p>
          <a:endParaRPr lang="en-US"/>
        </a:p>
      </dgm:t>
    </dgm:pt>
    <dgm:pt modelId="{97C12C8D-BA9F-431A-9EE1-A904F7A0F01E}" type="sibTrans" cxnId="{68DE58C4-2F90-4DAD-967F-D7238ABCF3B7}">
      <dgm:prSet/>
      <dgm:spPr/>
      <dgm:t>
        <a:bodyPr/>
        <a:lstStyle/>
        <a:p>
          <a:endParaRPr lang="en-US"/>
        </a:p>
      </dgm:t>
    </dgm:pt>
    <dgm:pt modelId="{1D8A16C1-7FA3-4FCD-AA7F-98F241BDF51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Annually, 300000 cardiac procedures are performed in India, i.e. 1 per 4700 people</a:t>
          </a:r>
        </a:p>
      </dgm:t>
    </dgm:pt>
    <dgm:pt modelId="{95195713-74F4-4DB2-B799-FE29668E67F9}" type="parTrans" cxnId="{56E8889D-64C1-4555-AF1B-F6079FDFC552}">
      <dgm:prSet/>
      <dgm:spPr/>
      <dgm:t>
        <a:bodyPr/>
        <a:lstStyle/>
        <a:p>
          <a:endParaRPr lang="en-US"/>
        </a:p>
      </dgm:t>
    </dgm:pt>
    <dgm:pt modelId="{D7259C6F-1FBA-42A7-ADF2-0ADE2BA51A42}" type="sibTrans" cxnId="{56E8889D-64C1-4555-AF1B-F6079FDFC552}">
      <dgm:prSet/>
      <dgm:spPr/>
      <dgm:t>
        <a:bodyPr/>
        <a:lstStyle/>
        <a:p>
          <a:endParaRPr lang="en-US"/>
        </a:p>
      </dgm:t>
    </dgm:pt>
    <dgm:pt modelId="{D704065F-607E-45CC-BAFA-AD55253E89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US: 900000 for a 300 Mn population i.e. 1 per 300 people</a:t>
          </a:r>
        </a:p>
      </dgm:t>
    </dgm:pt>
    <dgm:pt modelId="{155C1B1F-5437-4CD3-8FA6-BD4C9E9C7F57}" type="parTrans" cxnId="{B1730F68-B192-4FED-99B9-C1205C598292}">
      <dgm:prSet/>
      <dgm:spPr/>
      <dgm:t>
        <a:bodyPr/>
        <a:lstStyle/>
        <a:p>
          <a:endParaRPr lang="en-US"/>
        </a:p>
      </dgm:t>
    </dgm:pt>
    <dgm:pt modelId="{A4E8E546-F458-41E7-B36D-C3AB03B3A2A8}" type="sibTrans" cxnId="{B1730F68-B192-4FED-99B9-C1205C598292}">
      <dgm:prSet/>
      <dgm:spPr/>
      <dgm:t>
        <a:bodyPr/>
        <a:lstStyle/>
        <a:p>
          <a:endParaRPr lang="en-US"/>
        </a:p>
      </dgm:t>
    </dgm:pt>
    <dgm:pt modelId="{5FBC8153-75CE-423F-96B0-A864C5E3FE1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Indian cardiac care procedures can grow to 4.2 million/year</a:t>
          </a:r>
        </a:p>
      </dgm:t>
    </dgm:pt>
    <dgm:pt modelId="{47E4F5A7-9531-49E3-90FC-A032A0F92171}" type="parTrans" cxnId="{91E606E1-D8D6-4555-BEF9-AF3F36E39967}">
      <dgm:prSet/>
      <dgm:spPr/>
      <dgm:t>
        <a:bodyPr/>
        <a:lstStyle/>
        <a:p>
          <a:endParaRPr lang="en-US"/>
        </a:p>
      </dgm:t>
    </dgm:pt>
    <dgm:pt modelId="{0CD5AAFD-021A-4450-B3C4-1DD96CC5224C}" type="sibTrans" cxnId="{91E606E1-D8D6-4555-BEF9-AF3F36E39967}">
      <dgm:prSet/>
      <dgm:spPr/>
      <dgm:t>
        <a:bodyPr/>
        <a:lstStyle/>
        <a:p>
          <a:endParaRPr lang="en-US"/>
        </a:p>
      </dgm:t>
    </dgm:pt>
    <dgm:pt modelId="{3353772B-8F4E-4BA2-908D-B838421167D9}" type="pres">
      <dgm:prSet presAssocID="{7D77399B-6067-4549-8618-B533431CA0A6}" presName="root" presStyleCnt="0">
        <dgm:presLayoutVars>
          <dgm:dir/>
          <dgm:resizeHandles val="exact"/>
        </dgm:presLayoutVars>
      </dgm:prSet>
      <dgm:spPr/>
    </dgm:pt>
    <dgm:pt modelId="{87787F44-C5CC-49DB-B6B4-4839855386C9}" type="pres">
      <dgm:prSet presAssocID="{EC996839-32D4-456A-96DE-28F54234E516}" presName="compNode" presStyleCnt="0"/>
      <dgm:spPr/>
    </dgm:pt>
    <dgm:pt modelId="{D0252ADA-09EA-4D84-BB5B-F7C3923D3315}" type="pres">
      <dgm:prSet presAssocID="{EC996839-32D4-456A-96DE-28F54234E516}" presName="bgRect" presStyleLbl="bgShp" presStyleIdx="0" presStyleCnt="4"/>
      <dgm:spPr/>
    </dgm:pt>
    <dgm:pt modelId="{AD00FB25-6239-4577-ABCB-D17D0C5BB0BB}" type="pres">
      <dgm:prSet presAssocID="{EC996839-32D4-456A-96DE-28F54234E516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EEC38922-B777-4351-91B4-07C75158E9D9}" type="pres">
      <dgm:prSet presAssocID="{EC996839-32D4-456A-96DE-28F54234E516}" presName="spaceRect" presStyleCnt="0"/>
      <dgm:spPr/>
    </dgm:pt>
    <dgm:pt modelId="{312C2868-CE4D-49CD-B269-8FB6FDA43633}" type="pres">
      <dgm:prSet presAssocID="{EC996839-32D4-456A-96DE-28F54234E516}" presName="parTx" presStyleLbl="revTx" presStyleIdx="0" presStyleCnt="5">
        <dgm:presLayoutVars>
          <dgm:chMax val="0"/>
          <dgm:chPref val="0"/>
        </dgm:presLayoutVars>
      </dgm:prSet>
      <dgm:spPr/>
    </dgm:pt>
    <dgm:pt modelId="{2F80C619-BAB6-44BE-B6D6-CA8DF30264B4}" type="pres">
      <dgm:prSet presAssocID="{B205071F-81AB-4018-8B1C-7644796CD790}" presName="sibTrans" presStyleCnt="0"/>
      <dgm:spPr/>
    </dgm:pt>
    <dgm:pt modelId="{1ABB69A1-6927-4102-B264-5C0A2FAB2495}" type="pres">
      <dgm:prSet presAssocID="{88E1E0A7-EFE6-402E-9F0C-2E7DBF49FBD5}" presName="compNode" presStyleCnt="0"/>
      <dgm:spPr/>
    </dgm:pt>
    <dgm:pt modelId="{877D28AB-2DB0-45CD-B0A2-5BA28EE71D3D}" type="pres">
      <dgm:prSet presAssocID="{88E1E0A7-EFE6-402E-9F0C-2E7DBF49FBD5}" presName="bgRect" presStyleLbl="bgShp" presStyleIdx="1" presStyleCnt="4"/>
      <dgm:spPr/>
    </dgm:pt>
    <dgm:pt modelId="{34ECD517-D707-4A08-98D2-DEE703F2CEAF}" type="pres">
      <dgm:prSet presAssocID="{88E1E0A7-EFE6-402E-9F0C-2E7DBF49FBD5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F975E290-C22F-4769-A2A2-E4CD74BA5F35}" type="pres">
      <dgm:prSet presAssocID="{88E1E0A7-EFE6-402E-9F0C-2E7DBF49FBD5}" presName="spaceRect" presStyleCnt="0"/>
      <dgm:spPr/>
    </dgm:pt>
    <dgm:pt modelId="{600B62B3-84E6-4422-B54B-D4F7D2561EF3}" type="pres">
      <dgm:prSet presAssocID="{88E1E0A7-EFE6-402E-9F0C-2E7DBF49FBD5}" presName="parTx" presStyleLbl="revTx" presStyleIdx="1" presStyleCnt="5">
        <dgm:presLayoutVars>
          <dgm:chMax val="0"/>
          <dgm:chPref val="0"/>
        </dgm:presLayoutVars>
      </dgm:prSet>
      <dgm:spPr/>
    </dgm:pt>
    <dgm:pt modelId="{9B1AAB18-D4F8-4D58-B527-B4C55C0CF0F6}" type="pres">
      <dgm:prSet presAssocID="{97C12C8D-BA9F-431A-9EE1-A904F7A0F01E}" presName="sibTrans" presStyleCnt="0"/>
      <dgm:spPr/>
    </dgm:pt>
    <dgm:pt modelId="{8E9D9BEB-2532-4CDB-B559-8285EB33926E}" type="pres">
      <dgm:prSet presAssocID="{1D8A16C1-7FA3-4FCD-AA7F-98F241BDF51E}" presName="compNode" presStyleCnt="0"/>
      <dgm:spPr/>
    </dgm:pt>
    <dgm:pt modelId="{9A2D9614-3710-48F2-8345-206ADA24BA46}" type="pres">
      <dgm:prSet presAssocID="{1D8A16C1-7FA3-4FCD-AA7F-98F241BDF51E}" presName="bgRect" presStyleLbl="bgShp" presStyleIdx="2" presStyleCnt="4"/>
      <dgm:spPr/>
    </dgm:pt>
    <dgm:pt modelId="{60578349-74EE-4621-83E3-42785431E8FD}" type="pres">
      <dgm:prSet presAssocID="{1D8A16C1-7FA3-4FCD-AA7F-98F241BDF51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54FD8D52-C252-4602-AD91-54380FDC0FE6}" type="pres">
      <dgm:prSet presAssocID="{1D8A16C1-7FA3-4FCD-AA7F-98F241BDF51E}" presName="spaceRect" presStyleCnt="0"/>
      <dgm:spPr/>
    </dgm:pt>
    <dgm:pt modelId="{0EF71175-43CB-4030-96E4-BBBCFF157315}" type="pres">
      <dgm:prSet presAssocID="{1D8A16C1-7FA3-4FCD-AA7F-98F241BDF51E}" presName="parTx" presStyleLbl="revTx" presStyleIdx="2" presStyleCnt="5">
        <dgm:presLayoutVars>
          <dgm:chMax val="0"/>
          <dgm:chPref val="0"/>
        </dgm:presLayoutVars>
      </dgm:prSet>
      <dgm:spPr/>
    </dgm:pt>
    <dgm:pt modelId="{CFCD3147-76E0-4E34-A98C-003A0D5ADC2F}" type="pres">
      <dgm:prSet presAssocID="{D7259C6F-1FBA-42A7-ADF2-0ADE2BA51A42}" presName="sibTrans" presStyleCnt="0"/>
      <dgm:spPr/>
    </dgm:pt>
    <dgm:pt modelId="{CA05A6B0-3812-47C0-B116-E83D5D8D4C19}" type="pres">
      <dgm:prSet presAssocID="{D704065F-607E-45CC-BAFA-AD55253E89D6}" presName="compNode" presStyleCnt="0"/>
      <dgm:spPr/>
    </dgm:pt>
    <dgm:pt modelId="{0AF0A860-8776-4CD5-9F2D-E452B7671731}" type="pres">
      <dgm:prSet presAssocID="{D704065F-607E-45CC-BAFA-AD55253E89D6}" presName="bgRect" presStyleLbl="bgShp" presStyleIdx="3" presStyleCnt="4"/>
      <dgm:spPr/>
    </dgm:pt>
    <dgm:pt modelId="{7DA82428-6C50-4627-9805-D0930C389C06}" type="pres">
      <dgm:prSet presAssocID="{D704065F-607E-45CC-BAFA-AD55253E89D6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C4E0070C-0DDF-4721-9DC7-6F1E852C3F8C}" type="pres">
      <dgm:prSet presAssocID="{D704065F-607E-45CC-BAFA-AD55253E89D6}" presName="spaceRect" presStyleCnt="0"/>
      <dgm:spPr/>
    </dgm:pt>
    <dgm:pt modelId="{9A075CC9-45BB-484D-B3D6-5670D7E8EDEE}" type="pres">
      <dgm:prSet presAssocID="{D704065F-607E-45CC-BAFA-AD55253E89D6}" presName="parTx" presStyleLbl="revTx" presStyleIdx="3" presStyleCnt="5">
        <dgm:presLayoutVars>
          <dgm:chMax val="0"/>
          <dgm:chPref val="0"/>
        </dgm:presLayoutVars>
      </dgm:prSet>
      <dgm:spPr/>
    </dgm:pt>
    <dgm:pt modelId="{61A3633A-9986-411E-B93C-6DAF93458723}" type="pres">
      <dgm:prSet presAssocID="{D704065F-607E-45CC-BAFA-AD55253E89D6}" presName="desTx" presStyleLbl="revTx" presStyleIdx="4" presStyleCnt="5">
        <dgm:presLayoutVars/>
      </dgm:prSet>
      <dgm:spPr/>
    </dgm:pt>
  </dgm:ptLst>
  <dgm:cxnLst>
    <dgm:cxn modelId="{D0E1AB21-E641-4381-86CE-E42DF4B9289D}" srcId="{7D77399B-6067-4549-8618-B533431CA0A6}" destId="{EC996839-32D4-456A-96DE-28F54234E516}" srcOrd="0" destOrd="0" parTransId="{BD4F60BF-9182-48C9-87AC-D1983BC04D44}" sibTransId="{B205071F-81AB-4018-8B1C-7644796CD790}"/>
    <dgm:cxn modelId="{90ACB830-1CAD-44A7-915F-265C7ED0B57A}" type="presOf" srcId="{D704065F-607E-45CC-BAFA-AD55253E89D6}" destId="{9A075CC9-45BB-484D-B3D6-5670D7E8EDEE}" srcOrd="0" destOrd="0" presId="urn:microsoft.com/office/officeart/2018/2/layout/IconVerticalSolidList"/>
    <dgm:cxn modelId="{49FA1C45-EA91-43CC-BCD3-7FBE885E608F}" type="presOf" srcId="{EC996839-32D4-456A-96DE-28F54234E516}" destId="{312C2868-CE4D-49CD-B269-8FB6FDA43633}" srcOrd="0" destOrd="0" presId="urn:microsoft.com/office/officeart/2018/2/layout/IconVerticalSolidList"/>
    <dgm:cxn modelId="{B1730F68-B192-4FED-99B9-C1205C598292}" srcId="{7D77399B-6067-4549-8618-B533431CA0A6}" destId="{D704065F-607E-45CC-BAFA-AD55253E89D6}" srcOrd="3" destOrd="0" parTransId="{155C1B1F-5437-4CD3-8FA6-BD4C9E9C7F57}" sibTransId="{A4E8E546-F458-41E7-B36D-C3AB03B3A2A8}"/>
    <dgm:cxn modelId="{11B69E53-D749-4929-AB57-7BA21E2979AC}" type="presOf" srcId="{1D8A16C1-7FA3-4FCD-AA7F-98F241BDF51E}" destId="{0EF71175-43CB-4030-96E4-BBBCFF157315}" srcOrd="0" destOrd="0" presId="urn:microsoft.com/office/officeart/2018/2/layout/IconVerticalSolidList"/>
    <dgm:cxn modelId="{DDEC9A88-6122-43A3-8D63-02EEF9CB9964}" type="presOf" srcId="{5FBC8153-75CE-423F-96B0-A864C5E3FE1C}" destId="{61A3633A-9986-411E-B93C-6DAF93458723}" srcOrd="0" destOrd="0" presId="urn:microsoft.com/office/officeart/2018/2/layout/IconVerticalSolidList"/>
    <dgm:cxn modelId="{56E8889D-64C1-4555-AF1B-F6079FDFC552}" srcId="{7D77399B-6067-4549-8618-B533431CA0A6}" destId="{1D8A16C1-7FA3-4FCD-AA7F-98F241BDF51E}" srcOrd="2" destOrd="0" parTransId="{95195713-74F4-4DB2-B799-FE29668E67F9}" sibTransId="{D7259C6F-1FBA-42A7-ADF2-0ADE2BA51A42}"/>
    <dgm:cxn modelId="{E6B75CB5-D31A-473F-9FAC-4417DB02482E}" type="presOf" srcId="{88E1E0A7-EFE6-402E-9F0C-2E7DBF49FBD5}" destId="{600B62B3-84E6-4422-B54B-D4F7D2561EF3}" srcOrd="0" destOrd="0" presId="urn:microsoft.com/office/officeart/2018/2/layout/IconVerticalSolidList"/>
    <dgm:cxn modelId="{68DE58C4-2F90-4DAD-967F-D7238ABCF3B7}" srcId="{7D77399B-6067-4549-8618-B533431CA0A6}" destId="{88E1E0A7-EFE6-402E-9F0C-2E7DBF49FBD5}" srcOrd="1" destOrd="0" parTransId="{24EA3BCD-4B4B-40DB-81E0-7A0C70C84DC3}" sibTransId="{97C12C8D-BA9F-431A-9EE1-A904F7A0F01E}"/>
    <dgm:cxn modelId="{91E606E1-D8D6-4555-BEF9-AF3F36E39967}" srcId="{D704065F-607E-45CC-BAFA-AD55253E89D6}" destId="{5FBC8153-75CE-423F-96B0-A864C5E3FE1C}" srcOrd="0" destOrd="0" parTransId="{47E4F5A7-9531-49E3-90FC-A032A0F92171}" sibTransId="{0CD5AAFD-021A-4450-B3C4-1DD96CC5224C}"/>
    <dgm:cxn modelId="{5C9DBFE8-8D1C-4972-81A5-9AA29A8CEAD9}" type="presOf" srcId="{7D77399B-6067-4549-8618-B533431CA0A6}" destId="{3353772B-8F4E-4BA2-908D-B838421167D9}" srcOrd="0" destOrd="0" presId="urn:microsoft.com/office/officeart/2018/2/layout/IconVerticalSolidList"/>
    <dgm:cxn modelId="{C0968481-6A8A-49E2-A739-949ED40BEFE5}" type="presParOf" srcId="{3353772B-8F4E-4BA2-908D-B838421167D9}" destId="{87787F44-C5CC-49DB-B6B4-4839855386C9}" srcOrd="0" destOrd="0" presId="urn:microsoft.com/office/officeart/2018/2/layout/IconVerticalSolidList"/>
    <dgm:cxn modelId="{7F981B2F-5BB3-48DD-B1B3-CE3D83B44764}" type="presParOf" srcId="{87787F44-C5CC-49DB-B6B4-4839855386C9}" destId="{D0252ADA-09EA-4D84-BB5B-F7C3923D3315}" srcOrd="0" destOrd="0" presId="urn:microsoft.com/office/officeart/2018/2/layout/IconVerticalSolidList"/>
    <dgm:cxn modelId="{89201B93-70B5-4A1A-8784-AC0E70863CBE}" type="presParOf" srcId="{87787F44-C5CC-49DB-B6B4-4839855386C9}" destId="{AD00FB25-6239-4577-ABCB-D17D0C5BB0BB}" srcOrd="1" destOrd="0" presId="urn:microsoft.com/office/officeart/2018/2/layout/IconVerticalSolidList"/>
    <dgm:cxn modelId="{E5497641-A210-4A1F-8E54-E5054A1219E0}" type="presParOf" srcId="{87787F44-C5CC-49DB-B6B4-4839855386C9}" destId="{EEC38922-B777-4351-91B4-07C75158E9D9}" srcOrd="2" destOrd="0" presId="urn:microsoft.com/office/officeart/2018/2/layout/IconVerticalSolidList"/>
    <dgm:cxn modelId="{13FEBA3E-6EBE-488E-AFD7-697DC3F89C8F}" type="presParOf" srcId="{87787F44-C5CC-49DB-B6B4-4839855386C9}" destId="{312C2868-CE4D-49CD-B269-8FB6FDA43633}" srcOrd="3" destOrd="0" presId="urn:microsoft.com/office/officeart/2018/2/layout/IconVerticalSolidList"/>
    <dgm:cxn modelId="{C09280A7-F1FE-4C6D-B4D2-1DF5D791C6CA}" type="presParOf" srcId="{3353772B-8F4E-4BA2-908D-B838421167D9}" destId="{2F80C619-BAB6-44BE-B6D6-CA8DF30264B4}" srcOrd="1" destOrd="0" presId="urn:microsoft.com/office/officeart/2018/2/layout/IconVerticalSolidList"/>
    <dgm:cxn modelId="{6491DAFB-528D-478C-9A41-8C08D636D3D3}" type="presParOf" srcId="{3353772B-8F4E-4BA2-908D-B838421167D9}" destId="{1ABB69A1-6927-4102-B264-5C0A2FAB2495}" srcOrd="2" destOrd="0" presId="urn:microsoft.com/office/officeart/2018/2/layout/IconVerticalSolidList"/>
    <dgm:cxn modelId="{AE2D1FDC-FB82-4E99-ACD8-3F29687876F9}" type="presParOf" srcId="{1ABB69A1-6927-4102-B264-5C0A2FAB2495}" destId="{877D28AB-2DB0-45CD-B0A2-5BA28EE71D3D}" srcOrd="0" destOrd="0" presId="urn:microsoft.com/office/officeart/2018/2/layout/IconVerticalSolidList"/>
    <dgm:cxn modelId="{8EFBF364-927F-448B-91BB-46A0C7701CAE}" type="presParOf" srcId="{1ABB69A1-6927-4102-B264-5C0A2FAB2495}" destId="{34ECD517-D707-4A08-98D2-DEE703F2CEAF}" srcOrd="1" destOrd="0" presId="urn:microsoft.com/office/officeart/2018/2/layout/IconVerticalSolidList"/>
    <dgm:cxn modelId="{8314C6DC-E6D5-481B-8C45-9471434B2A63}" type="presParOf" srcId="{1ABB69A1-6927-4102-B264-5C0A2FAB2495}" destId="{F975E290-C22F-4769-A2A2-E4CD74BA5F35}" srcOrd="2" destOrd="0" presId="urn:microsoft.com/office/officeart/2018/2/layout/IconVerticalSolidList"/>
    <dgm:cxn modelId="{6942842B-376F-4BC8-B7C1-A6EA89813C3B}" type="presParOf" srcId="{1ABB69A1-6927-4102-B264-5C0A2FAB2495}" destId="{600B62B3-84E6-4422-B54B-D4F7D2561EF3}" srcOrd="3" destOrd="0" presId="urn:microsoft.com/office/officeart/2018/2/layout/IconVerticalSolidList"/>
    <dgm:cxn modelId="{E8CEC68C-4A5F-4C94-BD02-0BFEB91F7747}" type="presParOf" srcId="{3353772B-8F4E-4BA2-908D-B838421167D9}" destId="{9B1AAB18-D4F8-4D58-B527-B4C55C0CF0F6}" srcOrd="3" destOrd="0" presId="urn:microsoft.com/office/officeart/2018/2/layout/IconVerticalSolidList"/>
    <dgm:cxn modelId="{2FC967E9-8F9F-4539-91E9-6F094DD89B46}" type="presParOf" srcId="{3353772B-8F4E-4BA2-908D-B838421167D9}" destId="{8E9D9BEB-2532-4CDB-B559-8285EB33926E}" srcOrd="4" destOrd="0" presId="urn:microsoft.com/office/officeart/2018/2/layout/IconVerticalSolidList"/>
    <dgm:cxn modelId="{74FFDCC6-75CD-421B-A359-7398B3B8C12A}" type="presParOf" srcId="{8E9D9BEB-2532-4CDB-B559-8285EB33926E}" destId="{9A2D9614-3710-48F2-8345-206ADA24BA46}" srcOrd="0" destOrd="0" presId="urn:microsoft.com/office/officeart/2018/2/layout/IconVerticalSolidList"/>
    <dgm:cxn modelId="{75CED65D-D81A-4185-9737-EB99927D0B3A}" type="presParOf" srcId="{8E9D9BEB-2532-4CDB-B559-8285EB33926E}" destId="{60578349-74EE-4621-83E3-42785431E8FD}" srcOrd="1" destOrd="0" presId="urn:microsoft.com/office/officeart/2018/2/layout/IconVerticalSolidList"/>
    <dgm:cxn modelId="{E479F4B3-BEDE-4768-8C62-DDB815B7826F}" type="presParOf" srcId="{8E9D9BEB-2532-4CDB-B559-8285EB33926E}" destId="{54FD8D52-C252-4602-AD91-54380FDC0FE6}" srcOrd="2" destOrd="0" presId="urn:microsoft.com/office/officeart/2018/2/layout/IconVerticalSolidList"/>
    <dgm:cxn modelId="{6EA8AE95-E1C1-4DBE-A53B-6DC3CD5E2D4E}" type="presParOf" srcId="{8E9D9BEB-2532-4CDB-B559-8285EB33926E}" destId="{0EF71175-43CB-4030-96E4-BBBCFF157315}" srcOrd="3" destOrd="0" presId="urn:microsoft.com/office/officeart/2018/2/layout/IconVerticalSolidList"/>
    <dgm:cxn modelId="{CFD9F589-82DA-44DE-A8AA-E8466629D08B}" type="presParOf" srcId="{3353772B-8F4E-4BA2-908D-B838421167D9}" destId="{CFCD3147-76E0-4E34-A98C-003A0D5ADC2F}" srcOrd="5" destOrd="0" presId="urn:microsoft.com/office/officeart/2018/2/layout/IconVerticalSolidList"/>
    <dgm:cxn modelId="{C80C4B62-C238-4AA8-9B60-8041FED8571C}" type="presParOf" srcId="{3353772B-8F4E-4BA2-908D-B838421167D9}" destId="{CA05A6B0-3812-47C0-B116-E83D5D8D4C19}" srcOrd="6" destOrd="0" presId="urn:microsoft.com/office/officeart/2018/2/layout/IconVerticalSolidList"/>
    <dgm:cxn modelId="{68E15490-A10C-42F4-8AD6-61A307425C96}" type="presParOf" srcId="{CA05A6B0-3812-47C0-B116-E83D5D8D4C19}" destId="{0AF0A860-8776-4CD5-9F2D-E452B7671731}" srcOrd="0" destOrd="0" presId="urn:microsoft.com/office/officeart/2018/2/layout/IconVerticalSolidList"/>
    <dgm:cxn modelId="{F95A8B83-A98C-429F-93E4-1A57584CC807}" type="presParOf" srcId="{CA05A6B0-3812-47C0-B116-E83D5D8D4C19}" destId="{7DA82428-6C50-4627-9805-D0930C389C06}" srcOrd="1" destOrd="0" presId="urn:microsoft.com/office/officeart/2018/2/layout/IconVerticalSolidList"/>
    <dgm:cxn modelId="{181FFFE0-640B-4236-8E5A-0037F6FC396D}" type="presParOf" srcId="{CA05A6B0-3812-47C0-B116-E83D5D8D4C19}" destId="{C4E0070C-0DDF-4721-9DC7-6F1E852C3F8C}" srcOrd="2" destOrd="0" presId="urn:microsoft.com/office/officeart/2018/2/layout/IconVerticalSolidList"/>
    <dgm:cxn modelId="{B35DDE9E-D952-44E6-BD96-AD40B87D48AC}" type="presParOf" srcId="{CA05A6B0-3812-47C0-B116-E83D5D8D4C19}" destId="{9A075CC9-45BB-484D-B3D6-5670D7E8EDEE}" srcOrd="3" destOrd="0" presId="urn:microsoft.com/office/officeart/2018/2/layout/IconVerticalSolidList"/>
    <dgm:cxn modelId="{6E054697-5006-4D12-A38A-AB7A08E8A021}" type="presParOf" srcId="{CA05A6B0-3812-47C0-B116-E83D5D8D4C19}" destId="{61A3633A-9986-411E-B93C-6DAF93458723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D6A1F48-C1C9-4216-9658-240002A6A212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6E11E513-78A1-4B4A-8FF7-424B17A5ED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Unattended monitoring &amp; reduced workload</a:t>
          </a:r>
        </a:p>
      </dgm:t>
    </dgm:pt>
    <dgm:pt modelId="{B8D508D7-2401-47C7-A064-ABB647521232}" type="parTrans" cxnId="{68B051F3-D050-43D3-8745-D406C297A5A3}">
      <dgm:prSet/>
      <dgm:spPr/>
      <dgm:t>
        <a:bodyPr/>
        <a:lstStyle/>
        <a:p>
          <a:endParaRPr lang="en-US"/>
        </a:p>
      </dgm:t>
    </dgm:pt>
    <dgm:pt modelId="{5FA14DB6-8A86-41E4-BAF9-B3197AA2564A}" type="sibTrans" cxnId="{68B051F3-D050-43D3-8745-D406C297A5A3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4628010D-63B0-4EDA-B78C-542FDE723B9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Continuous monitoring</a:t>
          </a:r>
        </a:p>
      </dgm:t>
    </dgm:pt>
    <dgm:pt modelId="{5D6C2718-83A4-4D72-A164-AD26CE2A6848}" type="parTrans" cxnId="{1AEAC1DE-31BF-4EA0-BBE0-26578FD1EC01}">
      <dgm:prSet/>
      <dgm:spPr/>
      <dgm:t>
        <a:bodyPr/>
        <a:lstStyle/>
        <a:p>
          <a:endParaRPr lang="en-US"/>
        </a:p>
      </dgm:t>
    </dgm:pt>
    <dgm:pt modelId="{AF2F257A-9093-4DF8-AA29-33FADEAD3ED4}" type="sibTrans" cxnId="{1AEAC1DE-31BF-4EA0-BBE0-26578FD1EC01}">
      <dgm:prSet/>
      <dgm:spPr/>
      <dgm:t>
        <a:bodyPr/>
        <a:lstStyle/>
        <a:p>
          <a:endParaRPr lang="en-US"/>
        </a:p>
      </dgm:t>
    </dgm:pt>
    <dgm:pt modelId="{C9BBE086-82BA-4257-9250-C32AE2D3F7FE}" type="pres">
      <dgm:prSet presAssocID="{0D6A1F48-C1C9-4216-9658-240002A6A212}" presName="root" presStyleCnt="0">
        <dgm:presLayoutVars>
          <dgm:dir/>
          <dgm:resizeHandles val="exact"/>
        </dgm:presLayoutVars>
      </dgm:prSet>
      <dgm:spPr/>
    </dgm:pt>
    <dgm:pt modelId="{42B08667-6387-4979-8EAD-986B37F9A47F}" type="pres">
      <dgm:prSet presAssocID="{0D6A1F48-C1C9-4216-9658-240002A6A212}" presName="container" presStyleCnt="0">
        <dgm:presLayoutVars>
          <dgm:dir/>
          <dgm:resizeHandles val="exact"/>
        </dgm:presLayoutVars>
      </dgm:prSet>
      <dgm:spPr/>
    </dgm:pt>
    <dgm:pt modelId="{32C81B9A-15B1-404E-A5AC-055B21613315}" type="pres">
      <dgm:prSet presAssocID="{6E11E513-78A1-4B4A-8FF7-424B17A5EDAD}" presName="compNode" presStyleCnt="0"/>
      <dgm:spPr/>
    </dgm:pt>
    <dgm:pt modelId="{784BF428-4717-45BF-BCE2-2893F40F28AA}" type="pres">
      <dgm:prSet presAssocID="{6E11E513-78A1-4B4A-8FF7-424B17A5EDAD}" presName="iconBgRect" presStyleLbl="bgShp" presStyleIdx="0" presStyleCnt="2"/>
      <dgm:spPr/>
    </dgm:pt>
    <dgm:pt modelId="{9AE2DA7B-FD29-4445-9DFC-E0A450CA029E}" type="pres">
      <dgm:prSet presAssocID="{6E11E513-78A1-4B4A-8FF7-424B17A5EDAD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Inpatient with solid fill"/>
        </a:ext>
      </dgm:extLst>
    </dgm:pt>
    <dgm:pt modelId="{72FA9218-DF1A-42F1-8F57-9A742550CA3F}" type="pres">
      <dgm:prSet presAssocID="{6E11E513-78A1-4B4A-8FF7-424B17A5EDAD}" presName="spaceRect" presStyleCnt="0"/>
      <dgm:spPr/>
    </dgm:pt>
    <dgm:pt modelId="{A5D88323-2939-4406-8ADA-7DE407D22506}" type="pres">
      <dgm:prSet presAssocID="{6E11E513-78A1-4B4A-8FF7-424B17A5EDAD}" presName="textRect" presStyleLbl="revTx" presStyleIdx="0" presStyleCnt="2">
        <dgm:presLayoutVars>
          <dgm:chMax val="1"/>
          <dgm:chPref val="1"/>
        </dgm:presLayoutVars>
      </dgm:prSet>
      <dgm:spPr/>
    </dgm:pt>
    <dgm:pt modelId="{910695F2-0374-42CC-9EAD-BC94D6856634}" type="pres">
      <dgm:prSet presAssocID="{5FA14DB6-8A86-41E4-BAF9-B3197AA2564A}" presName="sibTrans" presStyleLbl="sibTrans2D1" presStyleIdx="0" presStyleCnt="0"/>
      <dgm:spPr/>
    </dgm:pt>
    <dgm:pt modelId="{687F695E-789E-4249-928F-A5A74A3B1E9A}" type="pres">
      <dgm:prSet presAssocID="{4628010D-63B0-4EDA-B78C-542FDE723B91}" presName="compNode" presStyleCnt="0"/>
      <dgm:spPr/>
    </dgm:pt>
    <dgm:pt modelId="{64188DA3-CBEB-4C7D-96C2-FA1B5F4012A9}" type="pres">
      <dgm:prSet presAssocID="{4628010D-63B0-4EDA-B78C-542FDE723B91}" presName="iconBgRect" presStyleLbl="bgShp" presStyleIdx="1" presStyleCnt="2"/>
      <dgm:spPr/>
    </dgm:pt>
    <dgm:pt modelId="{0B29C34E-415E-4953-9E2C-4C0536157CBC}" type="pres">
      <dgm:prSet presAssocID="{4628010D-63B0-4EDA-B78C-542FDE723B91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C15E1514-5A74-4664-85AE-053420A38332}" type="pres">
      <dgm:prSet presAssocID="{4628010D-63B0-4EDA-B78C-542FDE723B91}" presName="spaceRect" presStyleCnt="0"/>
      <dgm:spPr/>
    </dgm:pt>
    <dgm:pt modelId="{4060C7D7-FFFF-449A-ABB3-5956D6E21ED7}" type="pres">
      <dgm:prSet presAssocID="{4628010D-63B0-4EDA-B78C-542FDE723B91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98E50C0F-898B-412B-BA45-42891287DD19}" type="presOf" srcId="{6E11E513-78A1-4B4A-8FF7-424B17A5EDAD}" destId="{A5D88323-2939-4406-8ADA-7DE407D22506}" srcOrd="0" destOrd="0" presId="urn:microsoft.com/office/officeart/2018/2/layout/IconCircleList"/>
    <dgm:cxn modelId="{92E9534A-B655-45DB-9F55-8B0C023D81B3}" type="presOf" srcId="{4628010D-63B0-4EDA-B78C-542FDE723B91}" destId="{4060C7D7-FFFF-449A-ABB3-5956D6E21ED7}" srcOrd="0" destOrd="0" presId="urn:microsoft.com/office/officeart/2018/2/layout/IconCircleList"/>
    <dgm:cxn modelId="{C802DA4E-1206-4148-8EDB-C549BC6F9728}" type="presOf" srcId="{5FA14DB6-8A86-41E4-BAF9-B3197AA2564A}" destId="{910695F2-0374-42CC-9EAD-BC94D6856634}" srcOrd="0" destOrd="0" presId="urn:microsoft.com/office/officeart/2018/2/layout/IconCircleList"/>
    <dgm:cxn modelId="{168E2993-639D-464E-B237-B002707A1485}" type="presOf" srcId="{0D6A1F48-C1C9-4216-9658-240002A6A212}" destId="{C9BBE086-82BA-4257-9250-C32AE2D3F7FE}" srcOrd="0" destOrd="0" presId="urn:microsoft.com/office/officeart/2018/2/layout/IconCircleList"/>
    <dgm:cxn modelId="{1AEAC1DE-31BF-4EA0-BBE0-26578FD1EC01}" srcId="{0D6A1F48-C1C9-4216-9658-240002A6A212}" destId="{4628010D-63B0-4EDA-B78C-542FDE723B91}" srcOrd="1" destOrd="0" parTransId="{5D6C2718-83A4-4D72-A164-AD26CE2A6848}" sibTransId="{AF2F257A-9093-4DF8-AA29-33FADEAD3ED4}"/>
    <dgm:cxn modelId="{68B051F3-D050-43D3-8745-D406C297A5A3}" srcId="{0D6A1F48-C1C9-4216-9658-240002A6A212}" destId="{6E11E513-78A1-4B4A-8FF7-424B17A5EDAD}" srcOrd="0" destOrd="0" parTransId="{B8D508D7-2401-47C7-A064-ABB647521232}" sibTransId="{5FA14DB6-8A86-41E4-BAF9-B3197AA2564A}"/>
    <dgm:cxn modelId="{600B1FED-613B-4ACB-8727-BF85E2C149E8}" type="presParOf" srcId="{C9BBE086-82BA-4257-9250-C32AE2D3F7FE}" destId="{42B08667-6387-4979-8EAD-986B37F9A47F}" srcOrd="0" destOrd="0" presId="urn:microsoft.com/office/officeart/2018/2/layout/IconCircleList"/>
    <dgm:cxn modelId="{F6E1F66C-344B-428A-AEA9-FCA624FBEB09}" type="presParOf" srcId="{42B08667-6387-4979-8EAD-986B37F9A47F}" destId="{32C81B9A-15B1-404E-A5AC-055B21613315}" srcOrd="0" destOrd="0" presId="urn:microsoft.com/office/officeart/2018/2/layout/IconCircleList"/>
    <dgm:cxn modelId="{B0BF54AD-6D1F-4013-AAB1-3A0F42C19E3D}" type="presParOf" srcId="{32C81B9A-15B1-404E-A5AC-055B21613315}" destId="{784BF428-4717-45BF-BCE2-2893F40F28AA}" srcOrd="0" destOrd="0" presId="urn:microsoft.com/office/officeart/2018/2/layout/IconCircleList"/>
    <dgm:cxn modelId="{9B1AB880-932E-47F1-AC2B-AF8E1330A924}" type="presParOf" srcId="{32C81B9A-15B1-404E-A5AC-055B21613315}" destId="{9AE2DA7B-FD29-4445-9DFC-E0A450CA029E}" srcOrd="1" destOrd="0" presId="urn:microsoft.com/office/officeart/2018/2/layout/IconCircleList"/>
    <dgm:cxn modelId="{56C5AD05-4658-429A-90F2-FC9A617C3A51}" type="presParOf" srcId="{32C81B9A-15B1-404E-A5AC-055B21613315}" destId="{72FA9218-DF1A-42F1-8F57-9A742550CA3F}" srcOrd="2" destOrd="0" presId="urn:microsoft.com/office/officeart/2018/2/layout/IconCircleList"/>
    <dgm:cxn modelId="{4C368D8A-6CB4-433A-B1AD-C62C51E96367}" type="presParOf" srcId="{32C81B9A-15B1-404E-A5AC-055B21613315}" destId="{A5D88323-2939-4406-8ADA-7DE407D22506}" srcOrd="3" destOrd="0" presId="urn:microsoft.com/office/officeart/2018/2/layout/IconCircleList"/>
    <dgm:cxn modelId="{847F10FD-519C-47E0-B65F-1314DB97CF9C}" type="presParOf" srcId="{42B08667-6387-4979-8EAD-986B37F9A47F}" destId="{910695F2-0374-42CC-9EAD-BC94D6856634}" srcOrd="1" destOrd="0" presId="urn:microsoft.com/office/officeart/2018/2/layout/IconCircleList"/>
    <dgm:cxn modelId="{E7F7CBFA-D4E0-4F3C-8C20-CCDC174660A5}" type="presParOf" srcId="{42B08667-6387-4979-8EAD-986B37F9A47F}" destId="{687F695E-789E-4249-928F-A5A74A3B1E9A}" srcOrd="2" destOrd="0" presId="urn:microsoft.com/office/officeart/2018/2/layout/IconCircleList"/>
    <dgm:cxn modelId="{F09AACD1-2A56-44D9-917C-3D086B4B7386}" type="presParOf" srcId="{687F695E-789E-4249-928F-A5A74A3B1E9A}" destId="{64188DA3-CBEB-4C7D-96C2-FA1B5F4012A9}" srcOrd="0" destOrd="0" presId="urn:microsoft.com/office/officeart/2018/2/layout/IconCircleList"/>
    <dgm:cxn modelId="{B3953F2D-D52B-4B03-B96B-FA1386BDB72E}" type="presParOf" srcId="{687F695E-789E-4249-928F-A5A74A3B1E9A}" destId="{0B29C34E-415E-4953-9E2C-4C0536157CBC}" srcOrd="1" destOrd="0" presId="urn:microsoft.com/office/officeart/2018/2/layout/IconCircleList"/>
    <dgm:cxn modelId="{F2E4ECBF-DF1B-42D9-8953-404A5054411B}" type="presParOf" srcId="{687F695E-789E-4249-928F-A5A74A3B1E9A}" destId="{C15E1514-5A74-4664-85AE-053420A38332}" srcOrd="2" destOrd="0" presId="urn:microsoft.com/office/officeart/2018/2/layout/IconCircleList"/>
    <dgm:cxn modelId="{78B445FA-44A2-467C-B795-788E39BDF69C}" type="presParOf" srcId="{687F695E-789E-4249-928F-A5A74A3B1E9A}" destId="{4060C7D7-FFFF-449A-ABB3-5956D6E21ED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73B5D9-C347-4E97-972D-62E543979B28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3F014201-E768-45D4-B2CD-818681F341A5}">
      <dgm:prSet/>
      <dgm:spPr/>
      <dgm:t>
        <a:bodyPr/>
        <a:lstStyle/>
        <a:p>
          <a:r>
            <a:rPr lang="en-US"/>
            <a:t>Does the device fit into your current cardiac protocol?</a:t>
          </a:r>
        </a:p>
      </dgm:t>
    </dgm:pt>
    <dgm:pt modelId="{AF10EFD7-6A37-4B8D-9217-49DDD586084F}" type="parTrans" cxnId="{10CD6844-2203-4985-96CA-D0C692A33A58}">
      <dgm:prSet/>
      <dgm:spPr/>
      <dgm:t>
        <a:bodyPr/>
        <a:lstStyle/>
        <a:p>
          <a:endParaRPr lang="en-US"/>
        </a:p>
      </dgm:t>
    </dgm:pt>
    <dgm:pt modelId="{292A5D11-6D5D-4FBC-84B0-997235FFC1BB}" type="sibTrans" cxnId="{10CD6844-2203-4985-96CA-D0C692A33A58}">
      <dgm:prSet/>
      <dgm:spPr/>
      <dgm:t>
        <a:bodyPr/>
        <a:lstStyle/>
        <a:p>
          <a:endParaRPr lang="en-US"/>
        </a:p>
      </dgm:t>
    </dgm:pt>
    <dgm:pt modelId="{35DBF057-9D8C-40E9-A027-1E091AC549B3}">
      <dgm:prSet/>
      <dgm:spPr/>
      <dgm:t>
        <a:bodyPr/>
        <a:lstStyle/>
        <a:p>
          <a:r>
            <a:rPr lang="en-US"/>
            <a:t>Do you face challenges in efficiently managing ECGs? </a:t>
          </a:r>
        </a:p>
      </dgm:t>
    </dgm:pt>
    <dgm:pt modelId="{1DD12244-57C2-4D30-8448-063308A55060}" type="parTrans" cxnId="{40585431-5A1A-474D-BE50-79B7880CAD09}">
      <dgm:prSet/>
      <dgm:spPr/>
      <dgm:t>
        <a:bodyPr/>
        <a:lstStyle/>
        <a:p>
          <a:endParaRPr lang="en-US"/>
        </a:p>
      </dgm:t>
    </dgm:pt>
    <dgm:pt modelId="{F13F7D3F-A100-406A-B606-12803A96ACBF}" type="sibTrans" cxnId="{40585431-5A1A-474D-BE50-79B7880CAD09}">
      <dgm:prSet/>
      <dgm:spPr/>
      <dgm:t>
        <a:bodyPr/>
        <a:lstStyle/>
        <a:p>
          <a:endParaRPr lang="en-US"/>
        </a:p>
      </dgm:t>
    </dgm:pt>
    <dgm:pt modelId="{04E7491F-56CA-4D46-BA95-C90F4134E565}">
      <dgm:prSet/>
      <dgm:spPr/>
      <dgm:t>
        <a:bodyPr/>
        <a:lstStyle/>
        <a:p>
          <a:r>
            <a:rPr lang="en-US"/>
            <a:t>Can you identify if there are non-cardio ECGs this device can provide?</a:t>
          </a:r>
        </a:p>
      </dgm:t>
    </dgm:pt>
    <dgm:pt modelId="{F37B6D1A-3018-47A2-A2EB-162B49B4401B}" type="parTrans" cxnId="{0127C322-C792-4B2C-BB80-F85F61E932B2}">
      <dgm:prSet/>
      <dgm:spPr/>
      <dgm:t>
        <a:bodyPr/>
        <a:lstStyle/>
        <a:p>
          <a:endParaRPr lang="en-US"/>
        </a:p>
      </dgm:t>
    </dgm:pt>
    <dgm:pt modelId="{C042437E-13B5-48C5-B454-B2CCAB84869D}" type="sibTrans" cxnId="{0127C322-C792-4B2C-BB80-F85F61E932B2}">
      <dgm:prSet/>
      <dgm:spPr/>
      <dgm:t>
        <a:bodyPr/>
        <a:lstStyle/>
        <a:p>
          <a:endParaRPr lang="en-US"/>
        </a:p>
      </dgm:t>
    </dgm:pt>
    <dgm:pt modelId="{0988E4D8-2212-4D4F-9A16-794F98A56D8B}">
      <dgm:prSet/>
      <dgm:spPr/>
      <dgm:t>
        <a:bodyPr/>
        <a:lstStyle/>
        <a:p>
          <a:r>
            <a:rPr lang="en-US"/>
            <a:t>How interventional should the device be? How critical are the post-op scenarios?</a:t>
          </a:r>
        </a:p>
      </dgm:t>
    </dgm:pt>
    <dgm:pt modelId="{FBBFA9AE-E2CE-4B77-BF78-DF69FF7A25AF}" type="parTrans" cxnId="{20CC9E8F-CB05-4D31-83B3-82498DE63037}">
      <dgm:prSet/>
      <dgm:spPr/>
      <dgm:t>
        <a:bodyPr/>
        <a:lstStyle/>
        <a:p>
          <a:endParaRPr lang="en-US"/>
        </a:p>
      </dgm:t>
    </dgm:pt>
    <dgm:pt modelId="{F5C6E0EC-3BEF-4673-8CDC-195C42E2DF42}" type="sibTrans" cxnId="{20CC9E8F-CB05-4D31-83B3-82498DE63037}">
      <dgm:prSet/>
      <dgm:spPr/>
      <dgm:t>
        <a:bodyPr/>
        <a:lstStyle/>
        <a:p>
          <a:endParaRPr lang="en-US"/>
        </a:p>
      </dgm:t>
    </dgm:pt>
    <dgm:pt modelId="{1C495C81-71B0-47AC-AC50-30311228F2AE}">
      <dgm:prSet/>
      <dgm:spPr/>
      <dgm:t>
        <a:bodyPr/>
        <a:lstStyle/>
        <a:p>
          <a:r>
            <a:rPr lang="en-US"/>
            <a:t>What framework or tech do you currently use for post-op management?</a:t>
          </a:r>
        </a:p>
      </dgm:t>
    </dgm:pt>
    <dgm:pt modelId="{67348FAA-AF67-417D-8746-4466085F1F36}" type="parTrans" cxnId="{B092D07D-3A3A-4D66-865E-850FE144ACC3}">
      <dgm:prSet/>
      <dgm:spPr/>
      <dgm:t>
        <a:bodyPr/>
        <a:lstStyle/>
        <a:p>
          <a:endParaRPr lang="en-US"/>
        </a:p>
      </dgm:t>
    </dgm:pt>
    <dgm:pt modelId="{12FEAE5B-C6BB-44B9-A683-132EB660619A}" type="sibTrans" cxnId="{B092D07D-3A3A-4D66-865E-850FE144ACC3}">
      <dgm:prSet/>
      <dgm:spPr/>
      <dgm:t>
        <a:bodyPr/>
        <a:lstStyle/>
        <a:p>
          <a:endParaRPr lang="en-US"/>
        </a:p>
      </dgm:t>
    </dgm:pt>
    <dgm:pt modelId="{60E99244-4B7B-4E5B-AA62-5DE694AECC92}" type="pres">
      <dgm:prSet presAssocID="{4773B5D9-C347-4E97-972D-62E543979B28}" presName="root" presStyleCnt="0">
        <dgm:presLayoutVars>
          <dgm:dir/>
          <dgm:resizeHandles val="exact"/>
        </dgm:presLayoutVars>
      </dgm:prSet>
      <dgm:spPr/>
    </dgm:pt>
    <dgm:pt modelId="{B7F3DE58-6AF4-47E5-8812-69D0685CE3C5}" type="pres">
      <dgm:prSet presAssocID="{3F014201-E768-45D4-B2CD-818681F341A5}" presName="compNode" presStyleCnt="0"/>
      <dgm:spPr/>
    </dgm:pt>
    <dgm:pt modelId="{D72387CA-29A8-4E69-ADD7-00409432D6A1}" type="pres">
      <dgm:prSet presAssocID="{3F014201-E768-45D4-B2CD-818681F341A5}" presName="bgRect" presStyleLbl="bgShp" presStyleIdx="0" presStyleCnt="5"/>
      <dgm:spPr/>
    </dgm:pt>
    <dgm:pt modelId="{2C52C9CF-3277-4CEC-AB84-7FD2E2BA66F4}" type="pres">
      <dgm:prSet presAssocID="{3F014201-E768-45D4-B2CD-818681F341A5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with Pulse"/>
        </a:ext>
      </dgm:extLst>
    </dgm:pt>
    <dgm:pt modelId="{CEB55418-B491-4E06-8A68-DD10777A0F25}" type="pres">
      <dgm:prSet presAssocID="{3F014201-E768-45D4-B2CD-818681F341A5}" presName="spaceRect" presStyleCnt="0"/>
      <dgm:spPr/>
    </dgm:pt>
    <dgm:pt modelId="{562F9C03-B846-42C8-8277-780F4B034B95}" type="pres">
      <dgm:prSet presAssocID="{3F014201-E768-45D4-B2CD-818681F341A5}" presName="parTx" presStyleLbl="revTx" presStyleIdx="0" presStyleCnt="5">
        <dgm:presLayoutVars>
          <dgm:chMax val="0"/>
          <dgm:chPref val="0"/>
        </dgm:presLayoutVars>
      </dgm:prSet>
      <dgm:spPr/>
    </dgm:pt>
    <dgm:pt modelId="{305A3FC7-3F8A-43F6-9630-6EB414244CE8}" type="pres">
      <dgm:prSet presAssocID="{292A5D11-6D5D-4FBC-84B0-997235FFC1BB}" presName="sibTrans" presStyleCnt="0"/>
      <dgm:spPr/>
    </dgm:pt>
    <dgm:pt modelId="{687820F6-C116-4B31-BFFB-75E2A47696B3}" type="pres">
      <dgm:prSet presAssocID="{35DBF057-9D8C-40E9-A027-1E091AC549B3}" presName="compNode" presStyleCnt="0"/>
      <dgm:spPr/>
    </dgm:pt>
    <dgm:pt modelId="{B6605F87-7CA6-405B-8185-B8D74C2EA690}" type="pres">
      <dgm:prSet presAssocID="{35DBF057-9D8C-40E9-A027-1E091AC549B3}" presName="bgRect" presStyleLbl="bgShp" presStyleIdx="1" presStyleCnt="5"/>
      <dgm:spPr/>
    </dgm:pt>
    <dgm:pt modelId="{8E2E0652-9724-4380-A729-C837C813F06B}" type="pres">
      <dgm:prSet presAssocID="{35DBF057-9D8C-40E9-A027-1E091AC549B3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BE441A57-943C-4BF9-916D-1C2FAE13A060}" type="pres">
      <dgm:prSet presAssocID="{35DBF057-9D8C-40E9-A027-1E091AC549B3}" presName="spaceRect" presStyleCnt="0"/>
      <dgm:spPr/>
    </dgm:pt>
    <dgm:pt modelId="{60A318F9-B94D-420E-988C-637463F5DBA3}" type="pres">
      <dgm:prSet presAssocID="{35DBF057-9D8C-40E9-A027-1E091AC549B3}" presName="parTx" presStyleLbl="revTx" presStyleIdx="1" presStyleCnt="5">
        <dgm:presLayoutVars>
          <dgm:chMax val="0"/>
          <dgm:chPref val="0"/>
        </dgm:presLayoutVars>
      </dgm:prSet>
      <dgm:spPr/>
    </dgm:pt>
    <dgm:pt modelId="{4B3100B4-ACA8-4AD0-8018-B06B2E84AD38}" type="pres">
      <dgm:prSet presAssocID="{F13F7D3F-A100-406A-B606-12803A96ACBF}" presName="sibTrans" presStyleCnt="0"/>
      <dgm:spPr/>
    </dgm:pt>
    <dgm:pt modelId="{FCB07A85-A8EF-41B1-A0F6-70DBF35055CF}" type="pres">
      <dgm:prSet presAssocID="{04E7491F-56CA-4D46-BA95-C90F4134E565}" presName="compNode" presStyleCnt="0"/>
      <dgm:spPr/>
    </dgm:pt>
    <dgm:pt modelId="{845D6E3E-5946-4328-BDC4-C6FB05CD4A3A}" type="pres">
      <dgm:prSet presAssocID="{04E7491F-56CA-4D46-BA95-C90F4134E565}" presName="bgRect" presStyleLbl="bgShp" presStyleIdx="2" presStyleCnt="5"/>
      <dgm:spPr/>
    </dgm:pt>
    <dgm:pt modelId="{97234DD1-FE41-4B99-B6AD-238B1794CC87}" type="pres">
      <dgm:prSet presAssocID="{04E7491F-56CA-4D46-BA95-C90F4134E565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 Organ"/>
        </a:ext>
      </dgm:extLst>
    </dgm:pt>
    <dgm:pt modelId="{473660A4-472F-412F-8CBB-13256A51A202}" type="pres">
      <dgm:prSet presAssocID="{04E7491F-56CA-4D46-BA95-C90F4134E565}" presName="spaceRect" presStyleCnt="0"/>
      <dgm:spPr/>
    </dgm:pt>
    <dgm:pt modelId="{72DA6C22-0274-4495-A249-7CF20C7B9403}" type="pres">
      <dgm:prSet presAssocID="{04E7491F-56CA-4D46-BA95-C90F4134E565}" presName="parTx" presStyleLbl="revTx" presStyleIdx="2" presStyleCnt="5">
        <dgm:presLayoutVars>
          <dgm:chMax val="0"/>
          <dgm:chPref val="0"/>
        </dgm:presLayoutVars>
      </dgm:prSet>
      <dgm:spPr/>
    </dgm:pt>
    <dgm:pt modelId="{23B8B73A-C261-44EF-B38E-3AFAA6EC8B03}" type="pres">
      <dgm:prSet presAssocID="{C042437E-13B5-48C5-B454-B2CCAB84869D}" presName="sibTrans" presStyleCnt="0"/>
      <dgm:spPr/>
    </dgm:pt>
    <dgm:pt modelId="{78419D42-9604-48FF-8098-B8E965FAC8C0}" type="pres">
      <dgm:prSet presAssocID="{0988E4D8-2212-4D4F-9A16-794F98A56D8B}" presName="compNode" presStyleCnt="0"/>
      <dgm:spPr/>
    </dgm:pt>
    <dgm:pt modelId="{9BC5D3D6-5811-49D4-99E5-E1752FC0C842}" type="pres">
      <dgm:prSet presAssocID="{0988E4D8-2212-4D4F-9A16-794F98A56D8B}" presName="bgRect" presStyleLbl="bgShp" presStyleIdx="3" presStyleCnt="5"/>
      <dgm:spPr/>
    </dgm:pt>
    <dgm:pt modelId="{3F9BFB5D-49D8-4666-8DFA-3BAB0E6EA407}" type="pres">
      <dgm:prSet presAssocID="{0988E4D8-2212-4D4F-9A16-794F98A56D8B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edicine"/>
        </a:ext>
      </dgm:extLst>
    </dgm:pt>
    <dgm:pt modelId="{2A9801CC-738B-4261-95D7-9B6A5F696F4B}" type="pres">
      <dgm:prSet presAssocID="{0988E4D8-2212-4D4F-9A16-794F98A56D8B}" presName="spaceRect" presStyleCnt="0"/>
      <dgm:spPr/>
    </dgm:pt>
    <dgm:pt modelId="{FA06BA55-4A47-407C-84D7-E2140A99A87F}" type="pres">
      <dgm:prSet presAssocID="{0988E4D8-2212-4D4F-9A16-794F98A56D8B}" presName="parTx" presStyleLbl="revTx" presStyleIdx="3" presStyleCnt="5">
        <dgm:presLayoutVars>
          <dgm:chMax val="0"/>
          <dgm:chPref val="0"/>
        </dgm:presLayoutVars>
      </dgm:prSet>
      <dgm:spPr/>
    </dgm:pt>
    <dgm:pt modelId="{8272DB22-A22A-43B6-9BC5-8DA61359B293}" type="pres">
      <dgm:prSet presAssocID="{F5C6E0EC-3BEF-4673-8CDC-195C42E2DF42}" presName="sibTrans" presStyleCnt="0"/>
      <dgm:spPr/>
    </dgm:pt>
    <dgm:pt modelId="{837B201A-7F4E-4F82-BACA-6C6DA2CA2E03}" type="pres">
      <dgm:prSet presAssocID="{1C495C81-71B0-47AC-AC50-30311228F2AE}" presName="compNode" presStyleCnt="0"/>
      <dgm:spPr/>
    </dgm:pt>
    <dgm:pt modelId="{C4EB5EA6-EB0E-4513-A949-A99ED4F1E9F5}" type="pres">
      <dgm:prSet presAssocID="{1C495C81-71B0-47AC-AC50-30311228F2AE}" presName="bgRect" presStyleLbl="bgShp" presStyleIdx="4" presStyleCnt="5"/>
      <dgm:spPr/>
    </dgm:pt>
    <dgm:pt modelId="{A9C71275-A0C3-4DD2-ABB5-38A06A0D440A}" type="pres">
      <dgm:prSet presAssocID="{1C495C81-71B0-47AC-AC50-30311228F2AE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1B9432E4-72AE-4B03-A76B-F8BF6CDD72EB}" type="pres">
      <dgm:prSet presAssocID="{1C495C81-71B0-47AC-AC50-30311228F2AE}" presName="spaceRect" presStyleCnt="0"/>
      <dgm:spPr/>
    </dgm:pt>
    <dgm:pt modelId="{CFDA0D86-84DF-481C-A83D-88ACC7C147DE}" type="pres">
      <dgm:prSet presAssocID="{1C495C81-71B0-47AC-AC50-30311228F2AE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34502704-8A30-4899-B742-BC9112C7D488}" type="presOf" srcId="{04E7491F-56CA-4D46-BA95-C90F4134E565}" destId="{72DA6C22-0274-4495-A249-7CF20C7B9403}" srcOrd="0" destOrd="0" presId="urn:microsoft.com/office/officeart/2018/2/layout/IconVerticalSolidList"/>
    <dgm:cxn modelId="{2487D020-D5CF-4B4A-BF8E-79E970334A23}" type="presOf" srcId="{1C495C81-71B0-47AC-AC50-30311228F2AE}" destId="{CFDA0D86-84DF-481C-A83D-88ACC7C147DE}" srcOrd="0" destOrd="0" presId="urn:microsoft.com/office/officeart/2018/2/layout/IconVerticalSolidList"/>
    <dgm:cxn modelId="{0127C322-C792-4B2C-BB80-F85F61E932B2}" srcId="{4773B5D9-C347-4E97-972D-62E543979B28}" destId="{04E7491F-56CA-4D46-BA95-C90F4134E565}" srcOrd="2" destOrd="0" parTransId="{F37B6D1A-3018-47A2-A2EB-162B49B4401B}" sibTransId="{C042437E-13B5-48C5-B454-B2CCAB84869D}"/>
    <dgm:cxn modelId="{40585431-5A1A-474D-BE50-79B7880CAD09}" srcId="{4773B5D9-C347-4E97-972D-62E543979B28}" destId="{35DBF057-9D8C-40E9-A027-1E091AC549B3}" srcOrd="1" destOrd="0" parTransId="{1DD12244-57C2-4D30-8448-063308A55060}" sibTransId="{F13F7D3F-A100-406A-B606-12803A96ACBF}"/>
    <dgm:cxn modelId="{55D9D534-16D7-4943-B709-D7A3E24966F6}" type="presOf" srcId="{0988E4D8-2212-4D4F-9A16-794F98A56D8B}" destId="{FA06BA55-4A47-407C-84D7-E2140A99A87F}" srcOrd="0" destOrd="0" presId="urn:microsoft.com/office/officeart/2018/2/layout/IconVerticalSolidList"/>
    <dgm:cxn modelId="{10CD6844-2203-4985-96CA-D0C692A33A58}" srcId="{4773B5D9-C347-4E97-972D-62E543979B28}" destId="{3F014201-E768-45D4-B2CD-818681F341A5}" srcOrd="0" destOrd="0" parTransId="{AF10EFD7-6A37-4B8D-9217-49DDD586084F}" sibTransId="{292A5D11-6D5D-4FBC-84B0-997235FFC1BB}"/>
    <dgm:cxn modelId="{B092D07D-3A3A-4D66-865E-850FE144ACC3}" srcId="{4773B5D9-C347-4E97-972D-62E543979B28}" destId="{1C495C81-71B0-47AC-AC50-30311228F2AE}" srcOrd="4" destOrd="0" parTransId="{67348FAA-AF67-417D-8746-4466085F1F36}" sibTransId="{12FEAE5B-C6BB-44B9-A683-132EB660619A}"/>
    <dgm:cxn modelId="{E58ACD7E-9403-465C-B375-BB9FECCA4E7E}" type="presOf" srcId="{4773B5D9-C347-4E97-972D-62E543979B28}" destId="{60E99244-4B7B-4E5B-AA62-5DE694AECC92}" srcOrd="0" destOrd="0" presId="urn:microsoft.com/office/officeart/2018/2/layout/IconVerticalSolidList"/>
    <dgm:cxn modelId="{E1D25883-465B-46E2-A67F-EC238E4681FF}" type="presOf" srcId="{35DBF057-9D8C-40E9-A027-1E091AC549B3}" destId="{60A318F9-B94D-420E-988C-637463F5DBA3}" srcOrd="0" destOrd="0" presId="urn:microsoft.com/office/officeart/2018/2/layout/IconVerticalSolidList"/>
    <dgm:cxn modelId="{20CC9E8F-CB05-4D31-83B3-82498DE63037}" srcId="{4773B5D9-C347-4E97-972D-62E543979B28}" destId="{0988E4D8-2212-4D4F-9A16-794F98A56D8B}" srcOrd="3" destOrd="0" parTransId="{FBBFA9AE-E2CE-4B77-BF78-DF69FF7A25AF}" sibTransId="{F5C6E0EC-3BEF-4673-8CDC-195C42E2DF42}"/>
    <dgm:cxn modelId="{C305E5F8-FBDD-467C-B596-C7502FD272F2}" type="presOf" srcId="{3F014201-E768-45D4-B2CD-818681F341A5}" destId="{562F9C03-B846-42C8-8277-780F4B034B95}" srcOrd="0" destOrd="0" presId="urn:microsoft.com/office/officeart/2018/2/layout/IconVerticalSolidList"/>
    <dgm:cxn modelId="{4A0105C0-B92A-4102-828D-9B0B5F2B8453}" type="presParOf" srcId="{60E99244-4B7B-4E5B-AA62-5DE694AECC92}" destId="{B7F3DE58-6AF4-47E5-8812-69D0685CE3C5}" srcOrd="0" destOrd="0" presId="urn:microsoft.com/office/officeart/2018/2/layout/IconVerticalSolidList"/>
    <dgm:cxn modelId="{F41390E9-B9B1-4869-875C-6CBC3FD0B436}" type="presParOf" srcId="{B7F3DE58-6AF4-47E5-8812-69D0685CE3C5}" destId="{D72387CA-29A8-4E69-ADD7-00409432D6A1}" srcOrd="0" destOrd="0" presId="urn:microsoft.com/office/officeart/2018/2/layout/IconVerticalSolidList"/>
    <dgm:cxn modelId="{65467F8C-A9DF-46EF-A859-74D6F3AF3B3F}" type="presParOf" srcId="{B7F3DE58-6AF4-47E5-8812-69D0685CE3C5}" destId="{2C52C9CF-3277-4CEC-AB84-7FD2E2BA66F4}" srcOrd="1" destOrd="0" presId="urn:microsoft.com/office/officeart/2018/2/layout/IconVerticalSolidList"/>
    <dgm:cxn modelId="{232C983B-9BC7-4863-BC8E-333DE3A11AC1}" type="presParOf" srcId="{B7F3DE58-6AF4-47E5-8812-69D0685CE3C5}" destId="{CEB55418-B491-4E06-8A68-DD10777A0F25}" srcOrd="2" destOrd="0" presId="urn:microsoft.com/office/officeart/2018/2/layout/IconVerticalSolidList"/>
    <dgm:cxn modelId="{B68274CB-C383-405A-94C6-F5541C0806D3}" type="presParOf" srcId="{B7F3DE58-6AF4-47E5-8812-69D0685CE3C5}" destId="{562F9C03-B846-42C8-8277-780F4B034B95}" srcOrd="3" destOrd="0" presId="urn:microsoft.com/office/officeart/2018/2/layout/IconVerticalSolidList"/>
    <dgm:cxn modelId="{E4FC1789-E2DE-47C0-BF2C-E7E49383B207}" type="presParOf" srcId="{60E99244-4B7B-4E5B-AA62-5DE694AECC92}" destId="{305A3FC7-3F8A-43F6-9630-6EB414244CE8}" srcOrd="1" destOrd="0" presId="urn:microsoft.com/office/officeart/2018/2/layout/IconVerticalSolidList"/>
    <dgm:cxn modelId="{5624E864-AEDB-4968-A928-C82460A67774}" type="presParOf" srcId="{60E99244-4B7B-4E5B-AA62-5DE694AECC92}" destId="{687820F6-C116-4B31-BFFB-75E2A47696B3}" srcOrd="2" destOrd="0" presId="urn:microsoft.com/office/officeart/2018/2/layout/IconVerticalSolidList"/>
    <dgm:cxn modelId="{4DDEF05E-B01D-482C-9753-98BE432D8E2B}" type="presParOf" srcId="{687820F6-C116-4B31-BFFB-75E2A47696B3}" destId="{B6605F87-7CA6-405B-8185-B8D74C2EA690}" srcOrd="0" destOrd="0" presId="urn:microsoft.com/office/officeart/2018/2/layout/IconVerticalSolidList"/>
    <dgm:cxn modelId="{2D79326C-D4AF-4336-865B-F7E1C77C704B}" type="presParOf" srcId="{687820F6-C116-4B31-BFFB-75E2A47696B3}" destId="{8E2E0652-9724-4380-A729-C837C813F06B}" srcOrd="1" destOrd="0" presId="urn:microsoft.com/office/officeart/2018/2/layout/IconVerticalSolidList"/>
    <dgm:cxn modelId="{90DCDF0C-07C9-4E04-B359-F3FE489CF96B}" type="presParOf" srcId="{687820F6-C116-4B31-BFFB-75E2A47696B3}" destId="{BE441A57-943C-4BF9-916D-1C2FAE13A060}" srcOrd="2" destOrd="0" presId="urn:microsoft.com/office/officeart/2018/2/layout/IconVerticalSolidList"/>
    <dgm:cxn modelId="{10C77E6D-A085-4406-90B8-A41A760D8F9A}" type="presParOf" srcId="{687820F6-C116-4B31-BFFB-75E2A47696B3}" destId="{60A318F9-B94D-420E-988C-637463F5DBA3}" srcOrd="3" destOrd="0" presId="urn:microsoft.com/office/officeart/2018/2/layout/IconVerticalSolidList"/>
    <dgm:cxn modelId="{D89CA332-8BCB-4C99-BE2E-A1C8A3EED625}" type="presParOf" srcId="{60E99244-4B7B-4E5B-AA62-5DE694AECC92}" destId="{4B3100B4-ACA8-4AD0-8018-B06B2E84AD38}" srcOrd="3" destOrd="0" presId="urn:microsoft.com/office/officeart/2018/2/layout/IconVerticalSolidList"/>
    <dgm:cxn modelId="{8E2F9374-F05A-47EC-8838-BA94A3859336}" type="presParOf" srcId="{60E99244-4B7B-4E5B-AA62-5DE694AECC92}" destId="{FCB07A85-A8EF-41B1-A0F6-70DBF35055CF}" srcOrd="4" destOrd="0" presId="urn:microsoft.com/office/officeart/2018/2/layout/IconVerticalSolidList"/>
    <dgm:cxn modelId="{4C5C3798-52FB-4E77-B19E-350F50347C63}" type="presParOf" srcId="{FCB07A85-A8EF-41B1-A0F6-70DBF35055CF}" destId="{845D6E3E-5946-4328-BDC4-C6FB05CD4A3A}" srcOrd="0" destOrd="0" presId="urn:microsoft.com/office/officeart/2018/2/layout/IconVerticalSolidList"/>
    <dgm:cxn modelId="{64ED1D56-C6FA-493F-BD09-43C95E3A0CE4}" type="presParOf" srcId="{FCB07A85-A8EF-41B1-A0F6-70DBF35055CF}" destId="{97234DD1-FE41-4B99-B6AD-238B1794CC87}" srcOrd="1" destOrd="0" presId="urn:microsoft.com/office/officeart/2018/2/layout/IconVerticalSolidList"/>
    <dgm:cxn modelId="{3ACA821F-207A-4CD8-95CD-1996717DA2C8}" type="presParOf" srcId="{FCB07A85-A8EF-41B1-A0F6-70DBF35055CF}" destId="{473660A4-472F-412F-8CBB-13256A51A202}" srcOrd="2" destOrd="0" presId="urn:microsoft.com/office/officeart/2018/2/layout/IconVerticalSolidList"/>
    <dgm:cxn modelId="{B475BE1D-0C21-4186-A11C-6EEB238C7E35}" type="presParOf" srcId="{FCB07A85-A8EF-41B1-A0F6-70DBF35055CF}" destId="{72DA6C22-0274-4495-A249-7CF20C7B9403}" srcOrd="3" destOrd="0" presId="urn:microsoft.com/office/officeart/2018/2/layout/IconVerticalSolidList"/>
    <dgm:cxn modelId="{C71F0190-856A-43A9-914B-F20BB39A9457}" type="presParOf" srcId="{60E99244-4B7B-4E5B-AA62-5DE694AECC92}" destId="{23B8B73A-C261-44EF-B38E-3AFAA6EC8B03}" srcOrd="5" destOrd="0" presId="urn:microsoft.com/office/officeart/2018/2/layout/IconVerticalSolidList"/>
    <dgm:cxn modelId="{4D56030D-19D8-49CB-9879-8E4B7914ACE4}" type="presParOf" srcId="{60E99244-4B7B-4E5B-AA62-5DE694AECC92}" destId="{78419D42-9604-48FF-8098-B8E965FAC8C0}" srcOrd="6" destOrd="0" presId="urn:microsoft.com/office/officeart/2018/2/layout/IconVerticalSolidList"/>
    <dgm:cxn modelId="{75D52E0D-EBD0-45E5-92C2-0E311A56C86A}" type="presParOf" srcId="{78419D42-9604-48FF-8098-B8E965FAC8C0}" destId="{9BC5D3D6-5811-49D4-99E5-E1752FC0C842}" srcOrd="0" destOrd="0" presId="urn:microsoft.com/office/officeart/2018/2/layout/IconVerticalSolidList"/>
    <dgm:cxn modelId="{5265A51F-EFFD-41A6-81F4-9BAE365503A9}" type="presParOf" srcId="{78419D42-9604-48FF-8098-B8E965FAC8C0}" destId="{3F9BFB5D-49D8-4666-8DFA-3BAB0E6EA407}" srcOrd="1" destOrd="0" presId="urn:microsoft.com/office/officeart/2018/2/layout/IconVerticalSolidList"/>
    <dgm:cxn modelId="{1CA8CBDB-5CCA-4AF0-A14D-34676212304F}" type="presParOf" srcId="{78419D42-9604-48FF-8098-B8E965FAC8C0}" destId="{2A9801CC-738B-4261-95D7-9B6A5F696F4B}" srcOrd="2" destOrd="0" presId="urn:microsoft.com/office/officeart/2018/2/layout/IconVerticalSolidList"/>
    <dgm:cxn modelId="{8C520E3D-7DD2-46EC-96CC-357FA151614E}" type="presParOf" srcId="{78419D42-9604-48FF-8098-B8E965FAC8C0}" destId="{FA06BA55-4A47-407C-84D7-E2140A99A87F}" srcOrd="3" destOrd="0" presId="urn:microsoft.com/office/officeart/2018/2/layout/IconVerticalSolidList"/>
    <dgm:cxn modelId="{21A207C6-11B0-48A4-AB3D-50C35FECF51D}" type="presParOf" srcId="{60E99244-4B7B-4E5B-AA62-5DE694AECC92}" destId="{8272DB22-A22A-43B6-9BC5-8DA61359B293}" srcOrd="7" destOrd="0" presId="urn:microsoft.com/office/officeart/2018/2/layout/IconVerticalSolidList"/>
    <dgm:cxn modelId="{77ABE1C2-E283-47CD-9AB3-2A075DE95F84}" type="presParOf" srcId="{60E99244-4B7B-4E5B-AA62-5DE694AECC92}" destId="{837B201A-7F4E-4F82-BACA-6C6DA2CA2E03}" srcOrd="8" destOrd="0" presId="urn:microsoft.com/office/officeart/2018/2/layout/IconVerticalSolidList"/>
    <dgm:cxn modelId="{4FFC90D9-5AA9-4A9B-AF0D-DC637D2BF615}" type="presParOf" srcId="{837B201A-7F4E-4F82-BACA-6C6DA2CA2E03}" destId="{C4EB5EA6-EB0E-4513-A949-A99ED4F1E9F5}" srcOrd="0" destOrd="0" presId="urn:microsoft.com/office/officeart/2018/2/layout/IconVerticalSolidList"/>
    <dgm:cxn modelId="{BA8675D8-4BF8-4580-AD69-6C1FF5B1A07B}" type="presParOf" srcId="{837B201A-7F4E-4F82-BACA-6C6DA2CA2E03}" destId="{A9C71275-A0C3-4DD2-ABB5-38A06A0D440A}" srcOrd="1" destOrd="0" presId="urn:microsoft.com/office/officeart/2018/2/layout/IconVerticalSolidList"/>
    <dgm:cxn modelId="{6EDA6163-767F-4E8F-8974-43C58CDD2FD7}" type="presParOf" srcId="{837B201A-7F4E-4F82-BACA-6C6DA2CA2E03}" destId="{1B9432E4-72AE-4B03-A76B-F8BF6CDD72EB}" srcOrd="2" destOrd="0" presId="urn:microsoft.com/office/officeart/2018/2/layout/IconVerticalSolidList"/>
    <dgm:cxn modelId="{036FAE8E-0F90-47CD-9685-C9ECE6086E82}" type="presParOf" srcId="{837B201A-7F4E-4F82-BACA-6C6DA2CA2E03}" destId="{CFDA0D86-84DF-481C-A83D-88ACC7C147D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94D3343-6EF9-4A9C-B10B-A347660D02BE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D71522B-3F1C-4091-BAB0-2811FFED84A3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$500k upfront R&amp;D cost</a:t>
          </a:r>
        </a:p>
      </dgm:t>
    </dgm:pt>
    <dgm:pt modelId="{EFFE74C9-7DF3-4D88-BE34-2765D577F752}" type="parTrans" cxnId="{DF9D7E4D-246F-4573-95CF-22F2F421AF2F}">
      <dgm:prSet/>
      <dgm:spPr/>
      <dgm:t>
        <a:bodyPr/>
        <a:lstStyle/>
        <a:p>
          <a:endParaRPr lang="en-US" sz="2800"/>
        </a:p>
      </dgm:t>
    </dgm:pt>
    <dgm:pt modelId="{E331CC35-2E39-4786-8FB2-5C5D3F48A9DC}" type="sibTrans" cxnId="{DF9D7E4D-246F-4573-95CF-22F2F421AF2F}">
      <dgm:prSet/>
      <dgm:spPr/>
      <dgm:t>
        <a:bodyPr/>
        <a:lstStyle/>
        <a:p>
          <a:endParaRPr lang="en-US" sz="2800"/>
        </a:p>
      </dgm:t>
    </dgm:pt>
    <dgm:pt modelId="{6C20B6EC-B0D3-400C-8AD3-4441FC820157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Low order volume</a:t>
          </a:r>
        </a:p>
      </dgm:t>
    </dgm:pt>
    <dgm:pt modelId="{D622A94E-1489-4606-A801-C600434C1AF4}" type="parTrans" cxnId="{1A82B646-A829-4E27-9852-A9F128B32793}">
      <dgm:prSet/>
      <dgm:spPr/>
      <dgm:t>
        <a:bodyPr/>
        <a:lstStyle/>
        <a:p>
          <a:endParaRPr lang="en-US" sz="2800"/>
        </a:p>
      </dgm:t>
    </dgm:pt>
    <dgm:pt modelId="{54596EE8-AFEE-4AEF-85E8-BC696D3B5628}" type="sibTrans" cxnId="{1A82B646-A829-4E27-9852-A9F128B32793}">
      <dgm:prSet/>
      <dgm:spPr/>
      <dgm:t>
        <a:bodyPr/>
        <a:lstStyle/>
        <a:p>
          <a:endParaRPr lang="en-US" sz="2800"/>
        </a:p>
      </dgm:t>
    </dgm:pt>
    <dgm:pt modelId="{E075F446-7550-47FB-91F5-2D3791D6C9BC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strike="sngStrike" dirty="0"/>
            <a:t>Higher comparable value with Philips/GE</a:t>
          </a:r>
        </a:p>
      </dgm:t>
    </dgm:pt>
    <dgm:pt modelId="{4A8C3593-6622-40B5-A6FE-6BC44BA56140}" type="parTrans" cxnId="{98867FA0-6779-4B3A-8E30-D4AB278EF757}">
      <dgm:prSet/>
      <dgm:spPr/>
      <dgm:t>
        <a:bodyPr/>
        <a:lstStyle/>
        <a:p>
          <a:endParaRPr lang="en-US" sz="2800"/>
        </a:p>
      </dgm:t>
    </dgm:pt>
    <dgm:pt modelId="{F6EAC96A-DC61-4A6F-9126-6738277B2E6E}" type="sibTrans" cxnId="{98867FA0-6779-4B3A-8E30-D4AB278EF757}">
      <dgm:prSet/>
      <dgm:spPr/>
      <dgm:t>
        <a:bodyPr/>
        <a:lstStyle/>
        <a:p>
          <a:endParaRPr lang="en-US" sz="2800"/>
        </a:p>
      </dgm:t>
    </dgm:pt>
    <dgm:pt modelId="{07CF00FD-4C91-4FCA-AA1F-A5A6C16EE4E6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/>
            <a:t>NH in 2018 with 1000 beds, had daily 40 procedures</a:t>
          </a:r>
          <a:r>
            <a:rPr lang="en-US" sz="1600" baseline="30000"/>
            <a:t>4</a:t>
          </a:r>
          <a:endParaRPr lang="en-US" sz="1600"/>
        </a:p>
      </dgm:t>
    </dgm:pt>
    <dgm:pt modelId="{5AEB2FF0-C84D-4608-B556-2050B86C4AD5}" type="parTrans" cxnId="{21660B7A-C78A-4232-895F-BF2DAF7F93D0}">
      <dgm:prSet/>
      <dgm:spPr/>
      <dgm:t>
        <a:bodyPr/>
        <a:lstStyle/>
        <a:p>
          <a:endParaRPr lang="en-US" sz="2800"/>
        </a:p>
      </dgm:t>
    </dgm:pt>
    <dgm:pt modelId="{A95AC67E-18BA-46BC-8225-11396F5E2F3B}" type="sibTrans" cxnId="{21660B7A-C78A-4232-895F-BF2DAF7F93D0}">
      <dgm:prSet/>
      <dgm:spPr/>
      <dgm:t>
        <a:bodyPr/>
        <a:lstStyle/>
        <a:p>
          <a:endParaRPr lang="en-US" sz="2800"/>
        </a:p>
      </dgm:t>
    </dgm:pt>
    <dgm:pt modelId="{8E7F30D2-DA11-439C-877C-C58004EE0C02}">
      <dgm:prSet custT="1"/>
      <dgm:spPr/>
      <dgm:t>
        <a:bodyPr/>
        <a:lstStyle/>
        <a:p>
          <a:pPr>
            <a:lnSpc>
              <a:spcPct val="100000"/>
            </a:lnSpc>
          </a:pPr>
          <a:r>
            <a:rPr lang="en-US" sz="1600" dirty="0"/>
            <a:t>At the same efficiency level, daily procedures  ~180 over 4500 beds</a:t>
          </a:r>
        </a:p>
      </dgm:t>
    </dgm:pt>
    <dgm:pt modelId="{C5C12467-32CF-49FD-8350-21D7CA0077C4}" type="parTrans" cxnId="{D136A790-D77C-425F-8D1A-B52966BC51DE}">
      <dgm:prSet/>
      <dgm:spPr/>
      <dgm:t>
        <a:bodyPr/>
        <a:lstStyle/>
        <a:p>
          <a:endParaRPr lang="en-US" sz="2800"/>
        </a:p>
      </dgm:t>
    </dgm:pt>
    <dgm:pt modelId="{8BF134EA-5246-4CBA-9736-2CFFA44DB7C7}" type="sibTrans" cxnId="{D136A790-D77C-425F-8D1A-B52966BC51DE}">
      <dgm:prSet/>
      <dgm:spPr/>
      <dgm:t>
        <a:bodyPr/>
        <a:lstStyle/>
        <a:p>
          <a:endParaRPr lang="en-US" sz="2800"/>
        </a:p>
      </dgm:t>
    </dgm:pt>
    <dgm:pt modelId="{33FD4139-1658-4270-AD3C-5C6801AAAA02}" type="pres">
      <dgm:prSet presAssocID="{794D3343-6EF9-4A9C-B10B-A347660D02BE}" presName="root" presStyleCnt="0">
        <dgm:presLayoutVars>
          <dgm:dir/>
          <dgm:resizeHandles val="exact"/>
        </dgm:presLayoutVars>
      </dgm:prSet>
      <dgm:spPr/>
    </dgm:pt>
    <dgm:pt modelId="{26D6BB42-6B5C-441F-94C1-ACA54E8F1369}" type="pres">
      <dgm:prSet presAssocID="{AD71522B-3F1C-4091-BAB0-2811FFED84A3}" presName="compNode" presStyleCnt="0"/>
      <dgm:spPr/>
    </dgm:pt>
    <dgm:pt modelId="{39BEF52D-FAC8-4132-9F6B-125AB2BE6730}" type="pres">
      <dgm:prSet presAssocID="{AD71522B-3F1C-4091-BAB0-2811FFED84A3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5DA77E52-33D7-4E01-84CF-2509B537A066}" type="pres">
      <dgm:prSet presAssocID="{AD71522B-3F1C-4091-BAB0-2811FFED84A3}" presName="spaceRect" presStyleCnt="0"/>
      <dgm:spPr/>
    </dgm:pt>
    <dgm:pt modelId="{A4A52E9B-6AC4-41C4-8976-88EDC93BE325}" type="pres">
      <dgm:prSet presAssocID="{AD71522B-3F1C-4091-BAB0-2811FFED84A3}" presName="textRect" presStyleLbl="revTx" presStyleIdx="0" presStyleCnt="5">
        <dgm:presLayoutVars>
          <dgm:chMax val="1"/>
          <dgm:chPref val="1"/>
        </dgm:presLayoutVars>
      </dgm:prSet>
      <dgm:spPr/>
    </dgm:pt>
    <dgm:pt modelId="{AA55C4DF-A181-4116-8113-48A12D4D3BDB}" type="pres">
      <dgm:prSet presAssocID="{E331CC35-2E39-4786-8FB2-5C5D3F48A9DC}" presName="sibTrans" presStyleCnt="0"/>
      <dgm:spPr/>
    </dgm:pt>
    <dgm:pt modelId="{8A673A0A-9F33-4E38-BE5C-279220C1D9F1}" type="pres">
      <dgm:prSet presAssocID="{6C20B6EC-B0D3-400C-8AD3-4441FC820157}" presName="compNode" presStyleCnt="0"/>
      <dgm:spPr/>
    </dgm:pt>
    <dgm:pt modelId="{5A68BBF1-8C0A-4C5E-8686-AB559E40408B}" type="pres">
      <dgm:prSet presAssocID="{6C20B6EC-B0D3-400C-8AD3-4441FC82015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Truck"/>
        </a:ext>
      </dgm:extLst>
    </dgm:pt>
    <dgm:pt modelId="{8AE54E8F-6D6F-471F-AD08-EE4FE22DC178}" type="pres">
      <dgm:prSet presAssocID="{6C20B6EC-B0D3-400C-8AD3-4441FC820157}" presName="spaceRect" presStyleCnt="0"/>
      <dgm:spPr/>
    </dgm:pt>
    <dgm:pt modelId="{2F68AD8C-2BE2-4710-BC8E-3F1FFC121C23}" type="pres">
      <dgm:prSet presAssocID="{6C20B6EC-B0D3-400C-8AD3-4441FC820157}" presName="textRect" presStyleLbl="revTx" presStyleIdx="1" presStyleCnt="5">
        <dgm:presLayoutVars>
          <dgm:chMax val="1"/>
          <dgm:chPref val="1"/>
        </dgm:presLayoutVars>
      </dgm:prSet>
      <dgm:spPr/>
    </dgm:pt>
    <dgm:pt modelId="{33B6EAF0-2198-46A8-9492-372A118EFD4C}" type="pres">
      <dgm:prSet presAssocID="{54596EE8-AFEE-4AEF-85E8-BC696D3B5628}" presName="sibTrans" presStyleCnt="0"/>
      <dgm:spPr/>
    </dgm:pt>
    <dgm:pt modelId="{8CC19B7E-8772-45A9-8DFD-E36C40A86250}" type="pres">
      <dgm:prSet presAssocID="{E075F446-7550-47FB-91F5-2D3791D6C9BC}" presName="compNode" presStyleCnt="0"/>
      <dgm:spPr/>
    </dgm:pt>
    <dgm:pt modelId="{52CBCD00-F665-4719-A78F-AEA3FD27443F}" type="pres">
      <dgm:prSet presAssocID="{E075F446-7550-47FB-91F5-2D3791D6C9BC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7339C4E2-F337-493B-B9DB-2886A651CF87}" type="pres">
      <dgm:prSet presAssocID="{E075F446-7550-47FB-91F5-2D3791D6C9BC}" presName="spaceRect" presStyleCnt="0"/>
      <dgm:spPr/>
    </dgm:pt>
    <dgm:pt modelId="{6C06BA38-1CF2-4FBC-A792-6441DE491288}" type="pres">
      <dgm:prSet presAssocID="{E075F446-7550-47FB-91F5-2D3791D6C9BC}" presName="textRect" presStyleLbl="revTx" presStyleIdx="2" presStyleCnt="5">
        <dgm:presLayoutVars>
          <dgm:chMax val="1"/>
          <dgm:chPref val="1"/>
        </dgm:presLayoutVars>
      </dgm:prSet>
      <dgm:spPr/>
    </dgm:pt>
    <dgm:pt modelId="{4280C798-8F2C-4ADA-9620-418866299805}" type="pres">
      <dgm:prSet presAssocID="{F6EAC96A-DC61-4A6F-9126-6738277B2E6E}" presName="sibTrans" presStyleCnt="0"/>
      <dgm:spPr/>
    </dgm:pt>
    <dgm:pt modelId="{85A89A8F-8071-446A-A678-712BF26C2569}" type="pres">
      <dgm:prSet presAssocID="{07CF00FD-4C91-4FCA-AA1F-A5A6C16EE4E6}" presName="compNode" presStyleCnt="0"/>
      <dgm:spPr/>
    </dgm:pt>
    <dgm:pt modelId="{65D1D700-5234-4F4D-8D2A-E27A42BBC269}" type="pres">
      <dgm:prSet presAssocID="{07CF00FD-4C91-4FCA-AA1F-A5A6C16EE4E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ospital"/>
        </a:ext>
      </dgm:extLst>
    </dgm:pt>
    <dgm:pt modelId="{67C5C99F-ED92-4302-89CE-D3FC5FC46AB1}" type="pres">
      <dgm:prSet presAssocID="{07CF00FD-4C91-4FCA-AA1F-A5A6C16EE4E6}" presName="spaceRect" presStyleCnt="0"/>
      <dgm:spPr/>
    </dgm:pt>
    <dgm:pt modelId="{F1030C58-31D7-4957-8467-4862C4B449BE}" type="pres">
      <dgm:prSet presAssocID="{07CF00FD-4C91-4FCA-AA1F-A5A6C16EE4E6}" presName="textRect" presStyleLbl="revTx" presStyleIdx="3" presStyleCnt="5">
        <dgm:presLayoutVars>
          <dgm:chMax val="1"/>
          <dgm:chPref val="1"/>
        </dgm:presLayoutVars>
      </dgm:prSet>
      <dgm:spPr/>
    </dgm:pt>
    <dgm:pt modelId="{EBA34849-0FF1-4874-8B97-503F69791681}" type="pres">
      <dgm:prSet presAssocID="{A95AC67E-18BA-46BC-8225-11396F5E2F3B}" presName="sibTrans" presStyleCnt="0"/>
      <dgm:spPr/>
    </dgm:pt>
    <dgm:pt modelId="{DB7B4CDF-5008-405A-A209-70171A27495A}" type="pres">
      <dgm:prSet presAssocID="{8E7F30D2-DA11-439C-877C-C58004EE0C02}" presName="compNode" presStyleCnt="0"/>
      <dgm:spPr/>
    </dgm:pt>
    <dgm:pt modelId="{4CC967F8-5E50-49CA-9948-6E3B434BC44F}" type="pres">
      <dgm:prSet presAssocID="{8E7F30D2-DA11-439C-877C-C58004EE0C02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Hierarchy"/>
        </a:ext>
      </dgm:extLst>
    </dgm:pt>
    <dgm:pt modelId="{7BE13382-DA3E-42C8-B2EA-960D95B36655}" type="pres">
      <dgm:prSet presAssocID="{8E7F30D2-DA11-439C-877C-C58004EE0C02}" presName="spaceRect" presStyleCnt="0"/>
      <dgm:spPr/>
    </dgm:pt>
    <dgm:pt modelId="{5728CA13-F94C-494D-ABA9-E450398458C7}" type="pres">
      <dgm:prSet presAssocID="{8E7F30D2-DA11-439C-877C-C58004EE0C02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A82B646-A829-4E27-9852-A9F128B32793}" srcId="{794D3343-6EF9-4A9C-B10B-A347660D02BE}" destId="{6C20B6EC-B0D3-400C-8AD3-4441FC820157}" srcOrd="1" destOrd="0" parTransId="{D622A94E-1489-4606-A801-C600434C1AF4}" sibTransId="{54596EE8-AFEE-4AEF-85E8-BC696D3B5628}"/>
    <dgm:cxn modelId="{4252CD6B-F305-4563-91CD-847C9BBB0639}" type="presOf" srcId="{794D3343-6EF9-4A9C-B10B-A347660D02BE}" destId="{33FD4139-1658-4270-AD3C-5C6801AAAA02}" srcOrd="0" destOrd="0" presId="urn:microsoft.com/office/officeart/2018/2/layout/IconLabelList"/>
    <dgm:cxn modelId="{DF9D7E4D-246F-4573-95CF-22F2F421AF2F}" srcId="{794D3343-6EF9-4A9C-B10B-A347660D02BE}" destId="{AD71522B-3F1C-4091-BAB0-2811FFED84A3}" srcOrd="0" destOrd="0" parTransId="{EFFE74C9-7DF3-4D88-BE34-2765D577F752}" sibTransId="{E331CC35-2E39-4786-8FB2-5C5D3F48A9DC}"/>
    <dgm:cxn modelId="{AA15FF4E-F9A2-4D53-94A4-422282AAD892}" type="presOf" srcId="{07CF00FD-4C91-4FCA-AA1F-A5A6C16EE4E6}" destId="{F1030C58-31D7-4957-8467-4862C4B449BE}" srcOrd="0" destOrd="0" presId="urn:microsoft.com/office/officeart/2018/2/layout/IconLabelList"/>
    <dgm:cxn modelId="{2502C96F-12CD-41C3-A41B-4DB284A91629}" type="presOf" srcId="{8E7F30D2-DA11-439C-877C-C58004EE0C02}" destId="{5728CA13-F94C-494D-ABA9-E450398458C7}" srcOrd="0" destOrd="0" presId="urn:microsoft.com/office/officeart/2018/2/layout/IconLabelList"/>
    <dgm:cxn modelId="{21660B7A-C78A-4232-895F-BF2DAF7F93D0}" srcId="{794D3343-6EF9-4A9C-B10B-A347660D02BE}" destId="{07CF00FD-4C91-4FCA-AA1F-A5A6C16EE4E6}" srcOrd="3" destOrd="0" parTransId="{5AEB2FF0-C84D-4608-B556-2050B86C4AD5}" sibTransId="{A95AC67E-18BA-46BC-8225-11396F5E2F3B}"/>
    <dgm:cxn modelId="{3A453A7B-C061-45C4-A199-2CAA44FEDCF3}" type="presOf" srcId="{E075F446-7550-47FB-91F5-2D3791D6C9BC}" destId="{6C06BA38-1CF2-4FBC-A792-6441DE491288}" srcOrd="0" destOrd="0" presId="urn:microsoft.com/office/officeart/2018/2/layout/IconLabelList"/>
    <dgm:cxn modelId="{13B3FC88-5BBE-4576-9A92-07B3627DB2BC}" type="presOf" srcId="{6C20B6EC-B0D3-400C-8AD3-4441FC820157}" destId="{2F68AD8C-2BE2-4710-BC8E-3F1FFC121C23}" srcOrd="0" destOrd="0" presId="urn:microsoft.com/office/officeart/2018/2/layout/IconLabelList"/>
    <dgm:cxn modelId="{D136A790-D77C-425F-8D1A-B52966BC51DE}" srcId="{794D3343-6EF9-4A9C-B10B-A347660D02BE}" destId="{8E7F30D2-DA11-439C-877C-C58004EE0C02}" srcOrd="4" destOrd="0" parTransId="{C5C12467-32CF-49FD-8350-21D7CA0077C4}" sibTransId="{8BF134EA-5246-4CBA-9736-2CFFA44DB7C7}"/>
    <dgm:cxn modelId="{98867FA0-6779-4B3A-8E30-D4AB278EF757}" srcId="{794D3343-6EF9-4A9C-B10B-A347660D02BE}" destId="{E075F446-7550-47FB-91F5-2D3791D6C9BC}" srcOrd="2" destOrd="0" parTransId="{4A8C3593-6622-40B5-A6FE-6BC44BA56140}" sibTransId="{F6EAC96A-DC61-4A6F-9126-6738277B2E6E}"/>
    <dgm:cxn modelId="{FEE5FCDF-4D2D-4491-99E5-1FF1C8C51283}" type="presOf" srcId="{AD71522B-3F1C-4091-BAB0-2811FFED84A3}" destId="{A4A52E9B-6AC4-41C4-8976-88EDC93BE325}" srcOrd="0" destOrd="0" presId="urn:microsoft.com/office/officeart/2018/2/layout/IconLabelList"/>
    <dgm:cxn modelId="{47D4FC82-6E63-4026-9B80-D2794C0DDA4B}" type="presParOf" srcId="{33FD4139-1658-4270-AD3C-5C6801AAAA02}" destId="{26D6BB42-6B5C-441F-94C1-ACA54E8F1369}" srcOrd="0" destOrd="0" presId="urn:microsoft.com/office/officeart/2018/2/layout/IconLabelList"/>
    <dgm:cxn modelId="{8B4106AF-32C9-4BA9-BD73-FBD81693A95B}" type="presParOf" srcId="{26D6BB42-6B5C-441F-94C1-ACA54E8F1369}" destId="{39BEF52D-FAC8-4132-9F6B-125AB2BE6730}" srcOrd="0" destOrd="0" presId="urn:microsoft.com/office/officeart/2018/2/layout/IconLabelList"/>
    <dgm:cxn modelId="{E42A1E17-7B86-4D4E-8CE2-D531BDDCA881}" type="presParOf" srcId="{26D6BB42-6B5C-441F-94C1-ACA54E8F1369}" destId="{5DA77E52-33D7-4E01-84CF-2509B537A066}" srcOrd="1" destOrd="0" presId="urn:microsoft.com/office/officeart/2018/2/layout/IconLabelList"/>
    <dgm:cxn modelId="{0A69ECAA-8966-41B1-A1D1-B2B93BF49B26}" type="presParOf" srcId="{26D6BB42-6B5C-441F-94C1-ACA54E8F1369}" destId="{A4A52E9B-6AC4-41C4-8976-88EDC93BE325}" srcOrd="2" destOrd="0" presId="urn:microsoft.com/office/officeart/2018/2/layout/IconLabelList"/>
    <dgm:cxn modelId="{A906B1DA-BF51-4C4F-9B6B-CA9EED4C27E0}" type="presParOf" srcId="{33FD4139-1658-4270-AD3C-5C6801AAAA02}" destId="{AA55C4DF-A181-4116-8113-48A12D4D3BDB}" srcOrd="1" destOrd="0" presId="urn:microsoft.com/office/officeart/2018/2/layout/IconLabelList"/>
    <dgm:cxn modelId="{E8CDC2C0-EA89-40FD-9D2D-626613D78008}" type="presParOf" srcId="{33FD4139-1658-4270-AD3C-5C6801AAAA02}" destId="{8A673A0A-9F33-4E38-BE5C-279220C1D9F1}" srcOrd="2" destOrd="0" presId="urn:microsoft.com/office/officeart/2018/2/layout/IconLabelList"/>
    <dgm:cxn modelId="{D31A1FD7-B172-4335-8830-98A0E5DD4070}" type="presParOf" srcId="{8A673A0A-9F33-4E38-BE5C-279220C1D9F1}" destId="{5A68BBF1-8C0A-4C5E-8686-AB559E40408B}" srcOrd="0" destOrd="0" presId="urn:microsoft.com/office/officeart/2018/2/layout/IconLabelList"/>
    <dgm:cxn modelId="{441E5863-B011-4DC7-BD5C-67DAB80E9792}" type="presParOf" srcId="{8A673A0A-9F33-4E38-BE5C-279220C1D9F1}" destId="{8AE54E8F-6D6F-471F-AD08-EE4FE22DC178}" srcOrd="1" destOrd="0" presId="urn:microsoft.com/office/officeart/2018/2/layout/IconLabelList"/>
    <dgm:cxn modelId="{93D1CE7A-066B-446D-891A-FA7A2F8A7FCE}" type="presParOf" srcId="{8A673A0A-9F33-4E38-BE5C-279220C1D9F1}" destId="{2F68AD8C-2BE2-4710-BC8E-3F1FFC121C23}" srcOrd="2" destOrd="0" presId="urn:microsoft.com/office/officeart/2018/2/layout/IconLabelList"/>
    <dgm:cxn modelId="{1F77FD36-D30F-4021-9A73-E1A4741F5AB8}" type="presParOf" srcId="{33FD4139-1658-4270-AD3C-5C6801AAAA02}" destId="{33B6EAF0-2198-46A8-9492-372A118EFD4C}" srcOrd="3" destOrd="0" presId="urn:microsoft.com/office/officeart/2018/2/layout/IconLabelList"/>
    <dgm:cxn modelId="{7E234533-022B-4852-8F29-0D61E3710E69}" type="presParOf" srcId="{33FD4139-1658-4270-AD3C-5C6801AAAA02}" destId="{8CC19B7E-8772-45A9-8DFD-E36C40A86250}" srcOrd="4" destOrd="0" presId="urn:microsoft.com/office/officeart/2018/2/layout/IconLabelList"/>
    <dgm:cxn modelId="{F3A1D14F-10C6-4362-B56B-D1C4ED101900}" type="presParOf" srcId="{8CC19B7E-8772-45A9-8DFD-E36C40A86250}" destId="{52CBCD00-F665-4719-A78F-AEA3FD27443F}" srcOrd="0" destOrd="0" presId="urn:microsoft.com/office/officeart/2018/2/layout/IconLabelList"/>
    <dgm:cxn modelId="{60DE9150-CEC1-4072-BD78-35A6984111BA}" type="presParOf" srcId="{8CC19B7E-8772-45A9-8DFD-E36C40A86250}" destId="{7339C4E2-F337-493B-B9DB-2886A651CF87}" srcOrd="1" destOrd="0" presId="urn:microsoft.com/office/officeart/2018/2/layout/IconLabelList"/>
    <dgm:cxn modelId="{DCC62552-D251-4149-9720-E8F8298AD144}" type="presParOf" srcId="{8CC19B7E-8772-45A9-8DFD-E36C40A86250}" destId="{6C06BA38-1CF2-4FBC-A792-6441DE491288}" srcOrd="2" destOrd="0" presId="urn:microsoft.com/office/officeart/2018/2/layout/IconLabelList"/>
    <dgm:cxn modelId="{261684CF-4FFE-4A79-9B85-AD6F2F922637}" type="presParOf" srcId="{33FD4139-1658-4270-AD3C-5C6801AAAA02}" destId="{4280C798-8F2C-4ADA-9620-418866299805}" srcOrd="5" destOrd="0" presId="urn:microsoft.com/office/officeart/2018/2/layout/IconLabelList"/>
    <dgm:cxn modelId="{9FB54362-F805-4175-BA45-E01FE02C7008}" type="presParOf" srcId="{33FD4139-1658-4270-AD3C-5C6801AAAA02}" destId="{85A89A8F-8071-446A-A678-712BF26C2569}" srcOrd="6" destOrd="0" presId="urn:microsoft.com/office/officeart/2018/2/layout/IconLabelList"/>
    <dgm:cxn modelId="{907D2D20-3901-4B55-B260-43E5A0B66D05}" type="presParOf" srcId="{85A89A8F-8071-446A-A678-712BF26C2569}" destId="{65D1D700-5234-4F4D-8D2A-E27A42BBC269}" srcOrd="0" destOrd="0" presId="urn:microsoft.com/office/officeart/2018/2/layout/IconLabelList"/>
    <dgm:cxn modelId="{9FBEEB9B-210B-4E84-8C94-06EE7B273132}" type="presParOf" srcId="{85A89A8F-8071-446A-A678-712BF26C2569}" destId="{67C5C99F-ED92-4302-89CE-D3FC5FC46AB1}" srcOrd="1" destOrd="0" presId="urn:microsoft.com/office/officeart/2018/2/layout/IconLabelList"/>
    <dgm:cxn modelId="{E21E2759-D628-44A0-8E3C-5B8C05B21353}" type="presParOf" srcId="{85A89A8F-8071-446A-A678-712BF26C2569}" destId="{F1030C58-31D7-4957-8467-4862C4B449BE}" srcOrd="2" destOrd="0" presId="urn:microsoft.com/office/officeart/2018/2/layout/IconLabelList"/>
    <dgm:cxn modelId="{31779793-C60F-4E5F-BA35-749D32AEC502}" type="presParOf" srcId="{33FD4139-1658-4270-AD3C-5C6801AAAA02}" destId="{EBA34849-0FF1-4874-8B97-503F69791681}" srcOrd="7" destOrd="0" presId="urn:microsoft.com/office/officeart/2018/2/layout/IconLabelList"/>
    <dgm:cxn modelId="{7DA4C763-70B0-416C-BC42-FF7A25353DB6}" type="presParOf" srcId="{33FD4139-1658-4270-AD3C-5C6801AAAA02}" destId="{DB7B4CDF-5008-405A-A209-70171A27495A}" srcOrd="8" destOrd="0" presId="urn:microsoft.com/office/officeart/2018/2/layout/IconLabelList"/>
    <dgm:cxn modelId="{B3E0552D-61D7-404F-BEDB-296EEF8667B7}" type="presParOf" srcId="{DB7B4CDF-5008-405A-A209-70171A27495A}" destId="{4CC967F8-5E50-49CA-9948-6E3B434BC44F}" srcOrd="0" destOrd="0" presId="urn:microsoft.com/office/officeart/2018/2/layout/IconLabelList"/>
    <dgm:cxn modelId="{DC7FC95C-5B38-4E77-8922-977023ABEC7E}" type="presParOf" srcId="{DB7B4CDF-5008-405A-A209-70171A27495A}" destId="{7BE13382-DA3E-42C8-B2EA-960D95B36655}" srcOrd="1" destOrd="0" presId="urn:microsoft.com/office/officeart/2018/2/layout/IconLabelList"/>
    <dgm:cxn modelId="{936F98A7-0B9D-461B-979B-84E4267BE014}" type="presParOf" srcId="{DB7B4CDF-5008-405A-A209-70171A27495A}" destId="{5728CA13-F94C-494D-ABA9-E450398458C7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B2316278-C879-48D2-8D74-F676E0C5E8F3}" type="doc">
      <dgm:prSet loTypeId="urn:microsoft.com/office/officeart/2016/7/layout/RepeatingBendingProcessNew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955F0713-B54A-4834-B004-59BBA97E04E4}">
      <dgm:prSet/>
      <dgm:spPr/>
      <dgm:t>
        <a:bodyPr/>
        <a:lstStyle/>
        <a:p>
          <a:r>
            <a:rPr lang="en-US" dirty="0"/>
            <a:t>No. of ICU beds in India : 85000</a:t>
          </a:r>
          <a:r>
            <a:rPr lang="en-US" b="1" baseline="30000" dirty="0">
              <a:solidFill>
                <a:srgbClr val="FF0000"/>
              </a:solidFill>
            </a:rPr>
            <a:t>1</a:t>
          </a:r>
          <a:endParaRPr lang="en-US" b="1" dirty="0"/>
        </a:p>
      </dgm:t>
    </dgm:pt>
    <dgm:pt modelId="{8C7E1FC7-0E96-471C-8B3B-D8EF6F2FBF1C}" type="parTrans" cxnId="{C0453D30-9E34-4B9A-804C-2CEC31B4ADAE}">
      <dgm:prSet/>
      <dgm:spPr/>
      <dgm:t>
        <a:bodyPr/>
        <a:lstStyle/>
        <a:p>
          <a:endParaRPr lang="en-US"/>
        </a:p>
      </dgm:t>
    </dgm:pt>
    <dgm:pt modelId="{2CBED66E-C007-4E3A-B6C4-DD3C7EEF3F3F}" type="sibTrans" cxnId="{C0453D30-9E34-4B9A-804C-2CEC31B4ADAE}">
      <dgm:prSet/>
      <dgm:spPr/>
      <dgm:t>
        <a:bodyPr/>
        <a:lstStyle/>
        <a:p>
          <a:endParaRPr lang="en-US"/>
        </a:p>
      </dgm:t>
    </dgm:pt>
    <dgm:pt modelId="{08AD98D5-BE43-4124-A90C-1187C3908779}">
      <dgm:prSet/>
      <dgm:spPr/>
      <dgm:t>
        <a:bodyPr/>
        <a:lstStyle/>
        <a:p>
          <a:r>
            <a:rPr lang="en-US"/>
            <a:t>No. of CCU beds (20%): 17000</a:t>
          </a:r>
        </a:p>
      </dgm:t>
    </dgm:pt>
    <dgm:pt modelId="{EE2F306F-43D6-4A9F-993B-E99932C3283D}" type="parTrans" cxnId="{17B4E4ED-2A74-4DD9-B62E-C02B0C3B146A}">
      <dgm:prSet/>
      <dgm:spPr/>
      <dgm:t>
        <a:bodyPr/>
        <a:lstStyle/>
        <a:p>
          <a:endParaRPr lang="en-US"/>
        </a:p>
      </dgm:t>
    </dgm:pt>
    <dgm:pt modelId="{5CF60F35-CC1D-4152-95E5-81EF8E58D304}" type="sibTrans" cxnId="{17B4E4ED-2A74-4DD9-B62E-C02B0C3B146A}">
      <dgm:prSet/>
      <dgm:spPr/>
      <dgm:t>
        <a:bodyPr/>
        <a:lstStyle/>
        <a:p>
          <a:endParaRPr lang="en-US"/>
        </a:p>
      </dgm:t>
    </dgm:pt>
    <dgm:pt modelId="{F2C4230C-C9D5-4E9A-944A-0AB0333DBC63}">
      <dgm:prSet/>
      <dgm:spPr/>
      <dgm:t>
        <a:bodyPr/>
        <a:lstStyle/>
        <a:p>
          <a:r>
            <a:rPr lang="en-US" dirty="0"/>
            <a:t>TAM for </a:t>
          </a:r>
          <a:r>
            <a:rPr lang="en-US" b="1" dirty="0"/>
            <a:t>all</a:t>
          </a:r>
          <a:r>
            <a:rPr lang="en-US" dirty="0"/>
            <a:t> CCU beds @ Rs. 75k: </a:t>
          </a:r>
          <a:r>
            <a:rPr lang="en-US" b="1" dirty="0"/>
            <a:t>$14.6 Mn</a:t>
          </a:r>
          <a:endParaRPr lang="en-US" dirty="0"/>
        </a:p>
      </dgm:t>
    </dgm:pt>
    <dgm:pt modelId="{F75D2969-E5C0-41DB-86AC-8E91B851ABA3}" type="parTrans" cxnId="{4DB521BF-C223-4FF0-9C9D-3ABDCB71AAB3}">
      <dgm:prSet/>
      <dgm:spPr/>
      <dgm:t>
        <a:bodyPr/>
        <a:lstStyle/>
        <a:p>
          <a:endParaRPr lang="en-US"/>
        </a:p>
      </dgm:t>
    </dgm:pt>
    <dgm:pt modelId="{EBD07998-C175-4631-A51D-84479BFF099B}" type="sibTrans" cxnId="{4DB521BF-C223-4FF0-9C9D-3ABDCB71AAB3}">
      <dgm:prSet/>
      <dgm:spPr/>
      <dgm:t>
        <a:bodyPr/>
        <a:lstStyle/>
        <a:p>
          <a:endParaRPr lang="en-US"/>
        </a:p>
      </dgm:t>
    </dgm:pt>
    <dgm:pt modelId="{3E20AF5E-9725-4AC4-8EF1-6FFEA5454A6E}">
      <dgm:prSet/>
      <dgm:spPr/>
      <dgm:t>
        <a:bodyPr/>
        <a:lstStyle/>
        <a:p>
          <a:r>
            <a:rPr lang="en-US"/>
            <a:t>HW market share @ 20%: 3400 beds</a:t>
          </a:r>
        </a:p>
      </dgm:t>
    </dgm:pt>
    <dgm:pt modelId="{F2C6D4C0-4D1F-4662-98BD-B9D1A284E4C2}" type="parTrans" cxnId="{ADD5B5D5-E941-4C1A-A6DB-123A6EF56D39}">
      <dgm:prSet/>
      <dgm:spPr/>
      <dgm:t>
        <a:bodyPr/>
        <a:lstStyle/>
        <a:p>
          <a:endParaRPr lang="en-US"/>
        </a:p>
      </dgm:t>
    </dgm:pt>
    <dgm:pt modelId="{99C552A0-E9C3-427F-9049-C135A65C7C84}" type="sibTrans" cxnId="{ADD5B5D5-E941-4C1A-A6DB-123A6EF56D39}">
      <dgm:prSet/>
      <dgm:spPr/>
      <dgm:t>
        <a:bodyPr/>
        <a:lstStyle/>
        <a:p>
          <a:endParaRPr lang="en-US"/>
        </a:p>
      </dgm:t>
    </dgm:pt>
    <dgm:pt modelId="{87A2C541-62BD-4285-B255-D9EEDA03FC38}">
      <dgm:prSet/>
      <dgm:spPr/>
      <dgm:t>
        <a:bodyPr/>
        <a:lstStyle/>
        <a:p>
          <a:r>
            <a:rPr lang="en-US"/>
            <a:t>SAM @ Rs. 75000 - $2.9M </a:t>
          </a:r>
        </a:p>
      </dgm:t>
    </dgm:pt>
    <dgm:pt modelId="{4579337B-6524-41ED-8BAD-66665C139197}" type="parTrans" cxnId="{D2BB7402-563B-484B-82A9-94018F82CAD4}">
      <dgm:prSet/>
      <dgm:spPr/>
      <dgm:t>
        <a:bodyPr/>
        <a:lstStyle/>
        <a:p>
          <a:endParaRPr lang="en-US"/>
        </a:p>
      </dgm:t>
    </dgm:pt>
    <dgm:pt modelId="{763525A4-1F20-4A68-90BC-4106FD0DB6B2}" type="sibTrans" cxnId="{D2BB7402-563B-484B-82A9-94018F82CAD4}">
      <dgm:prSet/>
      <dgm:spPr/>
      <dgm:t>
        <a:bodyPr/>
        <a:lstStyle/>
        <a:p>
          <a:endParaRPr lang="en-US"/>
        </a:p>
      </dgm:t>
    </dgm:pt>
    <dgm:pt modelId="{CC3FE5F9-A135-4F5B-A5F2-5A97ED54951A}">
      <dgm:prSet/>
      <dgm:spPr/>
      <dgm:t>
        <a:bodyPr/>
        <a:lstStyle/>
        <a:p>
          <a:r>
            <a:rPr lang="en-US"/>
            <a:t>Y1 SOM @ 700 devices/ ~25 hospitals: $670k</a:t>
          </a:r>
        </a:p>
      </dgm:t>
    </dgm:pt>
    <dgm:pt modelId="{E79C5274-733A-4F72-9128-6365AF18B6EF}" type="parTrans" cxnId="{116607D8-3814-4D3E-B9FE-FC31E1DC2658}">
      <dgm:prSet/>
      <dgm:spPr/>
      <dgm:t>
        <a:bodyPr/>
        <a:lstStyle/>
        <a:p>
          <a:endParaRPr lang="en-US"/>
        </a:p>
      </dgm:t>
    </dgm:pt>
    <dgm:pt modelId="{5E861803-A3BD-4F61-A275-33CE698ADB81}" type="sibTrans" cxnId="{116607D8-3814-4D3E-B9FE-FC31E1DC2658}">
      <dgm:prSet/>
      <dgm:spPr/>
      <dgm:t>
        <a:bodyPr/>
        <a:lstStyle/>
        <a:p>
          <a:endParaRPr lang="en-US"/>
        </a:p>
      </dgm:t>
    </dgm:pt>
    <dgm:pt modelId="{91C8E84A-972E-4268-A1EB-F7772945BF15}">
      <dgm:prSet/>
      <dgm:spPr/>
      <dgm:t>
        <a:bodyPr/>
        <a:lstStyle/>
        <a:p>
          <a:r>
            <a:rPr lang="en-US"/>
            <a:t>3Y STRAP revenue @ 30% growth: $2.4Mn</a:t>
          </a:r>
        </a:p>
      </dgm:t>
    </dgm:pt>
    <dgm:pt modelId="{FB2B2C82-AFA8-4807-85BD-4A9976047065}" type="parTrans" cxnId="{4C8EB64F-63BD-4D52-9B53-4AD5685722F2}">
      <dgm:prSet/>
      <dgm:spPr/>
      <dgm:t>
        <a:bodyPr/>
        <a:lstStyle/>
        <a:p>
          <a:endParaRPr lang="en-US"/>
        </a:p>
      </dgm:t>
    </dgm:pt>
    <dgm:pt modelId="{523F95DF-455D-4F7D-A99C-E4AED32D8F85}" type="sibTrans" cxnId="{4C8EB64F-63BD-4D52-9B53-4AD5685722F2}">
      <dgm:prSet/>
      <dgm:spPr/>
      <dgm:t>
        <a:bodyPr/>
        <a:lstStyle/>
        <a:p>
          <a:endParaRPr lang="en-US"/>
        </a:p>
      </dgm:t>
    </dgm:pt>
    <dgm:pt modelId="{98B652DF-F44C-4DEC-8053-B87606D11F4F}">
      <dgm:prSet/>
      <dgm:spPr/>
      <dgm:t>
        <a:bodyPr/>
        <a:lstStyle/>
        <a:p>
          <a:r>
            <a:rPr lang="en-US"/>
            <a:t>[~2800 devices, ~95 hospitals]</a:t>
          </a:r>
        </a:p>
      </dgm:t>
    </dgm:pt>
    <dgm:pt modelId="{70944E5E-D9FC-4EF5-818C-AC093FB9DC1F}" type="parTrans" cxnId="{CAA83858-491F-4CB7-87F9-1F48365CABA9}">
      <dgm:prSet/>
      <dgm:spPr/>
      <dgm:t>
        <a:bodyPr/>
        <a:lstStyle/>
        <a:p>
          <a:endParaRPr lang="en-US"/>
        </a:p>
      </dgm:t>
    </dgm:pt>
    <dgm:pt modelId="{B2EE3139-D9F2-4019-B379-0E89EF040298}" type="sibTrans" cxnId="{CAA83858-491F-4CB7-87F9-1F48365CABA9}">
      <dgm:prSet/>
      <dgm:spPr/>
      <dgm:t>
        <a:bodyPr/>
        <a:lstStyle/>
        <a:p>
          <a:endParaRPr lang="en-US"/>
        </a:p>
      </dgm:t>
    </dgm:pt>
    <dgm:pt modelId="{58E6D449-149A-4A9A-A141-E97C395E4CEE}">
      <dgm:prSet/>
      <dgm:spPr/>
      <dgm:t>
        <a:bodyPr/>
        <a:lstStyle/>
        <a:p>
          <a:r>
            <a:rPr lang="en-US"/>
            <a:t>If 2-year cloud costs included @Rs. 100k: $3.2 Mn </a:t>
          </a:r>
        </a:p>
      </dgm:t>
    </dgm:pt>
    <dgm:pt modelId="{C41AFE37-DA90-4185-91C6-536032A81E7D}" type="parTrans" cxnId="{B2ECB1C1-B0DE-4FD9-9E09-60FBC962C3F7}">
      <dgm:prSet/>
      <dgm:spPr/>
      <dgm:t>
        <a:bodyPr/>
        <a:lstStyle/>
        <a:p>
          <a:endParaRPr lang="en-US"/>
        </a:p>
      </dgm:t>
    </dgm:pt>
    <dgm:pt modelId="{4BE6DDFE-6885-4DC0-9477-4A9C43843912}" type="sibTrans" cxnId="{B2ECB1C1-B0DE-4FD9-9E09-60FBC962C3F7}">
      <dgm:prSet/>
      <dgm:spPr/>
      <dgm:t>
        <a:bodyPr/>
        <a:lstStyle/>
        <a:p>
          <a:endParaRPr lang="en-US"/>
        </a:p>
      </dgm:t>
    </dgm:pt>
    <dgm:pt modelId="{C5A5B49C-D545-4B57-A100-D830D81C5E26}" type="pres">
      <dgm:prSet presAssocID="{B2316278-C879-48D2-8D74-F676E0C5E8F3}" presName="Name0" presStyleCnt="0">
        <dgm:presLayoutVars>
          <dgm:dir/>
          <dgm:resizeHandles val="exact"/>
        </dgm:presLayoutVars>
      </dgm:prSet>
      <dgm:spPr/>
    </dgm:pt>
    <dgm:pt modelId="{42462E58-98A2-467E-A93D-1682BE5C86A8}" type="pres">
      <dgm:prSet presAssocID="{955F0713-B54A-4834-B004-59BBA97E04E4}" presName="node" presStyleLbl="node1" presStyleIdx="0" presStyleCnt="8">
        <dgm:presLayoutVars>
          <dgm:bulletEnabled val="1"/>
        </dgm:presLayoutVars>
      </dgm:prSet>
      <dgm:spPr/>
    </dgm:pt>
    <dgm:pt modelId="{7B5513B0-18A8-4C0F-874A-4AEC97A19A24}" type="pres">
      <dgm:prSet presAssocID="{2CBED66E-C007-4E3A-B6C4-DD3C7EEF3F3F}" presName="sibTrans" presStyleLbl="sibTrans1D1" presStyleIdx="0" presStyleCnt="7"/>
      <dgm:spPr/>
    </dgm:pt>
    <dgm:pt modelId="{F0934760-0F69-4EEA-8532-004443A7AFB1}" type="pres">
      <dgm:prSet presAssocID="{2CBED66E-C007-4E3A-B6C4-DD3C7EEF3F3F}" presName="connectorText" presStyleLbl="sibTrans1D1" presStyleIdx="0" presStyleCnt="7"/>
      <dgm:spPr/>
    </dgm:pt>
    <dgm:pt modelId="{1A1AC287-3853-442D-91C6-E365491D05A3}" type="pres">
      <dgm:prSet presAssocID="{08AD98D5-BE43-4124-A90C-1187C3908779}" presName="node" presStyleLbl="node1" presStyleIdx="1" presStyleCnt="8">
        <dgm:presLayoutVars>
          <dgm:bulletEnabled val="1"/>
        </dgm:presLayoutVars>
      </dgm:prSet>
      <dgm:spPr/>
    </dgm:pt>
    <dgm:pt modelId="{8D671F84-E415-4F6B-BD1E-2839ED54F2C4}" type="pres">
      <dgm:prSet presAssocID="{5CF60F35-CC1D-4152-95E5-81EF8E58D304}" presName="sibTrans" presStyleLbl="sibTrans1D1" presStyleIdx="1" presStyleCnt="7"/>
      <dgm:spPr/>
    </dgm:pt>
    <dgm:pt modelId="{0CC66794-46E6-472D-9FEA-3E806E578C1E}" type="pres">
      <dgm:prSet presAssocID="{5CF60F35-CC1D-4152-95E5-81EF8E58D304}" presName="connectorText" presStyleLbl="sibTrans1D1" presStyleIdx="1" presStyleCnt="7"/>
      <dgm:spPr/>
    </dgm:pt>
    <dgm:pt modelId="{3CEFDA13-0C28-4C72-85FA-83BF22572380}" type="pres">
      <dgm:prSet presAssocID="{F2C4230C-C9D5-4E9A-944A-0AB0333DBC63}" presName="node" presStyleLbl="node1" presStyleIdx="2" presStyleCnt="8">
        <dgm:presLayoutVars>
          <dgm:bulletEnabled val="1"/>
        </dgm:presLayoutVars>
      </dgm:prSet>
      <dgm:spPr/>
    </dgm:pt>
    <dgm:pt modelId="{9810199A-A16C-4142-94B0-0878C6184CB2}" type="pres">
      <dgm:prSet presAssocID="{EBD07998-C175-4631-A51D-84479BFF099B}" presName="sibTrans" presStyleLbl="sibTrans1D1" presStyleIdx="2" presStyleCnt="7"/>
      <dgm:spPr/>
    </dgm:pt>
    <dgm:pt modelId="{34F2DC3F-BAA5-42B1-9260-70F825B28159}" type="pres">
      <dgm:prSet presAssocID="{EBD07998-C175-4631-A51D-84479BFF099B}" presName="connectorText" presStyleLbl="sibTrans1D1" presStyleIdx="2" presStyleCnt="7"/>
      <dgm:spPr/>
    </dgm:pt>
    <dgm:pt modelId="{8F04B7E1-6E41-4AA2-A4B9-E712C1887038}" type="pres">
      <dgm:prSet presAssocID="{3E20AF5E-9725-4AC4-8EF1-6FFEA5454A6E}" presName="node" presStyleLbl="node1" presStyleIdx="3" presStyleCnt="8">
        <dgm:presLayoutVars>
          <dgm:bulletEnabled val="1"/>
        </dgm:presLayoutVars>
      </dgm:prSet>
      <dgm:spPr/>
    </dgm:pt>
    <dgm:pt modelId="{B2A26448-1C00-48E3-B3BD-CCC1E473CE35}" type="pres">
      <dgm:prSet presAssocID="{99C552A0-E9C3-427F-9049-C135A65C7C84}" presName="sibTrans" presStyleLbl="sibTrans1D1" presStyleIdx="3" presStyleCnt="7"/>
      <dgm:spPr/>
    </dgm:pt>
    <dgm:pt modelId="{88298A49-D09E-4701-B01C-F89416141846}" type="pres">
      <dgm:prSet presAssocID="{99C552A0-E9C3-427F-9049-C135A65C7C84}" presName="connectorText" presStyleLbl="sibTrans1D1" presStyleIdx="3" presStyleCnt="7"/>
      <dgm:spPr/>
    </dgm:pt>
    <dgm:pt modelId="{13723B4F-55D6-4796-9675-28581A1D6594}" type="pres">
      <dgm:prSet presAssocID="{87A2C541-62BD-4285-B255-D9EEDA03FC38}" presName="node" presStyleLbl="node1" presStyleIdx="4" presStyleCnt="8">
        <dgm:presLayoutVars>
          <dgm:bulletEnabled val="1"/>
        </dgm:presLayoutVars>
      </dgm:prSet>
      <dgm:spPr/>
    </dgm:pt>
    <dgm:pt modelId="{DE50495F-1A21-4336-BD4A-F12017688CBE}" type="pres">
      <dgm:prSet presAssocID="{763525A4-1F20-4A68-90BC-4106FD0DB6B2}" presName="sibTrans" presStyleLbl="sibTrans1D1" presStyleIdx="4" presStyleCnt="7"/>
      <dgm:spPr/>
    </dgm:pt>
    <dgm:pt modelId="{639B0998-FDA9-4E1C-9F70-34C126F9D632}" type="pres">
      <dgm:prSet presAssocID="{763525A4-1F20-4A68-90BC-4106FD0DB6B2}" presName="connectorText" presStyleLbl="sibTrans1D1" presStyleIdx="4" presStyleCnt="7"/>
      <dgm:spPr/>
    </dgm:pt>
    <dgm:pt modelId="{6426E6A1-3DB8-4F6F-BFEE-AA86E8D1863A}" type="pres">
      <dgm:prSet presAssocID="{CC3FE5F9-A135-4F5B-A5F2-5A97ED54951A}" presName="node" presStyleLbl="node1" presStyleIdx="5" presStyleCnt="8">
        <dgm:presLayoutVars>
          <dgm:bulletEnabled val="1"/>
        </dgm:presLayoutVars>
      </dgm:prSet>
      <dgm:spPr/>
    </dgm:pt>
    <dgm:pt modelId="{49593825-C723-4642-9C76-558E9D4F79EE}" type="pres">
      <dgm:prSet presAssocID="{5E861803-A3BD-4F61-A275-33CE698ADB81}" presName="sibTrans" presStyleLbl="sibTrans1D1" presStyleIdx="5" presStyleCnt="7"/>
      <dgm:spPr/>
    </dgm:pt>
    <dgm:pt modelId="{2D2E1E8B-EADA-4DBF-A25C-2009444B4E9D}" type="pres">
      <dgm:prSet presAssocID="{5E861803-A3BD-4F61-A275-33CE698ADB81}" presName="connectorText" presStyleLbl="sibTrans1D1" presStyleIdx="5" presStyleCnt="7"/>
      <dgm:spPr/>
    </dgm:pt>
    <dgm:pt modelId="{ADE30304-FE3B-436C-B2AE-7B2725F8FC5A}" type="pres">
      <dgm:prSet presAssocID="{91C8E84A-972E-4268-A1EB-F7772945BF15}" presName="node" presStyleLbl="node1" presStyleIdx="6" presStyleCnt="8">
        <dgm:presLayoutVars>
          <dgm:bulletEnabled val="1"/>
        </dgm:presLayoutVars>
      </dgm:prSet>
      <dgm:spPr/>
    </dgm:pt>
    <dgm:pt modelId="{612BD11C-445F-4B7B-A092-198CDCDE471F}" type="pres">
      <dgm:prSet presAssocID="{523F95DF-455D-4F7D-A99C-E4AED32D8F85}" presName="sibTrans" presStyleLbl="sibTrans1D1" presStyleIdx="6" presStyleCnt="7"/>
      <dgm:spPr/>
    </dgm:pt>
    <dgm:pt modelId="{D2FCF502-4D4D-4453-9043-983B2B62A58E}" type="pres">
      <dgm:prSet presAssocID="{523F95DF-455D-4F7D-A99C-E4AED32D8F85}" presName="connectorText" presStyleLbl="sibTrans1D1" presStyleIdx="6" presStyleCnt="7"/>
      <dgm:spPr/>
    </dgm:pt>
    <dgm:pt modelId="{BEAF5384-0750-4EDE-AB02-ED1A2BAC4623}" type="pres">
      <dgm:prSet presAssocID="{58E6D449-149A-4A9A-A141-E97C395E4CEE}" presName="node" presStyleLbl="node1" presStyleIdx="7" presStyleCnt="8">
        <dgm:presLayoutVars>
          <dgm:bulletEnabled val="1"/>
        </dgm:presLayoutVars>
      </dgm:prSet>
      <dgm:spPr/>
    </dgm:pt>
  </dgm:ptLst>
  <dgm:cxnLst>
    <dgm:cxn modelId="{416D4001-1F47-4DBA-8C16-4EED893A9D80}" type="presOf" srcId="{5CF60F35-CC1D-4152-95E5-81EF8E58D304}" destId="{0CC66794-46E6-472D-9FEA-3E806E578C1E}" srcOrd="1" destOrd="0" presId="urn:microsoft.com/office/officeart/2016/7/layout/RepeatingBendingProcessNew"/>
    <dgm:cxn modelId="{D2BB7402-563B-484B-82A9-94018F82CAD4}" srcId="{B2316278-C879-48D2-8D74-F676E0C5E8F3}" destId="{87A2C541-62BD-4285-B255-D9EEDA03FC38}" srcOrd="4" destOrd="0" parTransId="{4579337B-6524-41ED-8BAD-66665C139197}" sibTransId="{763525A4-1F20-4A68-90BC-4106FD0DB6B2}"/>
    <dgm:cxn modelId="{9CD13B14-8FA6-4D9B-BA05-3DC5ED734E8E}" type="presOf" srcId="{F2C4230C-C9D5-4E9A-944A-0AB0333DBC63}" destId="{3CEFDA13-0C28-4C72-85FA-83BF22572380}" srcOrd="0" destOrd="0" presId="urn:microsoft.com/office/officeart/2016/7/layout/RepeatingBendingProcessNew"/>
    <dgm:cxn modelId="{F1B0F916-FB7B-467A-AF96-0271418C1067}" type="presOf" srcId="{523F95DF-455D-4F7D-A99C-E4AED32D8F85}" destId="{D2FCF502-4D4D-4453-9043-983B2B62A58E}" srcOrd="1" destOrd="0" presId="urn:microsoft.com/office/officeart/2016/7/layout/RepeatingBendingProcessNew"/>
    <dgm:cxn modelId="{74310D1C-F092-44AD-8BFE-FD9D9C200FEA}" type="presOf" srcId="{3E20AF5E-9725-4AC4-8EF1-6FFEA5454A6E}" destId="{8F04B7E1-6E41-4AA2-A4B9-E712C1887038}" srcOrd="0" destOrd="0" presId="urn:microsoft.com/office/officeart/2016/7/layout/RepeatingBendingProcessNew"/>
    <dgm:cxn modelId="{AD13C924-C669-411A-8665-0566E2B4DEE8}" type="presOf" srcId="{2CBED66E-C007-4E3A-B6C4-DD3C7EEF3F3F}" destId="{7B5513B0-18A8-4C0F-874A-4AEC97A19A24}" srcOrd="0" destOrd="0" presId="urn:microsoft.com/office/officeart/2016/7/layout/RepeatingBendingProcessNew"/>
    <dgm:cxn modelId="{EB98D32B-6408-4E01-ADDC-9C710846C5F7}" type="presOf" srcId="{523F95DF-455D-4F7D-A99C-E4AED32D8F85}" destId="{612BD11C-445F-4B7B-A092-198CDCDE471F}" srcOrd="0" destOrd="0" presId="urn:microsoft.com/office/officeart/2016/7/layout/RepeatingBendingProcessNew"/>
    <dgm:cxn modelId="{072EE12D-D8C5-45B7-BFBB-FDB30F4874A9}" type="presOf" srcId="{87A2C541-62BD-4285-B255-D9EEDA03FC38}" destId="{13723B4F-55D6-4796-9675-28581A1D6594}" srcOrd="0" destOrd="0" presId="urn:microsoft.com/office/officeart/2016/7/layout/RepeatingBendingProcessNew"/>
    <dgm:cxn modelId="{C0453D30-9E34-4B9A-804C-2CEC31B4ADAE}" srcId="{B2316278-C879-48D2-8D74-F676E0C5E8F3}" destId="{955F0713-B54A-4834-B004-59BBA97E04E4}" srcOrd="0" destOrd="0" parTransId="{8C7E1FC7-0E96-471C-8B3B-D8EF6F2FBF1C}" sibTransId="{2CBED66E-C007-4E3A-B6C4-DD3C7EEF3F3F}"/>
    <dgm:cxn modelId="{C0ABEA30-3955-4AE7-8E5C-3A02237E5ACE}" type="presOf" srcId="{CC3FE5F9-A135-4F5B-A5F2-5A97ED54951A}" destId="{6426E6A1-3DB8-4F6F-BFEE-AA86E8D1863A}" srcOrd="0" destOrd="0" presId="urn:microsoft.com/office/officeart/2016/7/layout/RepeatingBendingProcessNew"/>
    <dgm:cxn modelId="{87061F3A-7E8D-4EF0-B7D8-12E62195BCCB}" type="presOf" srcId="{955F0713-B54A-4834-B004-59BBA97E04E4}" destId="{42462E58-98A2-467E-A93D-1682BE5C86A8}" srcOrd="0" destOrd="0" presId="urn:microsoft.com/office/officeart/2016/7/layout/RepeatingBendingProcessNew"/>
    <dgm:cxn modelId="{3F9F7B3C-E02C-4396-BBF6-21283D4C45F3}" type="presOf" srcId="{91C8E84A-972E-4268-A1EB-F7772945BF15}" destId="{ADE30304-FE3B-436C-B2AE-7B2725F8FC5A}" srcOrd="0" destOrd="0" presId="urn:microsoft.com/office/officeart/2016/7/layout/RepeatingBendingProcessNew"/>
    <dgm:cxn modelId="{9ED2125C-70FA-4A51-89E9-0C4CB25A401F}" type="presOf" srcId="{763525A4-1F20-4A68-90BC-4106FD0DB6B2}" destId="{639B0998-FDA9-4E1C-9F70-34C126F9D632}" srcOrd="1" destOrd="0" presId="urn:microsoft.com/office/officeart/2016/7/layout/RepeatingBendingProcessNew"/>
    <dgm:cxn modelId="{EFBD2849-6700-4BB0-9379-3C44BC3EF004}" type="presOf" srcId="{58E6D449-149A-4A9A-A141-E97C395E4CEE}" destId="{BEAF5384-0750-4EDE-AB02-ED1A2BAC4623}" srcOrd="0" destOrd="0" presId="urn:microsoft.com/office/officeart/2016/7/layout/RepeatingBendingProcessNew"/>
    <dgm:cxn modelId="{4C8EB64F-63BD-4D52-9B53-4AD5685722F2}" srcId="{B2316278-C879-48D2-8D74-F676E0C5E8F3}" destId="{91C8E84A-972E-4268-A1EB-F7772945BF15}" srcOrd="6" destOrd="0" parTransId="{FB2B2C82-AFA8-4807-85BD-4A9976047065}" sibTransId="{523F95DF-455D-4F7D-A99C-E4AED32D8F85}"/>
    <dgm:cxn modelId="{F93D8A71-4E00-4143-9371-E5C86CDC20CC}" type="presOf" srcId="{5E861803-A3BD-4F61-A275-33CE698ADB81}" destId="{2D2E1E8B-EADA-4DBF-A25C-2009444B4E9D}" srcOrd="1" destOrd="0" presId="urn:microsoft.com/office/officeart/2016/7/layout/RepeatingBendingProcessNew"/>
    <dgm:cxn modelId="{4ADD9D77-1999-4CF5-AD85-AFE212556F03}" type="presOf" srcId="{5CF60F35-CC1D-4152-95E5-81EF8E58D304}" destId="{8D671F84-E415-4F6B-BD1E-2839ED54F2C4}" srcOrd="0" destOrd="0" presId="urn:microsoft.com/office/officeart/2016/7/layout/RepeatingBendingProcessNew"/>
    <dgm:cxn modelId="{CAA83858-491F-4CB7-87F9-1F48365CABA9}" srcId="{91C8E84A-972E-4268-A1EB-F7772945BF15}" destId="{98B652DF-F44C-4DEC-8053-B87606D11F4F}" srcOrd="0" destOrd="0" parTransId="{70944E5E-D9FC-4EF5-818C-AC093FB9DC1F}" sibTransId="{B2EE3139-D9F2-4019-B379-0E89EF040298}"/>
    <dgm:cxn modelId="{AF1D4B7D-710A-4F80-ADFF-8CD740DD7DBB}" type="presOf" srcId="{EBD07998-C175-4631-A51D-84479BFF099B}" destId="{9810199A-A16C-4142-94B0-0878C6184CB2}" srcOrd="0" destOrd="0" presId="urn:microsoft.com/office/officeart/2016/7/layout/RepeatingBendingProcessNew"/>
    <dgm:cxn modelId="{90E57187-585E-4FF0-A1A1-5E2B41E286F0}" type="presOf" srcId="{2CBED66E-C007-4E3A-B6C4-DD3C7EEF3F3F}" destId="{F0934760-0F69-4EEA-8532-004443A7AFB1}" srcOrd="1" destOrd="0" presId="urn:microsoft.com/office/officeart/2016/7/layout/RepeatingBendingProcessNew"/>
    <dgm:cxn modelId="{F5FBBF87-5FDF-4045-B039-DCC320A8ABF5}" type="presOf" srcId="{B2316278-C879-48D2-8D74-F676E0C5E8F3}" destId="{C5A5B49C-D545-4B57-A100-D830D81C5E26}" srcOrd="0" destOrd="0" presId="urn:microsoft.com/office/officeart/2016/7/layout/RepeatingBendingProcessNew"/>
    <dgm:cxn modelId="{AC229AAF-806B-4BAC-90A1-2DEEB0924382}" type="presOf" srcId="{98B652DF-F44C-4DEC-8053-B87606D11F4F}" destId="{ADE30304-FE3B-436C-B2AE-7B2725F8FC5A}" srcOrd="0" destOrd="1" presId="urn:microsoft.com/office/officeart/2016/7/layout/RepeatingBendingProcessNew"/>
    <dgm:cxn modelId="{6820F4B1-CA59-4283-B1F3-A4BC72E2DF42}" type="presOf" srcId="{763525A4-1F20-4A68-90BC-4106FD0DB6B2}" destId="{DE50495F-1A21-4336-BD4A-F12017688CBE}" srcOrd="0" destOrd="0" presId="urn:microsoft.com/office/officeart/2016/7/layout/RepeatingBendingProcessNew"/>
    <dgm:cxn modelId="{54109EB7-42A9-469D-A11E-C54FD7E752DD}" type="presOf" srcId="{99C552A0-E9C3-427F-9049-C135A65C7C84}" destId="{88298A49-D09E-4701-B01C-F89416141846}" srcOrd="1" destOrd="0" presId="urn:microsoft.com/office/officeart/2016/7/layout/RepeatingBendingProcessNew"/>
    <dgm:cxn modelId="{4DB521BF-C223-4FF0-9C9D-3ABDCB71AAB3}" srcId="{B2316278-C879-48D2-8D74-F676E0C5E8F3}" destId="{F2C4230C-C9D5-4E9A-944A-0AB0333DBC63}" srcOrd="2" destOrd="0" parTransId="{F75D2969-E5C0-41DB-86AC-8E91B851ABA3}" sibTransId="{EBD07998-C175-4631-A51D-84479BFF099B}"/>
    <dgm:cxn modelId="{B2ECB1C1-B0DE-4FD9-9E09-60FBC962C3F7}" srcId="{B2316278-C879-48D2-8D74-F676E0C5E8F3}" destId="{58E6D449-149A-4A9A-A141-E97C395E4CEE}" srcOrd="7" destOrd="0" parTransId="{C41AFE37-DA90-4185-91C6-536032A81E7D}" sibTransId="{4BE6DDFE-6885-4DC0-9477-4A9C43843912}"/>
    <dgm:cxn modelId="{ADD5B5D5-E941-4C1A-A6DB-123A6EF56D39}" srcId="{B2316278-C879-48D2-8D74-F676E0C5E8F3}" destId="{3E20AF5E-9725-4AC4-8EF1-6FFEA5454A6E}" srcOrd="3" destOrd="0" parTransId="{F2C6D4C0-4D1F-4662-98BD-B9D1A284E4C2}" sibTransId="{99C552A0-E9C3-427F-9049-C135A65C7C84}"/>
    <dgm:cxn modelId="{5199FAD5-1489-44E0-9871-7E3C2CA8F53A}" type="presOf" srcId="{99C552A0-E9C3-427F-9049-C135A65C7C84}" destId="{B2A26448-1C00-48E3-B3BD-CCC1E473CE35}" srcOrd="0" destOrd="0" presId="urn:microsoft.com/office/officeart/2016/7/layout/RepeatingBendingProcessNew"/>
    <dgm:cxn modelId="{116607D8-3814-4D3E-B9FE-FC31E1DC2658}" srcId="{B2316278-C879-48D2-8D74-F676E0C5E8F3}" destId="{CC3FE5F9-A135-4F5B-A5F2-5A97ED54951A}" srcOrd="5" destOrd="0" parTransId="{E79C5274-733A-4F72-9128-6365AF18B6EF}" sibTransId="{5E861803-A3BD-4F61-A275-33CE698ADB81}"/>
    <dgm:cxn modelId="{A41AEDDB-40E3-4D9E-B71D-DC836B71869A}" type="presOf" srcId="{EBD07998-C175-4631-A51D-84479BFF099B}" destId="{34F2DC3F-BAA5-42B1-9260-70F825B28159}" srcOrd="1" destOrd="0" presId="urn:microsoft.com/office/officeart/2016/7/layout/RepeatingBendingProcessNew"/>
    <dgm:cxn modelId="{D21170E8-C32A-4E9F-9C6B-7A722AC3AC56}" type="presOf" srcId="{5E861803-A3BD-4F61-A275-33CE698ADB81}" destId="{49593825-C723-4642-9C76-558E9D4F79EE}" srcOrd="0" destOrd="0" presId="urn:microsoft.com/office/officeart/2016/7/layout/RepeatingBendingProcessNew"/>
    <dgm:cxn modelId="{17B4E4ED-2A74-4DD9-B62E-C02B0C3B146A}" srcId="{B2316278-C879-48D2-8D74-F676E0C5E8F3}" destId="{08AD98D5-BE43-4124-A90C-1187C3908779}" srcOrd="1" destOrd="0" parTransId="{EE2F306F-43D6-4A9F-993B-E99932C3283D}" sibTransId="{5CF60F35-CC1D-4152-95E5-81EF8E58D304}"/>
    <dgm:cxn modelId="{BA2B29F3-ECA0-4AC4-928A-F6554D403D0D}" type="presOf" srcId="{08AD98D5-BE43-4124-A90C-1187C3908779}" destId="{1A1AC287-3853-442D-91C6-E365491D05A3}" srcOrd="0" destOrd="0" presId="urn:microsoft.com/office/officeart/2016/7/layout/RepeatingBendingProcessNew"/>
    <dgm:cxn modelId="{2C5C8A4B-81C2-4112-9289-94A1F8DE8D50}" type="presParOf" srcId="{C5A5B49C-D545-4B57-A100-D830D81C5E26}" destId="{42462E58-98A2-467E-A93D-1682BE5C86A8}" srcOrd="0" destOrd="0" presId="urn:microsoft.com/office/officeart/2016/7/layout/RepeatingBendingProcessNew"/>
    <dgm:cxn modelId="{C12A44CA-AE42-42A2-9F92-0D52A5E284BB}" type="presParOf" srcId="{C5A5B49C-D545-4B57-A100-D830D81C5E26}" destId="{7B5513B0-18A8-4C0F-874A-4AEC97A19A24}" srcOrd="1" destOrd="0" presId="urn:microsoft.com/office/officeart/2016/7/layout/RepeatingBendingProcessNew"/>
    <dgm:cxn modelId="{3EBFD570-3F8C-4116-95D6-950DAA51EC61}" type="presParOf" srcId="{7B5513B0-18A8-4C0F-874A-4AEC97A19A24}" destId="{F0934760-0F69-4EEA-8532-004443A7AFB1}" srcOrd="0" destOrd="0" presId="urn:microsoft.com/office/officeart/2016/7/layout/RepeatingBendingProcessNew"/>
    <dgm:cxn modelId="{F646FA2B-B780-4D29-BC38-3300133C9A35}" type="presParOf" srcId="{C5A5B49C-D545-4B57-A100-D830D81C5E26}" destId="{1A1AC287-3853-442D-91C6-E365491D05A3}" srcOrd="2" destOrd="0" presId="urn:microsoft.com/office/officeart/2016/7/layout/RepeatingBendingProcessNew"/>
    <dgm:cxn modelId="{6F1EDE74-649E-4F73-AA96-2FE2996C4677}" type="presParOf" srcId="{C5A5B49C-D545-4B57-A100-D830D81C5E26}" destId="{8D671F84-E415-4F6B-BD1E-2839ED54F2C4}" srcOrd="3" destOrd="0" presId="urn:microsoft.com/office/officeart/2016/7/layout/RepeatingBendingProcessNew"/>
    <dgm:cxn modelId="{959B2391-041F-4931-A369-AE5E65A4D2BE}" type="presParOf" srcId="{8D671F84-E415-4F6B-BD1E-2839ED54F2C4}" destId="{0CC66794-46E6-472D-9FEA-3E806E578C1E}" srcOrd="0" destOrd="0" presId="urn:microsoft.com/office/officeart/2016/7/layout/RepeatingBendingProcessNew"/>
    <dgm:cxn modelId="{F352E3F0-8AC3-4264-906C-CF3F1431B60D}" type="presParOf" srcId="{C5A5B49C-D545-4B57-A100-D830D81C5E26}" destId="{3CEFDA13-0C28-4C72-85FA-83BF22572380}" srcOrd="4" destOrd="0" presId="urn:microsoft.com/office/officeart/2016/7/layout/RepeatingBendingProcessNew"/>
    <dgm:cxn modelId="{DE4AFB48-DB8E-4331-A08C-A82ED9F902F7}" type="presParOf" srcId="{C5A5B49C-D545-4B57-A100-D830D81C5E26}" destId="{9810199A-A16C-4142-94B0-0878C6184CB2}" srcOrd="5" destOrd="0" presId="urn:microsoft.com/office/officeart/2016/7/layout/RepeatingBendingProcessNew"/>
    <dgm:cxn modelId="{20477298-3C51-449F-8623-D4850DC4C4CE}" type="presParOf" srcId="{9810199A-A16C-4142-94B0-0878C6184CB2}" destId="{34F2DC3F-BAA5-42B1-9260-70F825B28159}" srcOrd="0" destOrd="0" presId="urn:microsoft.com/office/officeart/2016/7/layout/RepeatingBendingProcessNew"/>
    <dgm:cxn modelId="{4B263581-07FE-40AA-8ECD-D66FC4DA6AD0}" type="presParOf" srcId="{C5A5B49C-D545-4B57-A100-D830D81C5E26}" destId="{8F04B7E1-6E41-4AA2-A4B9-E712C1887038}" srcOrd="6" destOrd="0" presId="urn:microsoft.com/office/officeart/2016/7/layout/RepeatingBendingProcessNew"/>
    <dgm:cxn modelId="{3B756F25-C5A5-4E34-9A89-9D1B000FE793}" type="presParOf" srcId="{C5A5B49C-D545-4B57-A100-D830D81C5E26}" destId="{B2A26448-1C00-48E3-B3BD-CCC1E473CE35}" srcOrd="7" destOrd="0" presId="urn:microsoft.com/office/officeart/2016/7/layout/RepeatingBendingProcessNew"/>
    <dgm:cxn modelId="{54306A1D-864C-4C8B-AC57-438F2FD6677E}" type="presParOf" srcId="{B2A26448-1C00-48E3-B3BD-CCC1E473CE35}" destId="{88298A49-D09E-4701-B01C-F89416141846}" srcOrd="0" destOrd="0" presId="urn:microsoft.com/office/officeart/2016/7/layout/RepeatingBendingProcessNew"/>
    <dgm:cxn modelId="{B42EEF91-90B0-4977-A7A3-39547B716BBF}" type="presParOf" srcId="{C5A5B49C-D545-4B57-A100-D830D81C5E26}" destId="{13723B4F-55D6-4796-9675-28581A1D6594}" srcOrd="8" destOrd="0" presId="urn:microsoft.com/office/officeart/2016/7/layout/RepeatingBendingProcessNew"/>
    <dgm:cxn modelId="{E4ACADAF-C397-4A41-AA88-593FDD52FAC5}" type="presParOf" srcId="{C5A5B49C-D545-4B57-A100-D830D81C5E26}" destId="{DE50495F-1A21-4336-BD4A-F12017688CBE}" srcOrd="9" destOrd="0" presId="urn:microsoft.com/office/officeart/2016/7/layout/RepeatingBendingProcessNew"/>
    <dgm:cxn modelId="{97D7113B-A141-4119-8729-FC92203F5A52}" type="presParOf" srcId="{DE50495F-1A21-4336-BD4A-F12017688CBE}" destId="{639B0998-FDA9-4E1C-9F70-34C126F9D632}" srcOrd="0" destOrd="0" presId="urn:microsoft.com/office/officeart/2016/7/layout/RepeatingBendingProcessNew"/>
    <dgm:cxn modelId="{A11C2B21-36C3-46B7-A22A-5BDD7E16095C}" type="presParOf" srcId="{C5A5B49C-D545-4B57-A100-D830D81C5E26}" destId="{6426E6A1-3DB8-4F6F-BFEE-AA86E8D1863A}" srcOrd="10" destOrd="0" presId="urn:microsoft.com/office/officeart/2016/7/layout/RepeatingBendingProcessNew"/>
    <dgm:cxn modelId="{4882DD96-CC59-4FF5-93D2-E6825F20D063}" type="presParOf" srcId="{C5A5B49C-D545-4B57-A100-D830D81C5E26}" destId="{49593825-C723-4642-9C76-558E9D4F79EE}" srcOrd="11" destOrd="0" presId="urn:microsoft.com/office/officeart/2016/7/layout/RepeatingBendingProcessNew"/>
    <dgm:cxn modelId="{B3A0BB28-20C1-44CE-9275-0F8FE55CC932}" type="presParOf" srcId="{49593825-C723-4642-9C76-558E9D4F79EE}" destId="{2D2E1E8B-EADA-4DBF-A25C-2009444B4E9D}" srcOrd="0" destOrd="0" presId="urn:microsoft.com/office/officeart/2016/7/layout/RepeatingBendingProcessNew"/>
    <dgm:cxn modelId="{6CB73E18-180E-4C57-8125-75B99512991D}" type="presParOf" srcId="{C5A5B49C-D545-4B57-A100-D830D81C5E26}" destId="{ADE30304-FE3B-436C-B2AE-7B2725F8FC5A}" srcOrd="12" destOrd="0" presId="urn:microsoft.com/office/officeart/2016/7/layout/RepeatingBendingProcessNew"/>
    <dgm:cxn modelId="{F6DD5438-8ED6-473C-96EB-BAFC937187A8}" type="presParOf" srcId="{C5A5B49C-D545-4B57-A100-D830D81C5E26}" destId="{612BD11C-445F-4B7B-A092-198CDCDE471F}" srcOrd="13" destOrd="0" presId="urn:microsoft.com/office/officeart/2016/7/layout/RepeatingBendingProcessNew"/>
    <dgm:cxn modelId="{71A74069-E2FE-4EB2-BAB1-CF212E144D88}" type="presParOf" srcId="{612BD11C-445F-4B7B-A092-198CDCDE471F}" destId="{D2FCF502-4D4D-4453-9043-983B2B62A58E}" srcOrd="0" destOrd="0" presId="urn:microsoft.com/office/officeart/2016/7/layout/RepeatingBendingProcessNew"/>
    <dgm:cxn modelId="{73DBDB9F-36DB-46A3-99E3-95A614D52138}" type="presParOf" srcId="{C5A5B49C-D545-4B57-A100-D830D81C5E26}" destId="{BEAF5384-0750-4EDE-AB02-ED1A2BAC4623}" srcOrd="14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DD15CF9-3663-4D40-9897-B9FA6B3F7BD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3AA7170A-113D-42CC-9DE7-03E3C5DFF513}">
      <dgm:prSet custT="1"/>
      <dgm:spPr/>
      <dgm:t>
        <a:bodyPr/>
        <a:lstStyle/>
        <a:p>
          <a:r>
            <a:rPr lang="en-US" sz="2400" dirty="0"/>
            <a:t>Annual cardiac surgeries India</a:t>
          </a:r>
          <a:r>
            <a:rPr lang="en-US" sz="2400" baseline="30000" dirty="0">
              <a:solidFill>
                <a:srgbClr val="FF0000"/>
              </a:solidFill>
            </a:rPr>
            <a:t>2</a:t>
          </a:r>
          <a:r>
            <a:rPr lang="en-US" sz="2400" dirty="0"/>
            <a:t>: 300k</a:t>
          </a:r>
        </a:p>
      </dgm:t>
    </dgm:pt>
    <dgm:pt modelId="{7C0C864C-8706-4B76-9C53-92CABA99BC93}" type="parTrans" cxnId="{F85843F4-6CE6-4D0B-BEE3-624E00241ECF}">
      <dgm:prSet/>
      <dgm:spPr/>
      <dgm:t>
        <a:bodyPr/>
        <a:lstStyle/>
        <a:p>
          <a:endParaRPr lang="en-US" sz="4000"/>
        </a:p>
      </dgm:t>
    </dgm:pt>
    <dgm:pt modelId="{1A0FE6F9-048C-4EF2-8198-8BD7EBDE4913}" type="sibTrans" cxnId="{F85843F4-6CE6-4D0B-BEE3-624E00241ECF}">
      <dgm:prSet/>
      <dgm:spPr/>
      <dgm:t>
        <a:bodyPr/>
        <a:lstStyle/>
        <a:p>
          <a:endParaRPr lang="en-US" sz="2800"/>
        </a:p>
      </dgm:t>
    </dgm:pt>
    <dgm:pt modelId="{BF0523F9-15F9-4306-8999-E1FB1E664FB1}">
      <dgm:prSet custT="1"/>
      <dgm:spPr/>
      <dgm:t>
        <a:bodyPr/>
        <a:lstStyle/>
        <a:p>
          <a:r>
            <a:rPr lang="en-US" sz="2400" dirty="0"/>
            <a:t>Multispecialty hospitals and colleges with CCU (MSCH): 700</a:t>
          </a:r>
          <a:r>
            <a:rPr lang="en-US" sz="2400" baseline="30000" dirty="0">
              <a:solidFill>
                <a:srgbClr val="FF0000"/>
              </a:solidFill>
            </a:rPr>
            <a:t>3</a:t>
          </a:r>
          <a:endParaRPr lang="en-US" sz="2400" dirty="0"/>
        </a:p>
      </dgm:t>
    </dgm:pt>
    <dgm:pt modelId="{49DFBB00-FBD0-4ACF-BC68-DC720E9E44E0}" type="parTrans" cxnId="{E5B63DA2-347C-476C-A4B0-97492B34272F}">
      <dgm:prSet/>
      <dgm:spPr/>
      <dgm:t>
        <a:bodyPr/>
        <a:lstStyle/>
        <a:p>
          <a:endParaRPr lang="en-US" sz="4000"/>
        </a:p>
      </dgm:t>
    </dgm:pt>
    <dgm:pt modelId="{0C958CA7-5783-4559-9ADB-564F70165E18}" type="sibTrans" cxnId="{E5B63DA2-347C-476C-A4B0-97492B34272F}">
      <dgm:prSet/>
      <dgm:spPr/>
      <dgm:t>
        <a:bodyPr/>
        <a:lstStyle/>
        <a:p>
          <a:endParaRPr lang="en-US" sz="2800"/>
        </a:p>
      </dgm:t>
    </dgm:pt>
    <dgm:pt modelId="{8D71FA26-B249-42D2-9ACB-E8A162677BF8}">
      <dgm:prSet custT="1"/>
      <dgm:spPr/>
      <dgm:t>
        <a:bodyPr/>
        <a:lstStyle/>
        <a:p>
          <a:r>
            <a:rPr lang="en-US" sz="2400"/>
            <a:t>Avg. yearly procedures in MSCH : </a:t>
          </a:r>
          <a:r>
            <a:rPr lang="en-US" sz="2400" b="1"/>
            <a:t>428</a:t>
          </a:r>
          <a:endParaRPr lang="en-US" sz="2400"/>
        </a:p>
      </dgm:t>
    </dgm:pt>
    <dgm:pt modelId="{1937C2A8-0529-4D08-A047-587193A6A147}" type="parTrans" cxnId="{EE0965EE-F9FD-4C41-8C63-9B8E3D94867E}">
      <dgm:prSet/>
      <dgm:spPr/>
      <dgm:t>
        <a:bodyPr/>
        <a:lstStyle/>
        <a:p>
          <a:endParaRPr lang="en-US" sz="4000"/>
        </a:p>
      </dgm:t>
    </dgm:pt>
    <dgm:pt modelId="{F9401955-E7CD-4F8C-AEBA-68AA1B69A76B}" type="sibTrans" cxnId="{EE0965EE-F9FD-4C41-8C63-9B8E3D94867E}">
      <dgm:prSet/>
      <dgm:spPr/>
      <dgm:t>
        <a:bodyPr/>
        <a:lstStyle/>
        <a:p>
          <a:endParaRPr lang="en-US" sz="2800"/>
        </a:p>
      </dgm:t>
    </dgm:pt>
    <dgm:pt modelId="{DE55E8DB-1205-472A-B3BE-0D4F6FA7E33F}">
      <dgm:prSet custT="1"/>
      <dgm:spPr/>
      <dgm:t>
        <a:bodyPr/>
        <a:lstStyle/>
        <a:p>
          <a:r>
            <a:rPr lang="en-US" sz="2400" dirty="0"/>
            <a:t>Revenue from 3-day procedure monitoring @ Rs. 1500: 19.2 lakhs</a:t>
          </a:r>
        </a:p>
      </dgm:t>
    </dgm:pt>
    <dgm:pt modelId="{D05181E7-16B6-4A82-9F3C-7E2AC6EF3839}" type="parTrans" cxnId="{A677C1E2-2037-40BA-9E51-1B57C5CAA437}">
      <dgm:prSet/>
      <dgm:spPr/>
      <dgm:t>
        <a:bodyPr/>
        <a:lstStyle/>
        <a:p>
          <a:endParaRPr lang="en-US" sz="4000"/>
        </a:p>
      </dgm:t>
    </dgm:pt>
    <dgm:pt modelId="{B668F7D1-D210-4C29-AD27-B3391935EBB9}" type="sibTrans" cxnId="{A677C1E2-2037-40BA-9E51-1B57C5CAA437}">
      <dgm:prSet/>
      <dgm:spPr/>
      <dgm:t>
        <a:bodyPr/>
        <a:lstStyle/>
        <a:p>
          <a:endParaRPr lang="en-US" sz="2800"/>
        </a:p>
      </dgm:t>
    </dgm:pt>
    <dgm:pt modelId="{F93F7CAC-3B62-47CF-B29E-52AB9E0C8AF0}">
      <dgm:prSet custT="1"/>
      <dgm:spPr/>
      <dgm:t>
        <a:bodyPr/>
        <a:lstStyle/>
        <a:p>
          <a:r>
            <a:rPr lang="en-US" sz="2400" dirty="0">
              <a:solidFill>
                <a:srgbClr val="FF0000"/>
              </a:solidFill>
            </a:rPr>
            <a:t>Benefit/cost ratio: </a:t>
          </a:r>
          <a:r>
            <a:rPr lang="en-US" sz="2400" strike="sngStrike" dirty="0">
              <a:solidFill>
                <a:srgbClr val="FF0000"/>
              </a:solidFill>
            </a:rPr>
            <a:t>~</a:t>
          </a:r>
          <a:r>
            <a:rPr lang="en-US" sz="2400" strike="sngStrike">
              <a:solidFill>
                <a:srgbClr val="FF0000"/>
              </a:solidFill>
            </a:rPr>
            <a:t>25 …</a:t>
          </a:r>
          <a:r>
            <a:rPr lang="en-US" sz="2400" strike="noStrike">
              <a:solidFill>
                <a:srgbClr val="FF0000"/>
              </a:solidFill>
            </a:rPr>
            <a:t>~2.3</a:t>
          </a:r>
          <a:endParaRPr lang="en-US" sz="2400" strike="noStrike" dirty="0">
            <a:solidFill>
              <a:srgbClr val="FF0000"/>
            </a:solidFill>
          </a:endParaRPr>
        </a:p>
      </dgm:t>
    </dgm:pt>
    <dgm:pt modelId="{7A0DFD40-4465-4789-87C1-663649DB55C0}" type="parTrans" cxnId="{4F3B6898-61C3-49B4-B683-F9167F7A6A26}">
      <dgm:prSet/>
      <dgm:spPr/>
      <dgm:t>
        <a:bodyPr/>
        <a:lstStyle/>
        <a:p>
          <a:endParaRPr lang="en-US" sz="4000"/>
        </a:p>
      </dgm:t>
    </dgm:pt>
    <dgm:pt modelId="{29FFA96F-B1CB-4B5A-89DD-FD0D6D8210B3}" type="sibTrans" cxnId="{4F3B6898-61C3-49B4-B683-F9167F7A6A26}">
      <dgm:prSet/>
      <dgm:spPr/>
      <dgm:t>
        <a:bodyPr/>
        <a:lstStyle/>
        <a:p>
          <a:endParaRPr lang="en-US" sz="2800"/>
        </a:p>
      </dgm:t>
    </dgm:pt>
    <dgm:pt modelId="{78275772-0A23-4FB6-BD66-D0C36B49C4E6}">
      <dgm:prSet custT="1"/>
      <dgm:spPr/>
      <dgm:t>
        <a:bodyPr/>
        <a:lstStyle/>
        <a:p>
          <a:r>
            <a:rPr lang="en-US" sz="2400" dirty="0">
              <a:solidFill>
                <a:srgbClr val="FF0000"/>
              </a:solidFill>
            </a:rPr>
            <a:t>Payoff procedures: ~16</a:t>
          </a:r>
        </a:p>
      </dgm:t>
    </dgm:pt>
    <dgm:pt modelId="{68B14887-A1E8-40A3-9160-25C5B01DEC57}" type="parTrans" cxnId="{95A8F280-D17B-4BBF-AE59-13B1443F0086}">
      <dgm:prSet/>
      <dgm:spPr/>
      <dgm:t>
        <a:bodyPr/>
        <a:lstStyle/>
        <a:p>
          <a:endParaRPr lang="en-US" sz="4000"/>
        </a:p>
      </dgm:t>
    </dgm:pt>
    <dgm:pt modelId="{FF43C8F0-72EE-4E62-83E9-75342126864F}" type="sibTrans" cxnId="{95A8F280-D17B-4BBF-AE59-13B1443F0086}">
      <dgm:prSet/>
      <dgm:spPr/>
      <dgm:t>
        <a:bodyPr/>
        <a:lstStyle/>
        <a:p>
          <a:endParaRPr lang="en-US" sz="2800"/>
        </a:p>
      </dgm:t>
    </dgm:pt>
    <dgm:pt modelId="{C2ED8FEF-99FA-4574-8102-F824C6EA82F0}">
      <dgm:prSet custT="1"/>
      <dgm:spPr/>
      <dgm:t>
        <a:bodyPr/>
        <a:lstStyle/>
        <a:p>
          <a:r>
            <a:rPr lang="en-US" sz="2400" dirty="0"/>
            <a:t>Monthly revenue: Rs. 160k</a:t>
          </a:r>
        </a:p>
      </dgm:t>
    </dgm:pt>
    <dgm:pt modelId="{FAD4253C-B682-4416-9225-EEB059256E2E}" type="parTrans" cxnId="{076D3B63-D51C-4E72-962F-71B39F2EED75}">
      <dgm:prSet/>
      <dgm:spPr/>
      <dgm:t>
        <a:bodyPr/>
        <a:lstStyle/>
        <a:p>
          <a:endParaRPr lang="en-US" sz="4000"/>
        </a:p>
      </dgm:t>
    </dgm:pt>
    <dgm:pt modelId="{680AFCDF-B686-4F10-BFCC-058C0AF8ED41}" type="sibTrans" cxnId="{076D3B63-D51C-4E72-962F-71B39F2EED75}">
      <dgm:prSet/>
      <dgm:spPr/>
      <dgm:t>
        <a:bodyPr/>
        <a:lstStyle/>
        <a:p>
          <a:endParaRPr lang="en-US" sz="2800"/>
        </a:p>
      </dgm:t>
    </dgm:pt>
    <dgm:pt modelId="{68BF8070-AD32-486A-983E-C972883D47A0}" type="pres">
      <dgm:prSet presAssocID="{BDD15CF9-3663-4D40-9897-B9FA6B3F7BDC}" presName="root" presStyleCnt="0">
        <dgm:presLayoutVars>
          <dgm:dir/>
          <dgm:resizeHandles val="exact"/>
        </dgm:presLayoutVars>
      </dgm:prSet>
      <dgm:spPr/>
    </dgm:pt>
    <dgm:pt modelId="{1CBAD135-B30C-456B-BB63-746A992FD023}" type="pres">
      <dgm:prSet presAssocID="{3AA7170A-113D-42CC-9DE7-03E3C5DFF513}" presName="compNode" presStyleCnt="0"/>
      <dgm:spPr/>
    </dgm:pt>
    <dgm:pt modelId="{3B599ABB-8305-49E3-ACB5-33AB23D52B4D}" type="pres">
      <dgm:prSet presAssocID="{3AA7170A-113D-42CC-9DE7-03E3C5DFF513}" presName="bgRect" presStyleLbl="bgShp" presStyleIdx="0" presStyleCnt="7"/>
      <dgm:spPr/>
    </dgm:pt>
    <dgm:pt modelId="{BA7013AA-332B-4A6D-A615-1DDD3255D797}" type="pres">
      <dgm:prSet presAssocID="{3AA7170A-113D-42CC-9DE7-03E3C5DFF513}" presName="iconRect" presStyleLbl="node1" presStyleIdx="0" presStyleCnt="7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rtbeat"/>
        </a:ext>
      </dgm:extLst>
    </dgm:pt>
    <dgm:pt modelId="{4F8B5266-B2EF-41D6-A4D9-4F23D09BCBF7}" type="pres">
      <dgm:prSet presAssocID="{3AA7170A-113D-42CC-9DE7-03E3C5DFF513}" presName="spaceRect" presStyleCnt="0"/>
      <dgm:spPr/>
    </dgm:pt>
    <dgm:pt modelId="{B047ACB4-8CA8-482F-AFCF-F6C8E0D29AC9}" type="pres">
      <dgm:prSet presAssocID="{3AA7170A-113D-42CC-9DE7-03E3C5DFF513}" presName="parTx" presStyleLbl="revTx" presStyleIdx="0" presStyleCnt="7">
        <dgm:presLayoutVars>
          <dgm:chMax val="0"/>
          <dgm:chPref val="0"/>
        </dgm:presLayoutVars>
      </dgm:prSet>
      <dgm:spPr/>
    </dgm:pt>
    <dgm:pt modelId="{9C6FAE87-F97E-40C8-88BF-63B6A8F8E470}" type="pres">
      <dgm:prSet presAssocID="{1A0FE6F9-048C-4EF2-8198-8BD7EBDE4913}" presName="sibTrans" presStyleCnt="0"/>
      <dgm:spPr/>
    </dgm:pt>
    <dgm:pt modelId="{CAB0807F-2AD1-43CA-8D54-E5A4BA893893}" type="pres">
      <dgm:prSet presAssocID="{BF0523F9-15F9-4306-8999-E1FB1E664FB1}" presName="compNode" presStyleCnt="0"/>
      <dgm:spPr/>
    </dgm:pt>
    <dgm:pt modelId="{10FC0A53-ACA9-49E6-A562-FE2D4DB8F8A8}" type="pres">
      <dgm:prSet presAssocID="{BF0523F9-15F9-4306-8999-E1FB1E664FB1}" presName="bgRect" presStyleLbl="bgShp" presStyleIdx="1" presStyleCnt="7"/>
      <dgm:spPr/>
    </dgm:pt>
    <dgm:pt modelId="{6D5BB3D8-37D2-4B88-91F5-982F5EF4D453}" type="pres">
      <dgm:prSet presAssocID="{BF0523F9-15F9-4306-8999-E1FB1E664FB1}" presName="iconRect" presStyleLbl="node1" presStyleIdx="1" presStyleCnt="7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tor"/>
        </a:ext>
      </dgm:extLst>
    </dgm:pt>
    <dgm:pt modelId="{6DF94C01-9A40-4DE7-9D46-9582DE9EA659}" type="pres">
      <dgm:prSet presAssocID="{BF0523F9-15F9-4306-8999-E1FB1E664FB1}" presName="spaceRect" presStyleCnt="0"/>
      <dgm:spPr/>
    </dgm:pt>
    <dgm:pt modelId="{1E21DD70-C45D-489B-86CF-A95D1B46F474}" type="pres">
      <dgm:prSet presAssocID="{BF0523F9-15F9-4306-8999-E1FB1E664FB1}" presName="parTx" presStyleLbl="revTx" presStyleIdx="1" presStyleCnt="7">
        <dgm:presLayoutVars>
          <dgm:chMax val="0"/>
          <dgm:chPref val="0"/>
        </dgm:presLayoutVars>
      </dgm:prSet>
      <dgm:spPr/>
    </dgm:pt>
    <dgm:pt modelId="{D8F8A296-0BBD-4270-BED0-E8618EBCC110}" type="pres">
      <dgm:prSet presAssocID="{0C958CA7-5783-4559-9ADB-564F70165E18}" presName="sibTrans" presStyleCnt="0"/>
      <dgm:spPr/>
    </dgm:pt>
    <dgm:pt modelId="{09931491-562A-49C2-8F8F-0DC8FC7F5D70}" type="pres">
      <dgm:prSet presAssocID="{8D71FA26-B249-42D2-9ACB-E8A162677BF8}" presName="compNode" presStyleCnt="0"/>
      <dgm:spPr/>
    </dgm:pt>
    <dgm:pt modelId="{87ECBAEF-F994-4E6C-84DA-2500D954C5E0}" type="pres">
      <dgm:prSet presAssocID="{8D71FA26-B249-42D2-9ACB-E8A162677BF8}" presName="bgRect" presStyleLbl="bgShp" presStyleIdx="2" presStyleCnt="7"/>
      <dgm:spPr/>
    </dgm:pt>
    <dgm:pt modelId="{5DF791E3-B9A3-4C37-874B-14F6D5AF21B3}" type="pres">
      <dgm:prSet presAssocID="{8D71FA26-B249-42D2-9ACB-E8A162677BF8}" presName="iconRect" presStyleLbl="node1" presStyleIdx="2" presStyleCnt="7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C1A8FDB5-9422-4DCC-83A8-E5A3B3C30D05}" type="pres">
      <dgm:prSet presAssocID="{8D71FA26-B249-42D2-9ACB-E8A162677BF8}" presName="spaceRect" presStyleCnt="0"/>
      <dgm:spPr/>
    </dgm:pt>
    <dgm:pt modelId="{E2B42B65-663F-4621-A20B-7BF78E85A129}" type="pres">
      <dgm:prSet presAssocID="{8D71FA26-B249-42D2-9ACB-E8A162677BF8}" presName="parTx" presStyleLbl="revTx" presStyleIdx="2" presStyleCnt="7">
        <dgm:presLayoutVars>
          <dgm:chMax val="0"/>
          <dgm:chPref val="0"/>
        </dgm:presLayoutVars>
      </dgm:prSet>
      <dgm:spPr/>
    </dgm:pt>
    <dgm:pt modelId="{5FFFEAF5-5AAA-4B8D-92C6-784436863B72}" type="pres">
      <dgm:prSet presAssocID="{F9401955-E7CD-4F8C-AEBA-68AA1B69A76B}" presName="sibTrans" presStyleCnt="0"/>
      <dgm:spPr/>
    </dgm:pt>
    <dgm:pt modelId="{32676F58-FE70-4CD7-BB61-326719B88FD3}" type="pres">
      <dgm:prSet presAssocID="{DE55E8DB-1205-472A-B3BE-0D4F6FA7E33F}" presName="compNode" presStyleCnt="0"/>
      <dgm:spPr/>
    </dgm:pt>
    <dgm:pt modelId="{58F27049-EF0B-4262-8249-D7BD2C5C4119}" type="pres">
      <dgm:prSet presAssocID="{DE55E8DB-1205-472A-B3BE-0D4F6FA7E33F}" presName="bgRect" presStyleLbl="bgShp" presStyleIdx="3" presStyleCnt="7"/>
      <dgm:spPr/>
    </dgm:pt>
    <dgm:pt modelId="{86002360-09E8-4E8B-90C1-1F8A07CFE150}" type="pres">
      <dgm:prSet presAssocID="{DE55E8DB-1205-472A-B3BE-0D4F6FA7E33F}" presName="iconRect" presStyleLbl="node1" presStyleIdx="3" presStyleCnt="7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uble"/>
        </a:ext>
      </dgm:extLst>
    </dgm:pt>
    <dgm:pt modelId="{612343BA-2BD1-4667-9D35-1C4D738114B9}" type="pres">
      <dgm:prSet presAssocID="{DE55E8DB-1205-472A-B3BE-0D4F6FA7E33F}" presName="spaceRect" presStyleCnt="0"/>
      <dgm:spPr/>
    </dgm:pt>
    <dgm:pt modelId="{3CBFCD40-DA35-48C3-8661-C0DDF82EFE74}" type="pres">
      <dgm:prSet presAssocID="{DE55E8DB-1205-472A-B3BE-0D4F6FA7E33F}" presName="parTx" presStyleLbl="revTx" presStyleIdx="3" presStyleCnt="7">
        <dgm:presLayoutVars>
          <dgm:chMax val="0"/>
          <dgm:chPref val="0"/>
        </dgm:presLayoutVars>
      </dgm:prSet>
      <dgm:spPr/>
    </dgm:pt>
    <dgm:pt modelId="{2CDF7AD2-3552-4029-8583-50FAE399CAED}" type="pres">
      <dgm:prSet presAssocID="{B668F7D1-D210-4C29-AD27-B3391935EBB9}" presName="sibTrans" presStyleCnt="0"/>
      <dgm:spPr/>
    </dgm:pt>
    <dgm:pt modelId="{FB5C21B9-AD73-4203-8F32-9EE39226815A}" type="pres">
      <dgm:prSet presAssocID="{F93F7CAC-3B62-47CF-B29E-52AB9E0C8AF0}" presName="compNode" presStyleCnt="0"/>
      <dgm:spPr/>
    </dgm:pt>
    <dgm:pt modelId="{680821F4-7428-46AB-8140-676F5E5C0CFC}" type="pres">
      <dgm:prSet presAssocID="{F93F7CAC-3B62-47CF-B29E-52AB9E0C8AF0}" presName="bgRect" presStyleLbl="bgShp" presStyleIdx="4" presStyleCnt="7"/>
      <dgm:spPr/>
    </dgm:pt>
    <dgm:pt modelId="{DEA1B7EA-3EDF-4AF0-A92E-4CC3439C6A09}" type="pres">
      <dgm:prSet presAssocID="{F93F7CAC-3B62-47CF-B29E-52AB9E0C8AF0}" presName="iconRect" presStyleLbl="node1" presStyleIdx="4" presStyleCnt="7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9A1D0C55-6BC0-4274-A799-08210606198C}" type="pres">
      <dgm:prSet presAssocID="{F93F7CAC-3B62-47CF-B29E-52AB9E0C8AF0}" presName="spaceRect" presStyleCnt="0"/>
      <dgm:spPr/>
    </dgm:pt>
    <dgm:pt modelId="{3ED63812-3BFE-45FC-BB89-652536DB27A7}" type="pres">
      <dgm:prSet presAssocID="{F93F7CAC-3B62-47CF-B29E-52AB9E0C8AF0}" presName="parTx" presStyleLbl="revTx" presStyleIdx="4" presStyleCnt="7">
        <dgm:presLayoutVars>
          <dgm:chMax val="0"/>
          <dgm:chPref val="0"/>
        </dgm:presLayoutVars>
      </dgm:prSet>
      <dgm:spPr/>
    </dgm:pt>
    <dgm:pt modelId="{226336D5-3D4D-4A42-920C-98BCF08291D3}" type="pres">
      <dgm:prSet presAssocID="{29FFA96F-B1CB-4B5A-89DD-FD0D6D8210B3}" presName="sibTrans" presStyleCnt="0"/>
      <dgm:spPr/>
    </dgm:pt>
    <dgm:pt modelId="{97A07B53-11C3-4882-BBFD-0E9F5ADE9A60}" type="pres">
      <dgm:prSet presAssocID="{78275772-0A23-4FB6-BD66-D0C36B49C4E6}" presName="compNode" presStyleCnt="0"/>
      <dgm:spPr/>
    </dgm:pt>
    <dgm:pt modelId="{9D849715-763B-4872-8015-8770022D0380}" type="pres">
      <dgm:prSet presAssocID="{78275772-0A23-4FB6-BD66-D0C36B49C4E6}" presName="bgRect" presStyleLbl="bgShp" presStyleIdx="5" presStyleCnt="7"/>
      <dgm:spPr/>
    </dgm:pt>
    <dgm:pt modelId="{25F4131F-B841-425C-878D-78DAF34D0A56}" type="pres">
      <dgm:prSet presAssocID="{78275772-0A23-4FB6-BD66-D0C36B49C4E6}" presName="iconRect" presStyleLbl="node1" presStyleIdx="5" presStyleCnt="7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C1742A57-8687-471B-8619-95B8233B746A}" type="pres">
      <dgm:prSet presAssocID="{78275772-0A23-4FB6-BD66-D0C36B49C4E6}" presName="spaceRect" presStyleCnt="0"/>
      <dgm:spPr/>
    </dgm:pt>
    <dgm:pt modelId="{01AC115E-4222-4A5E-BC64-0A7E3A29B44E}" type="pres">
      <dgm:prSet presAssocID="{78275772-0A23-4FB6-BD66-D0C36B49C4E6}" presName="parTx" presStyleLbl="revTx" presStyleIdx="5" presStyleCnt="7">
        <dgm:presLayoutVars>
          <dgm:chMax val="0"/>
          <dgm:chPref val="0"/>
        </dgm:presLayoutVars>
      </dgm:prSet>
      <dgm:spPr/>
    </dgm:pt>
    <dgm:pt modelId="{4A21F66F-521D-49CF-9A4E-E89E17ACB8C2}" type="pres">
      <dgm:prSet presAssocID="{FF43C8F0-72EE-4E62-83E9-75342126864F}" presName="sibTrans" presStyleCnt="0"/>
      <dgm:spPr/>
    </dgm:pt>
    <dgm:pt modelId="{990C2DF2-A1F6-45D8-9E04-AB12C0B1B975}" type="pres">
      <dgm:prSet presAssocID="{C2ED8FEF-99FA-4574-8102-F824C6EA82F0}" presName="compNode" presStyleCnt="0"/>
      <dgm:spPr/>
    </dgm:pt>
    <dgm:pt modelId="{86703B23-7C09-4A99-8BA8-EACA47B601F8}" type="pres">
      <dgm:prSet presAssocID="{C2ED8FEF-99FA-4574-8102-F824C6EA82F0}" presName="bgRect" presStyleLbl="bgShp" presStyleIdx="6" presStyleCnt="7"/>
      <dgm:spPr/>
    </dgm:pt>
    <dgm:pt modelId="{1BD8A7AF-6891-4C16-BE99-B851C9AAFB0C}" type="pres">
      <dgm:prSet presAssocID="{C2ED8FEF-99FA-4574-8102-F824C6EA82F0}" presName="iconRect" presStyleLbl="node1" presStyleIdx="6" presStyleCnt="7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Yuan"/>
        </a:ext>
      </dgm:extLst>
    </dgm:pt>
    <dgm:pt modelId="{D7115FBB-9CBD-4E5E-A8FA-DA197B1BEED7}" type="pres">
      <dgm:prSet presAssocID="{C2ED8FEF-99FA-4574-8102-F824C6EA82F0}" presName="spaceRect" presStyleCnt="0"/>
      <dgm:spPr/>
    </dgm:pt>
    <dgm:pt modelId="{F52D27D8-BE6B-4EF8-A681-F5E2A1E0AFBE}" type="pres">
      <dgm:prSet presAssocID="{C2ED8FEF-99FA-4574-8102-F824C6EA82F0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B6430513-EC6B-46B0-A081-19604E3E6D91}" type="presOf" srcId="{BDD15CF9-3663-4D40-9897-B9FA6B3F7BDC}" destId="{68BF8070-AD32-486A-983E-C972883D47A0}" srcOrd="0" destOrd="0" presId="urn:microsoft.com/office/officeart/2018/2/layout/IconVerticalSolidList"/>
    <dgm:cxn modelId="{7497D91C-DA1D-4BE2-97B5-62FEDA8BFEE0}" type="presOf" srcId="{3AA7170A-113D-42CC-9DE7-03E3C5DFF513}" destId="{B047ACB4-8CA8-482F-AFCF-F6C8E0D29AC9}" srcOrd="0" destOrd="0" presId="urn:microsoft.com/office/officeart/2018/2/layout/IconVerticalSolidList"/>
    <dgm:cxn modelId="{469DAF5E-017E-4787-9AF2-7913B0E06EDB}" type="presOf" srcId="{78275772-0A23-4FB6-BD66-D0C36B49C4E6}" destId="{01AC115E-4222-4A5E-BC64-0A7E3A29B44E}" srcOrd="0" destOrd="0" presId="urn:microsoft.com/office/officeart/2018/2/layout/IconVerticalSolidList"/>
    <dgm:cxn modelId="{076D3B63-D51C-4E72-962F-71B39F2EED75}" srcId="{BDD15CF9-3663-4D40-9897-B9FA6B3F7BDC}" destId="{C2ED8FEF-99FA-4574-8102-F824C6EA82F0}" srcOrd="6" destOrd="0" parTransId="{FAD4253C-B682-4416-9225-EEB059256E2E}" sibTransId="{680AFCDF-B686-4F10-BFCC-058C0AF8ED41}"/>
    <dgm:cxn modelId="{E6E79A78-4232-418B-94B5-57A07ECC0B3E}" type="presOf" srcId="{DE55E8DB-1205-472A-B3BE-0D4F6FA7E33F}" destId="{3CBFCD40-DA35-48C3-8661-C0DDF82EFE74}" srcOrd="0" destOrd="0" presId="urn:microsoft.com/office/officeart/2018/2/layout/IconVerticalSolidList"/>
    <dgm:cxn modelId="{95A8F280-D17B-4BBF-AE59-13B1443F0086}" srcId="{BDD15CF9-3663-4D40-9897-B9FA6B3F7BDC}" destId="{78275772-0A23-4FB6-BD66-D0C36B49C4E6}" srcOrd="5" destOrd="0" parTransId="{68B14887-A1E8-40A3-9160-25C5B01DEC57}" sibTransId="{FF43C8F0-72EE-4E62-83E9-75342126864F}"/>
    <dgm:cxn modelId="{4E4F9A87-1C42-47C2-83A1-9D49C237F109}" type="presOf" srcId="{F93F7CAC-3B62-47CF-B29E-52AB9E0C8AF0}" destId="{3ED63812-3BFE-45FC-BB89-652536DB27A7}" srcOrd="0" destOrd="0" presId="urn:microsoft.com/office/officeart/2018/2/layout/IconVerticalSolidList"/>
    <dgm:cxn modelId="{4F3B6898-61C3-49B4-B683-F9167F7A6A26}" srcId="{BDD15CF9-3663-4D40-9897-B9FA6B3F7BDC}" destId="{F93F7CAC-3B62-47CF-B29E-52AB9E0C8AF0}" srcOrd="4" destOrd="0" parTransId="{7A0DFD40-4465-4789-87C1-663649DB55C0}" sibTransId="{29FFA96F-B1CB-4B5A-89DD-FD0D6D8210B3}"/>
    <dgm:cxn modelId="{E5B63DA2-347C-476C-A4B0-97492B34272F}" srcId="{BDD15CF9-3663-4D40-9897-B9FA6B3F7BDC}" destId="{BF0523F9-15F9-4306-8999-E1FB1E664FB1}" srcOrd="1" destOrd="0" parTransId="{49DFBB00-FBD0-4ACF-BC68-DC720E9E44E0}" sibTransId="{0C958CA7-5783-4559-9ADB-564F70165E18}"/>
    <dgm:cxn modelId="{276273D5-1840-4D52-8557-2894E96C54DB}" type="presOf" srcId="{8D71FA26-B249-42D2-9ACB-E8A162677BF8}" destId="{E2B42B65-663F-4621-A20B-7BF78E85A129}" srcOrd="0" destOrd="0" presId="urn:microsoft.com/office/officeart/2018/2/layout/IconVerticalSolidList"/>
    <dgm:cxn modelId="{A677C1E2-2037-40BA-9E51-1B57C5CAA437}" srcId="{BDD15CF9-3663-4D40-9897-B9FA6B3F7BDC}" destId="{DE55E8DB-1205-472A-B3BE-0D4F6FA7E33F}" srcOrd="3" destOrd="0" parTransId="{D05181E7-16B6-4A82-9F3C-7E2AC6EF3839}" sibTransId="{B668F7D1-D210-4C29-AD27-B3391935EBB9}"/>
    <dgm:cxn modelId="{BF194AE5-F2F5-4089-9B1A-B8DCEFA665CE}" type="presOf" srcId="{C2ED8FEF-99FA-4574-8102-F824C6EA82F0}" destId="{F52D27D8-BE6B-4EF8-A681-F5E2A1E0AFBE}" srcOrd="0" destOrd="0" presId="urn:microsoft.com/office/officeart/2018/2/layout/IconVerticalSolidList"/>
    <dgm:cxn modelId="{EE0965EE-F9FD-4C41-8C63-9B8E3D94867E}" srcId="{BDD15CF9-3663-4D40-9897-B9FA6B3F7BDC}" destId="{8D71FA26-B249-42D2-9ACB-E8A162677BF8}" srcOrd="2" destOrd="0" parTransId="{1937C2A8-0529-4D08-A047-587193A6A147}" sibTransId="{F9401955-E7CD-4F8C-AEBA-68AA1B69A76B}"/>
    <dgm:cxn modelId="{F85843F4-6CE6-4D0B-BEE3-624E00241ECF}" srcId="{BDD15CF9-3663-4D40-9897-B9FA6B3F7BDC}" destId="{3AA7170A-113D-42CC-9DE7-03E3C5DFF513}" srcOrd="0" destOrd="0" parTransId="{7C0C864C-8706-4B76-9C53-92CABA99BC93}" sibTransId="{1A0FE6F9-048C-4EF2-8198-8BD7EBDE4913}"/>
    <dgm:cxn modelId="{4AD5F9FF-66AF-4636-9A27-F3C79B4ACB7C}" type="presOf" srcId="{BF0523F9-15F9-4306-8999-E1FB1E664FB1}" destId="{1E21DD70-C45D-489B-86CF-A95D1B46F474}" srcOrd="0" destOrd="0" presId="urn:microsoft.com/office/officeart/2018/2/layout/IconVerticalSolidList"/>
    <dgm:cxn modelId="{0983C639-4D92-4192-904A-2900CB427CBF}" type="presParOf" srcId="{68BF8070-AD32-486A-983E-C972883D47A0}" destId="{1CBAD135-B30C-456B-BB63-746A992FD023}" srcOrd="0" destOrd="0" presId="urn:microsoft.com/office/officeart/2018/2/layout/IconVerticalSolidList"/>
    <dgm:cxn modelId="{CFB76CBD-9C10-4DEB-B4A5-49F4F8E996A6}" type="presParOf" srcId="{1CBAD135-B30C-456B-BB63-746A992FD023}" destId="{3B599ABB-8305-49E3-ACB5-33AB23D52B4D}" srcOrd="0" destOrd="0" presId="urn:microsoft.com/office/officeart/2018/2/layout/IconVerticalSolidList"/>
    <dgm:cxn modelId="{D33CA6BB-D472-4BFF-A761-AFB74A74CE7F}" type="presParOf" srcId="{1CBAD135-B30C-456B-BB63-746A992FD023}" destId="{BA7013AA-332B-4A6D-A615-1DDD3255D797}" srcOrd="1" destOrd="0" presId="urn:microsoft.com/office/officeart/2018/2/layout/IconVerticalSolidList"/>
    <dgm:cxn modelId="{3463748D-EBAD-412E-A6DB-C252C75E457D}" type="presParOf" srcId="{1CBAD135-B30C-456B-BB63-746A992FD023}" destId="{4F8B5266-B2EF-41D6-A4D9-4F23D09BCBF7}" srcOrd="2" destOrd="0" presId="urn:microsoft.com/office/officeart/2018/2/layout/IconVerticalSolidList"/>
    <dgm:cxn modelId="{D3621E42-16AE-4737-9CE7-D174054F51AD}" type="presParOf" srcId="{1CBAD135-B30C-456B-BB63-746A992FD023}" destId="{B047ACB4-8CA8-482F-AFCF-F6C8E0D29AC9}" srcOrd="3" destOrd="0" presId="urn:microsoft.com/office/officeart/2018/2/layout/IconVerticalSolidList"/>
    <dgm:cxn modelId="{D789FA76-9B58-4CC1-A247-C1CE1F418AA5}" type="presParOf" srcId="{68BF8070-AD32-486A-983E-C972883D47A0}" destId="{9C6FAE87-F97E-40C8-88BF-63B6A8F8E470}" srcOrd="1" destOrd="0" presId="urn:microsoft.com/office/officeart/2018/2/layout/IconVerticalSolidList"/>
    <dgm:cxn modelId="{62597380-D697-4399-BD8B-D7342A891CCD}" type="presParOf" srcId="{68BF8070-AD32-486A-983E-C972883D47A0}" destId="{CAB0807F-2AD1-43CA-8D54-E5A4BA893893}" srcOrd="2" destOrd="0" presId="urn:microsoft.com/office/officeart/2018/2/layout/IconVerticalSolidList"/>
    <dgm:cxn modelId="{ACA80B07-3F07-4115-AF04-62704F39C46B}" type="presParOf" srcId="{CAB0807F-2AD1-43CA-8D54-E5A4BA893893}" destId="{10FC0A53-ACA9-49E6-A562-FE2D4DB8F8A8}" srcOrd="0" destOrd="0" presId="urn:microsoft.com/office/officeart/2018/2/layout/IconVerticalSolidList"/>
    <dgm:cxn modelId="{94C100E5-9F69-4D7E-B2AF-EB0C05910E1F}" type="presParOf" srcId="{CAB0807F-2AD1-43CA-8D54-E5A4BA893893}" destId="{6D5BB3D8-37D2-4B88-91F5-982F5EF4D453}" srcOrd="1" destOrd="0" presId="urn:microsoft.com/office/officeart/2018/2/layout/IconVerticalSolidList"/>
    <dgm:cxn modelId="{DB7D9234-ADD9-4B93-A40F-60734F9446BC}" type="presParOf" srcId="{CAB0807F-2AD1-43CA-8D54-E5A4BA893893}" destId="{6DF94C01-9A40-4DE7-9D46-9582DE9EA659}" srcOrd="2" destOrd="0" presId="urn:microsoft.com/office/officeart/2018/2/layout/IconVerticalSolidList"/>
    <dgm:cxn modelId="{9CDF14E2-D589-4E7C-A445-B2EAC9A01D5F}" type="presParOf" srcId="{CAB0807F-2AD1-43CA-8D54-E5A4BA893893}" destId="{1E21DD70-C45D-489B-86CF-A95D1B46F474}" srcOrd="3" destOrd="0" presId="urn:microsoft.com/office/officeart/2018/2/layout/IconVerticalSolidList"/>
    <dgm:cxn modelId="{A7734E6F-0317-47BA-A70B-D8D862CE7959}" type="presParOf" srcId="{68BF8070-AD32-486A-983E-C972883D47A0}" destId="{D8F8A296-0BBD-4270-BED0-E8618EBCC110}" srcOrd="3" destOrd="0" presId="urn:microsoft.com/office/officeart/2018/2/layout/IconVerticalSolidList"/>
    <dgm:cxn modelId="{09ED0379-B0EE-4F25-90C3-3F664673421C}" type="presParOf" srcId="{68BF8070-AD32-486A-983E-C972883D47A0}" destId="{09931491-562A-49C2-8F8F-0DC8FC7F5D70}" srcOrd="4" destOrd="0" presId="urn:microsoft.com/office/officeart/2018/2/layout/IconVerticalSolidList"/>
    <dgm:cxn modelId="{A8D37BCC-D537-4C65-A72B-F39746B08493}" type="presParOf" srcId="{09931491-562A-49C2-8F8F-0DC8FC7F5D70}" destId="{87ECBAEF-F994-4E6C-84DA-2500D954C5E0}" srcOrd="0" destOrd="0" presId="urn:microsoft.com/office/officeart/2018/2/layout/IconVerticalSolidList"/>
    <dgm:cxn modelId="{85B7572A-27CC-43DE-87FB-75459717E7A4}" type="presParOf" srcId="{09931491-562A-49C2-8F8F-0DC8FC7F5D70}" destId="{5DF791E3-B9A3-4C37-874B-14F6D5AF21B3}" srcOrd="1" destOrd="0" presId="urn:microsoft.com/office/officeart/2018/2/layout/IconVerticalSolidList"/>
    <dgm:cxn modelId="{D3F6276B-917B-4283-8A95-8CB2B0547D73}" type="presParOf" srcId="{09931491-562A-49C2-8F8F-0DC8FC7F5D70}" destId="{C1A8FDB5-9422-4DCC-83A8-E5A3B3C30D05}" srcOrd="2" destOrd="0" presId="urn:microsoft.com/office/officeart/2018/2/layout/IconVerticalSolidList"/>
    <dgm:cxn modelId="{E48273AA-91CC-417D-B6DF-8187910CE1BE}" type="presParOf" srcId="{09931491-562A-49C2-8F8F-0DC8FC7F5D70}" destId="{E2B42B65-663F-4621-A20B-7BF78E85A129}" srcOrd="3" destOrd="0" presId="urn:microsoft.com/office/officeart/2018/2/layout/IconVerticalSolidList"/>
    <dgm:cxn modelId="{026715B4-FF25-4155-94A1-D69C7F5745F7}" type="presParOf" srcId="{68BF8070-AD32-486A-983E-C972883D47A0}" destId="{5FFFEAF5-5AAA-4B8D-92C6-784436863B72}" srcOrd="5" destOrd="0" presId="urn:microsoft.com/office/officeart/2018/2/layout/IconVerticalSolidList"/>
    <dgm:cxn modelId="{AF4481B4-33E6-413F-A84A-816C6E226DA3}" type="presParOf" srcId="{68BF8070-AD32-486A-983E-C972883D47A0}" destId="{32676F58-FE70-4CD7-BB61-326719B88FD3}" srcOrd="6" destOrd="0" presId="urn:microsoft.com/office/officeart/2018/2/layout/IconVerticalSolidList"/>
    <dgm:cxn modelId="{0FC7876C-42B2-49AD-9E9C-2B1CB7AE660F}" type="presParOf" srcId="{32676F58-FE70-4CD7-BB61-326719B88FD3}" destId="{58F27049-EF0B-4262-8249-D7BD2C5C4119}" srcOrd="0" destOrd="0" presId="urn:microsoft.com/office/officeart/2018/2/layout/IconVerticalSolidList"/>
    <dgm:cxn modelId="{F1911B4D-D9B2-489B-8CB2-7B89C595CB6E}" type="presParOf" srcId="{32676F58-FE70-4CD7-BB61-326719B88FD3}" destId="{86002360-09E8-4E8B-90C1-1F8A07CFE150}" srcOrd="1" destOrd="0" presId="urn:microsoft.com/office/officeart/2018/2/layout/IconVerticalSolidList"/>
    <dgm:cxn modelId="{2E50F802-2AEE-4F36-803C-E8844CBB78BB}" type="presParOf" srcId="{32676F58-FE70-4CD7-BB61-326719B88FD3}" destId="{612343BA-2BD1-4667-9D35-1C4D738114B9}" srcOrd="2" destOrd="0" presId="urn:microsoft.com/office/officeart/2018/2/layout/IconVerticalSolidList"/>
    <dgm:cxn modelId="{8BA7BF14-C08B-48B9-95EF-42E7B875F456}" type="presParOf" srcId="{32676F58-FE70-4CD7-BB61-326719B88FD3}" destId="{3CBFCD40-DA35-48C3-8661-C0DDF82EFE74}" srcOrd="3" destOrd="0" presId="urn:microsoft.com/office/officeart/2018/2/layout/IconVerticalSolidList"/>
    <dgm:cxn modelId="{42946563-3989-429D-9622-C38434CB321E}" type="presParOf" srcId="{68BF8070-AD32-486A-983E-C972883D47A0}" destId="{2CDF7AD2-3552-4029-8583-50FAE399CAED}" srcOrd="7" destOrd="0" presId="urn:microsoft.com/office/officeart/2018/2/layout/IconVerticalSolidList"/>
    <dgm:cxn modelId="{601CD1C2-1F6B-4682-8570-B7D4A92FD39C}" type="presParOf" srcId="{68BF8070-AD32-486A-983E-C972883D47A0}" destId="{FB5C21B9-AD73-4203-8F32-9EE39226815A}" srcOrd="8" destOrd="0" presId="urn:microsoft.com/office/officeart/2018/2/layout/IconVerticalSolidList"/>
    <dgm:cxn modelId="{5E4BABD4-0D13-4356-9676-539BEB2C8BEC}" type="presParOf" srcId="{FB5C21B9-AD73-4203-8F32-9EE39226815A}" destId="{680821F4-7428-46AB-8140-676F5E5C0CFC}" srcOrd="0" destOrd="0" presId="urn:microsoft.com/office/officeart/2018/2/layout/IconVerticalSolidList"/>
    <dgm:cxn modelId="{5FB5771C-6A3F-44D6-955C-7EB2B51DC4DE}" type="presParOf" srcId="{FB5C21B9-AD73-4203-8F32-9EE39226815A}" destId="{DEA1B7EA-3EDF-4AF0-A92E-4CC3439C6A09}" srcOrd="1" destOrd="0" presId="urn:microsoft.com/office/officeart/2018/2/layout/IconVerticalSolidList"/>
    <dgm:cxn modelId="{0E2E32CD-B87F-4500-9D45-B968DA6F4549}" type="presParOf" srcId="{FB5C21B9-AD73-4203-8F32-9EE39226815A}" destId="{9A1D0C55-6BC0-4274-A799-08210606198C}" srcOrd="2" destOrd="0" presId="urn:microsoft.com/office/officeart/2018/2/layout/IconVerticalSolidList"/>
    <dgm:cxn modelId="{103BB79A-17BD-4579-A3ED-143BAC7379BF}" type="presParOf" srcId="{FB5C21B9-AD73-4203-8F32-9EE39226815A}" destId="{3ED63812-3BFE-45FC-BB89-652536DB27A7}" srcOrd="3" destOrd="0" presId="urn:microsoft.com/office/officeart/2018/2/layout/IconVerticalSolidList"/>
    <dgm:cxn modelId="{0712F0FE-17E1-4452-9EDE-E5B0B9499B18}" type="presParOf" srcId="{68BF8070-AD32-486A-983E-C972883D47A0}" destId="{226336D5-3D4D-4A42-920C-98BCF08291D3}" srcOrd="9" destOrd="0" presId="urn:microsoft.com/office/officeart/2018/2/layout/IconVerticalSolidList"/>
    <dgm:cxn modelId="{81638B6D-5CEC-4604-88C7-5F4C9FC73056}" type="presParOf" srcId="{68BF8070-AD32-486A-983E-C972883D47A0}" destId="{97A07B53-11C3-4882-BBFD-0E9F5ADE9A60}" srcOrd="10" destOrd="0" presId="urn:microsoft.com/office/officeart/2018/2/layout/IconVerticalSolidList"/>
    <dgm:cxn modelId="{619D7118-700B-4D59-94AD-81472ED0431B}" type="presParOf" srcId="{97A07B53-11C3-4882-BBFD-0E9F5ADE9A60}" destId="{9D849715-763B-4872-8015-8770022D0380}" srcOrd="0" destOrd="0" presId="urn:microsoft.com/office/officeart/2018/2/layout/IconVerticalSolidList"/>
    <dgm:cxn modelId="{0413C680-111D-4A13-AF7F-AA9D98D48498}" type="presParOf" srcId="{97A07B53-11C3-4882-BBFD-0E9F5ADE9A60}" destId="{25F4131F-B841-425C-878D-78DAF34D0A56}" srcOrd="1" destOrd="0" presId="urn:microsoft.com/office/officeart/2018/2/layout/IconVerticalSolidList"/>
    <dgm:cxn modelId="{CD68AE26-6C52-44B4-BBF7-3D7B36FBE02C}" type="presParOf" srcId="{97A07B53-11C3-4882-BBFD-0E9F5ADE9A60}" destId="{C1742A57-8687-471B-8619-95B8233B746A}" srcOrd="2" destOrd="0" presId="urn:microsoft.com/office/officeart/2018/2/layout/IconVerticalSolidList"/>
    <dgm:cxn modelId="{CB2A5394-D314-41C0-864F-DFA858DDD6F8}" type="presParOf" srcId="{97A07B53-11C3-4882-BBFD-0E9F5ADE9A60}" destId="{01AC115E-4222-4A5E-BC64-0A7E3A29B44E}" srcOrd="3" destOrd="0" presId="urn:microsoft.com/office/officeart/2018/2/layout/IconVerticalSolidList"/>
    <dgm:cxn modelId="{02582418-7755-477E-9DD1-56E2A22A7BF1}" type="presParOf" srcId="{68BF8070-AD32-486A-983E-C972883D47A0}" destId="{4A21F66F-521D-49CF-9A4E-E89E17ACB8C2}" srcOrd="11" destOrd="0" presId="urn:microsoft.com/office/officeart/2018/2/layout/IconVerticalSolidList"/>
    <dgm:cxn modelId="{B798471C-6CF7-4268-A6E9-64A87504D4DE}" type="presParOf" srcId="{68BF8070-AD32-486A-983E-C972883D47A0}" destId="{990C2DF2-A1F6-45D8-9E04-AB12C0B1B975}" srcOrd="12" destOrd="0" presId="urn:microsoft.com/office/officeart/2018/2/layout/IconVerticalSolidList"/>
    <dgm:cxn modelId="{7913BDEE-6AD7-468F-BBAA-A1E1F78D226C}" type="presParOf" srcId="{990C2DF2-A1F6-45D8-9E04-AB12C0B1B975}" destId="{86703B23-7C09-4A99-8BA8-EACA47B601F8}" srcOrd="0" destOrd="0" presId="urn:microsoft.com/office/officeart/2018/2/layout/IconVerticalSolidList"/>
    <dgm:cxn modelId="{AA7A836B-94A1-44EF-BE67-EBB648E231F3}" type="presParOf" srcId="{990C2DF2-A1F6-45D8-9E04-AB12C0B1B975}" destId="{1BD8A7AF-6891-4C16-BE99-B851C9AAFB0C}" srcOrd="1" destOrd="0" presId="urn:microsoft.com/office/officeart/2018/2/layout/IconVerticalSolidList"/>
    <dgm:cxn modelId="{1FEC474C-A2E7-4D75-9FE2-8CF2A3CE5C73}" type="presParOf" srcId="{990C2DF2-A1F6-45D8-9E04-AB12C0B1B975}" destId="{D7115FBB-9CBD-4E5E-A8FA-DA197B1BEED7}" srcOrd="2" destOrd="0" presId="urn:microsoft.com/office/officeart/2018/2/layout/IconVerticalSolidList"/>
    <dgm:cxn modelId="{23E1BEAF-B61D-483C-9B43-E9DBDD12DF54}" type="presParOf" srcId="{990C2DF2-A1F6-45D8-9E04-AB12C0B1B975}" destId="{F52D27D8-BE6B-4EF8-A681-F5E2A1E0AFBE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252ADA-09EA-4D84-BB5B-F7C3923D3315}">
      <dsp:nvSpPr>
        <dsp:cNvPr id="0" name=""/>
        <dsp:cNvSpPr/>
      </dsp:nvSpPr>
      <dsp:spPr>
        <a:xfrm>
          <a:off x="0" y="2297"/>
          <a:ext cx="6900512" cy="1164535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D00FB25-6239-4577-ABCB-D17D0C5BB0BB}">
      <dsp:nvSpPr>
        <dsp:cNvPr id="0" name=""/>
        <dsp:cNvSpPr/>
      </dsp:nvSpPr>
      <dsp:spPr>
        <a:xfrm>
          <a:off x="352272" y="264318"/>
          <a:ext cx="640494" cy="64049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2C2868-CE4D-49CD-B269-8FB6FDA43633}">
      <dsp:nvSpPr>
        <dsp:cNvPr id="0" name=""/>
        <dsp:cNvSpPr/>
      </dsp:nvSpPr>
      <dsp:spPr>
        <a:xfrm>
          <a:off x="1345038" y="229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2016: the estimated prevalence of CVDs in India was estimated to be 54.5 million</a:t>
          </a:r>
          <a:endParaRPr lang="en-US" sz="1900" kern="1200"/>
        </a:p>
      </dsp:txBody>
      <dsp:txXfrm>
        <a:off x="1345038" y="2297"/>
        <a:ext cx="5555473" cy="1164535"/>
      </dsp:txXfrm>
    </dsp:sp>
    <dsp:sp modelId="{877D28AB-2DB0-45CD-B0A2-5BA28EE71D3D}">
      <dsp:nvSpPr>
        <dsp:cNvPr id="0" name=""/>
        <dsp:cNvSpPr/>
      </dsp:nvSpPr>
      <dsp:spPr>
        <a:xfrm>
          <a:off x="0" y="1457967"/>
          <a:ext cx="6900512" cy="1164535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ECD517-D707-4A08-98D2-DEE703F2CEAF}">
      <dsp:nvSpPr>
        <dsp:cNvPr id="0" name=""/>
        <dsp:cNvSpPr/>
      </dsp:nvSpPr>
      <dsp:spPr>
        <a:xfrm>
          <a:off x="352272" y="1719988"/>
          <a:ext cx="640494" cy="64049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0B62B3-84E6-4422-B54B-D4F7D2561EF3}">
      <dsp:nvSpPr>
        <dsp:cNvPr id="0" name=""/>
        <dsp:cNvSpPr/>
      </dsp:nvSpPr>
      <dsp:spPr>
        <a:xfrm>
          <a:off x="1345038" y="145796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0" i="0" kern="1200"/>
            <a:t>One in 4 deaths in India are because of CVDs with ischemic heart disease with stroke responsible for &gt;80%</a:t>
          </a:r>
          <a:endParaRPr lang="en-US" sz="1900" kern="1200"/>
        </a:p>
      </dsp:txBody>
      <dsp:txXfrm>
        <a:off x="1345038" y="1457967"/>
        <a:ext cx="5555473" cy="1164535"/>
      </dsp:txXfrm>
    </dsp:sp>
    <dsp:sp modelId="{9A2D9614-3710-48F2-8345-206ADA24BA46}">
      <dsp:nvSpPr>
        <dsp:cNvPr id="0" name=""/>
        <dsp:cNvSpPr/>
      </dsp:nvSpPr>
      <dsp:spPr>
        <a:xfrm>
          <a:off x="0" y="2913637"/>
          <a:ext cx="6900512" cy="116453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0578349-74EE-4621-83E3-42785431E8FD}">
      <dsp:nvSpPr>
        <dsp:cNvPr id="0" name=""/>
        <dsp:cNvSpPr/>
      </dsp:nvSpPr>
      <dsp:spPr>
        <a:xfrm>
          <a:off x="352272" y="3175658"/>
          <a:ext cx="640494" cy="64049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F71175-43CB-4030-96E4-BBBCFF157315}">
      <dsp:nvSpPr>
        <dsp:cNvPr id="0" name=""/>
        <dsp:cNvSpPr/>
      </dsp:nvSpPr>
      <dsp:spPr>
        <a:xfrm>
          <a:off x="1345038" y="2913637"/>
          <a:ext cx="5555473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Annually, 300000 cardiac procedures are performed in India, i.e. 1 per 4700 people</a:t>
          </a:r>
        </a:p>
      </dsp:txBody>
      <dsp:txXfrm>
        <a:off x="1345038" y="2913637"/>
        <a:ext cx="5555473" cy="1164535"/>
      </dsp:txXfrm>
    </dsp:sp>
    <dsp:sp modelId="{0AF0A860-8776-4CD5-9F2D-E452B7671731}">
      <dsp:nvSpPr>
        <dsp:cNvPr id="0" name=""/>
        <dsp:cNvSpPr/>
      </dsp:nvSpPr>
      <dsp:spPr>
        <a:xfrm>
          <a:off x="0" y="4369307"/>
          <a:ext cx="6900512" cy="1164535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A82428-6C50-4627-9805-D0930C389C06}">
      <dsp:nvSpPr>
        <dsp:cNvPr id="0" name=""/>
        <dsp:cNvSpPr/>
      </dsp:nvSpPr>
      <dsp:spPr>
        <a:xfrm>
          <a:off x="352272" y="4631327"/>
          <a:ext cx="640494" cy="64049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075CC9-45BB-484D-B3D6-5670D7E8EDEE}">
      <dsp:nvSpPr>
        <dsp:cNvPr id="0" name=""/>
        <dsp:cNvSpPr/>
      </dsp:nvSpPr>
      <dsp:spPr>
        <a:xfrm>
          <a:off x="1345038" y="4369307"/>
          <a:ext cx="3105230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US: 900000 for a 300 Mn population i.e. 1 per 300 people</a:t>
          </a:r>
        </a:p>
      </dsp:txBody>
      <dsp:txXfrm>
        <a:off x="1345038" y="4369307"/>
        <a:ext cx="3105230" cy="1164535"/>
      </dsp:txXfrm>
    </dsp:sp>
    <dsp:sp modelId="{61A3633A-9986-411E-B93C-6DAF93458723}">
      <dsp:nvSpPr>
        <dsp:cNvPr id="0" name=""/>
        <dsp:cNvSpPr/>
      </dsp:nvSpPr>
      <dsp:spPr>
        <a:xfrm>
          <a:off x="4450269" y="4369307"/>
          <a:ext cx="2450242" cy="11645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247" tIns="123247" rIns="123247" bIns="123247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Indian cardiac care procedures can grow to 4.2 million/year</a:t>
          </a:r>
        </a:p>
      </dsp:txBody>
      <dsp:txXfrm>
        <a:off x="4450269" y="4369307"/>
        <a:ext cx="2450242" cy="116453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84BF428-4717-45BF-BCE2-2893F40F28AA}">
      <dsp:nvSpPr>
        <dsp:cNvPr id="0" name=""/>
        <dsp:cNvSpPr/>
      </dsp:nvSpPr>
      <dsp:spPr>
        <a:xfrm>
          <a:off x="212335" y="1507711"/>
          <a:ext cx="1335915" cy="133591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AE2DA7B-FD29-4445-9DFC-E0A450CA029E}">
      <dsp:nvSpPr>
        <dsp:cNvPr id="0" name=""/>
        <dsp:cNvSpPr/>
      </dsp:nvSpPr>
      <dsp:spPr>
        <a:xfrm>
          <a:off x="492877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D88323-2939-4406-8ADA-7DE407D22506}">
      <dsp:nvSpPr>
        <dsp:cNvPr id="0" name=""/>
        <dsp:cNvSpPr/>
      </dsp:nvSpPr>
      <dsp:spPr>
        <a:xfrm>
          <a:off x="1834517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Unattended monitoring &amp; reduced workload</a:t>
          </a:r>
        </a:p>
      </dsp:txBody>
      <dsp:txXfrm>
        <a:off x="1834517" y="1507711"/>
        <a:ext cx="3148942" cy="1335915"/>
      </dsp:txXfrm>
    </dsp:sp>
    <dsp:sp modelId="{64188DA3-CBEB-4C7D-96C2-FA1B5F4012A9}">
      <dsp:nvSpPr>
        <dsp:cNvPr id="0" name=""/>
        <dsp:cNvSpPr/>
      </dsp:nvSpPr>
      <dsp:spPr>
        <a:xfrm>
          <a:off x="5532139" y="1507711"/>
          <a:ext cx="1335915" cy="133591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29C34E-415E-4953-9E2C-4C0536157CBC}">
      <dsp:nvSpPr>
        <dsp:cNvPr id="0" name=""/>
        <dsp:cNvSpPr/>
      </dsp:nvSpPr>
      <dsp:spPr>
        <a:xfrm>
          <a:off x="5812681" y="1788253"/>
          <a:ext cx="774830" cy="77483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60C7D7-FFFF-449A-ABB3-5956D6E21ED7}">
      <dsp:nvSpPr>
        <dsp:cNvPr id="0" name=""/>
        <dsp:cNvSpPr/>
      </dsp:nvSpPr>
      <dsp:spPr>
        <a:xfrm>
          <a:off x="7154322" y="1507711"/>
          <a:ext cx="3148942" cy="13359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Continuous monitoring</a:t>
          </a:r>
        </a:p>
      </dsp:txBody>
      <dsp:txXfrm>
        <a:off x="7154322" y="1507711"/>
        <a:ext cx="3148942" cy="133591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2387CA-29A8-4E69-ADD7-00409432D6A1}">
      <dsp:nvSpPr>
        <dsp:cNvPr id="0" name=""/>
        <dsp:cNvSpPr/>
      </dsp:nvSpPr>
      <dsp:spPr>
        <a:xfrm>
          <a:off x="0" y="4307"/>
          <a:ext cx="6364224" cy="91753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52C9CF-3277-4CEC-AB84-7FD2E2BA66F4}">
      <dsp:nvSpPr>
        <dsp:cNvPr id="0" name=""/>
        <dsp:cNvSpPr/>
      </dsp:nvSpPr>
      <dsp:spPr>
        <a:xfrm>
          <a:off x="277554" y="210753"/>
          <a:ext cx="504644" cy="50464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62F9C03-B846-42C8-8277-780F4B034B95}">
      <dsp:nvSpPr>
        <dsp:cNvPr id="0" name=""/>
        <dsp:cNvSpPr/>
      </dsp:nvSpPr>
      <dsp:spPr>
        <a:xfrm>
          <a:off x="1059754" y="430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Does the device fit into your current cardiac protocol?</a:t>
          </a:r>
        </a:p>
      </dsp:txBody>
      <dsp:txXfrm>
        <a:off x="1059754" y="4307"/>
        <a:ext cx="5304469" cy="917536"/>
      </dsp:txXfrm>
    </dsp:sp>
    <dsp:sp modelId="{B6605F87-7CA6-405B-8185-B8D74C2EA690}">
      <dsp:nvSpPr>
        <dsp:cNvPr id="0" name=""/>
        <dsp:cNvSpPr/>
      </dsp:nvSpPr>
      <dsp:spPr>
        <a:xfrm>
          <a:off x="0" y="1151227"/>
          <a:ext cx="6364224" cy="917536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2E0652-9724-4380-A729-C837C813F06B}">
      <dsp:nvSpPr>
        <dsp:cNvPr id="0" name=""/>
        <dsp:cNvSpPr/>
      </dsp:nvSpPr>
      <dsp:spPr>
        <a:xfrm>
          <a:off x="277554" y="1357673"/>
          <a:ext cx="504644" cy="50464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A318F9-B94D-420E-988C-637463F5DBA3}">
      <dsp:nvSpPr>
        <dsp:cNvPr id="0" name=""/>
        <dsp:cNvSpPr/>
      </dsp:nvSpPr>
      <dsp:spPr>
        <a:xfrm>
          <a:off x="1059754" y="115122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Do you face challenges in efficiently managing ECGs? </a:t>
          </a:r>
        </a:p>
      </dsp:txBody>
      <dsp:txXfrm>
        <a:off x="1059754" y="1151227"/>
        <a:ext cx="5304469" cy="917536"/>
      </dsp:txXfrm>
    </dsp:sp>
    <dsp:sp modelId="{845D6E3E-5946-4328-BDC4-C6FB05CD4A3A}">
      <dsp:nvSpPr>
        <dsp:cNvPr id="0" name=""/>
        <dsp:cNvSpPr/>
      </dsp:nvSpPr>
      <dsp:spPr>
        <a:xfrm>
          <a:off x="0" y="2298147"/>
          <a:ext cx="6364224" cy="91753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234DD1-FE41-4B99-B6AD-238B1794CC87}">
      <dsp:nvSpPr>
        <dsp:cNvPr id="0" name=""/>
        <dsp:cNvSpPr/>
      </dsp:nvSpPr>
      <dsp:spPr>
        <a:xfrm>
          <a:off x="277554" y="2504593"/>
          <a:ext cx="504644" cy="50464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DA6C22-0274-4495-A249-7CF20C7B9403}">
      <dsp:nvSpPr>
        <dsp:cNvPr id="0" name=""/>
        <dsp:cNvSpPr/>
      </dsp:nvSpPr>
      <dsp:spPr>
        <a:xfrm>
          <a:off x="1059754" y="2298147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Can you identify if there are non-cardio ECGs this device can provide?</a:t>
          </a:r>
        </a:p>
      </dsp:txBody>
      <dsp:txXfrm>
        <a:off x="1059754" y="2298147"/>
        <a:ext cx="5304469" cy="917536"/>
      </dsp:txXfrm>
    </dsp:sp>
    <dsp:sp modelId="{9BC5D3D6-5811-49D4-99E5-E1752FC0C842}">
      <dsp:nvSpPr>
        <dsp:cNvPr id="0" name=""/>
        <dsp:cNvSpPr/>
      </dsp:nvSpPr>
      <dsp:spPr>
        <a:xfrm>
          <a:off x="0" y="3445068"/>
          <a:ext cx="6364224" cy="917536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9BFB5D-49D8-4666-8DFA-3BAB0E6EA407}">
      <dsp:nvSpPr>
        <dsp:cNvPr id="0" name=""/>
        <dsp:cNvSpPr/>
      </dsp:nvSpPr>
      <dsp:spPr>
        <a:xfrm>
          <a:off x="277554" y="3651513"/>
          <a:ext cx="504644" cy="50464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A06BA55-4A47-407C-84D7-E2140A99A87F}">
      <dsp:nvSpPr>
        <dsp:cNvPr id="0" name=""/>
        <dsp:cNvSpPr/>
      </dsp:nvSpPr>
      <dsp:spPr>
        <a:xfrm>
          <a:off x="1059754" y="344506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How interventional should the device be? How critical are the post-op scenarios?</a:t>
          </a:r>
        </a:p>
      </dsp:txBody>
      <dsp:txXfrm>
        <a:off x="1059754" y="3445068"/>
        <a:ext cx="5304469" cy="917536"/>
      </dsp:txXfrm>
    </dsp:sp>
    <dsp:sp modelId="{C4EB5EA6-EB0E-4513-A949-A99ED4F1E9F5}">
      <dsp:nvSpPr>
        <dsp:cNvPr id="0" name=""/>
        <dsp:cNvSpPr/>
      </dsp:nvSpPr>
      <dsp:spPr>
        <a:xfrm>
          <a:off x="0" y="4591988"/>
          <a:ext cx="6364224" cy="91753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C71275-A0C3-4DD2-ABB5-38A06A0D440A}">
      <dsp:nvSpPr>
        <dsp:cNvPr id="0" name=""/>
        <dsp:cNvSpPr/>
      </dsp:nvSpPr>
      <dsp:spPr>
        <a:xfrm>
          <a:off x="277554" y="4798433"/>
          <a:ext cx="504644" cy="50464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FDA0D86-84DF-481C-A83D-88ACC7C147DE}">
      <dsp:nvSpPr>
        <dsp:cNvPr id="0" name=""/>
        <dsp:cNvSpPr/>
      </dsp:nvSpPr>
      <dsp:spPr>
        <a:xfrm>
          <a:off x="1059754" y="4591988"/>
          <a:ext cx="5304469" cy="9175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106" tIns="97106" rIns="97106" bIns="9710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What framework or tech do you currently use for post-op management?</a:t>
          </a:r>
        </a:p>
      </dsp:txBody>
      <dsp:txXfrm>
        <a:off x="1059754" y="4591988"/>
        <a:ext cx="5304469" cy="9175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BEF52D-FAC8-4132-9F6B-125AB2BE6730}">
      <dsp:nvSpPr>
        <dsp:cNvPr id="0" name=""/>
        <dsp:cNvSpPr/>
      </dsp:nvSpPr>
      <dsp:spPr>
        <a:xfrm>
          <a:off x="646659" y="138438"/>
          <a:ext cx="624902" cy="62490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4A52E9B-6AC4-41C4-8976-88EDC93BE325}">
      <dsp:nvSpPr>
        <dsp:cNvPr id="0" name=""/>
        <dsp:cNvSpPr/>
      </dsp:nvSpPr>
      <dsp:spPr>
        <a:xfrm>
          <a:off x="264774" y="1043033"/>
          <a:ext cx="1388671" cy="959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$500k upfront R&amp;D cost</a:t>
          </a:r>
        </a:p>
      </dsp:txBody>
      <dsp:txXfrm>
        <a:off x="264774" y="1043033"/>
        <a:ext cx="1388671" cy="959051"/>
      </dsp:txXfrm>
    </dsp:sp>
    <dsp:sp modelId="{5A68BBF1-8C0A-4C5E-8686-AB559E40408B}">
      <dsp:nvSpPr>
        <dsp:cNvPr id="0" name=""/>
        <dsp:cNvSpPr/>
      </dsp:nvSpPr>
      <dsp:spPr>
        <a:xfrm>
          <a:off x="2278348" y="138438"/>
          <a:ext cx="624902" cy="62490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F68AD8C-2BE2-4710-BC8E-3F1FFC121C23}">
      <dsp:nvSpPr>
        <dsp:cNvPr id="0" name=""/>
        <dsp:cNvSpPr/>
      </dsp:nvSpPr>
      <dsp:spPr>
        <a:xfrm>
          <a:off x="1896464" y="1043033"/>
          <a:ext cx="1388671" cy="959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Low order volume</a:t>
          </a:r>
        </a:p>
      </dsp:txBody>
      <dsp:txXfrm>
        <a:off x="1896464" y="1043033"/>
        <a:ext cx="1388671" cy="959051"/>
      </dsp:txXfrm>
    </dsp:sp>
    <dsp:sp modelId="{52CBCD00-F665-4719-A78F-AEA3FD27443F}">
      <dsp:nvSpPr>
        <dsp:cNvPr id="0" name=""/>
        <dsp:cNvSpPr/>
      </dsp:nvSpPr>
      <dsp:spPr>
        <a:xfrm>
          <a:off x="3910038" y="138438"/>
          <a:ext cx="624902" cy="62490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06BA38-1CF2-4FBC-A792-6441DE491288}">
      <dsp:nvSpPr>
        <dsp:cNvPr id="0" name=""/>
        <dsp:cNvSpPr/>
      </dsp:nvSpPr>
      <dsp:spPr>
        <a:xfrm>
          <a:off x="3528153" y="1043033"/>
          <a:ext cx="1388671" cy="959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strike="sngStrike" kern="1200" dirty="0"/>
            <a:t>Higher comparable value with Philips/GE</a:t>
          </a:r>
        </a:p>
      </dsp:txBody>
      <dsp:txXfrm>
        <a:off x="3528153" y="1043033"/>
        <a:ext cx="1388671" cy="959051"/>
      </dsp:txXfrm>
    </dsp:sp>
    <dsp:sp modelId="{65D1D700-5234-4F4D-8D2A-E27A42BBC269}">
      <dsp:nvSpPr>
        <dsp:cNvPr id="0" name=""/>
        <dsp:cNvSpPr/>
      </dsp:nvSpPr>
      <dsp:spPr>
        <a:xfrm>
          <a:off x="1462504" y="2349252"/>
          <a:ext cx="624902" cy="62490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030C58-31D7-4957-8467-4862C4B449BE}">
      <dsp:nvSpPr>
        <dsp:cNvPr id="0" name=""/>
        <dsp:cNvSpPr/>
      </dsp:nvSpPr>
      <dsp:spPr>
        <a:xfrm>
          <a:off x="1080619" y="3253847"/>
          <a:ext cx="1388671" cy="959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NH in 2018 with 1000 beds, had daily 40 procedures</a:t>
          </a:r>
          <a:r>
            <a:rPr lang="en-US" sz="1600" kern="1200" baseline="30000"/>
            <a:t>4</a:t>
          </a:r>
          <a:endParaRPr lang="en-US" sz="1600" kern="1200"/>
        </a:p>
      </dsp:txBody>
      <dsp:txXfrm>
        <a:off x="1080619" y="3253847"/>
        <a:ext cx="1388671" cy="959051"/>
      </dsp:txXfrm>
    </dsp:sp>
    <dsp:sp modelId="{4CC967F8-5E50-49CA-9948-6E3B434BC44F}">
      <dsp:nvSpPr>
        <dsp:cNvPr id="0" name=""/>
        <dsp:cNvSpPr/>
      </dsp:nvSpPr>
      <dsp:spPr>
        <a:xfrm>
          <a:off x="3094193" y="2349252"/>
          <a:ext cx="624902" cy="624902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8CA13-F94C-494D-ABA9-E450398458C7}">
      <dsp:nvSpPr>
        <dsp:cNvPr id="0" name=""/>
        <dsp:cNvSpPr/>
      </dsp:nvSpPr>
      <dsp:spPr>
        <a:xfrm>
          <a:off x="2712308" y="3253847"/>
          <a:ext cx="1388671" cy="95905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At the same efficiency level, daily procedures  ~180 over 4500 beds</a:t>
          </a:r>
        </a:p>
      </dsp:txBody>
      <dsp:txXfrm>
        <a:off x="2712308" y="3253847"/>
        <a:ext cx="1388671" cy="959051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5513B0-18A8-4C0F-874A-4AEC97A19A24}">
      <dsp:nvSpPr>
        <dsp:cNvPr id="0" name=""/>
        <dsp:cNvSpPr/>
      </dsp:nvSpPr>
      <dsp:spPr>
        <a:xfrm>
          <a:off x="2157000" y="842293"/>
          <a:ext cx="4654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5461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77329" y="885532"/>
        <a:ext cx="24803" cy="4960"/>
      </dsp:txXfrm>
    </dsp:sp>
    <dsp:sp modelId="{42462E58-98A2-467E-A93D-1682BE5C86A8}">
      <dsp:nvSpPr>
        <dsp:cNvPr id="0" name=""/>
        <dsp:cNvSpPr/>
      </dsp:nvSpPr>
      <dsp:spPr>
        <a:xfrm>
          <a:off x="2013" y="240976"/>
          <a:ext cx="2156787" cy="12940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684" tIns="110934" rIns="105684" bIns="1109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No. of ICU beds in India : 85000</a:t>
          </a:r>
          <a:r>
            <a:rPr lang="en-US" sz="1700" b="1" kern="1200" baseline="30000" dirty="0">
              <a:solidFill>
                <a:srgbClr val="FF0000"/>
              </a:solidFill>
            </a:rPr>
            <a:t>1</a:t>
          </a:r>
          <a:endParaRPr lang="en-US" sz="1700" b="1" kern="1200" dirty="0"/>
        </a:p>
      </dsp:txBody>
      <dsp:txXfrm>
        <a:off x="2013" y="240976"/>
        <a:ext cx="2156787" cy="1294072"/>
      </dsp:txXfrm>
    </dsp:sp>
    <dsp:sp modelId="{8D671F84-E415-4F6B-BD1E-2839ED54F2C4}">
      <dsp:nvSpPr>
        <dsp:cNvPr id="0" name=""/>
        <dsp:cNvSpPr/>
      </dsp:nvSpPr>
      <dsp:spPr>
        <a:xfrm>
          <a:off x="4809849" y="842293"/>
          <a:ext cx="4654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546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0178" y="885532"/>
        <a:ext cx="24803" cy="4960"/>
      </dsp:txXfrm>
    </dsp:sp>
    <dsp:sp modelId="{1A1AC287-3853-442D-91C6-E365491D05A3}">
      <dsp:nvSpPr>
        <dsp:cNvPr id="0" name=""/>
        <dsp:cNvSpPr/>
      </dsp:nvSpPr>
      <dsp:spPr>
        <a:xfrm>
          <a:off x="2654862" y="240976"/>
          <a:ext cx="2156787" cy="12940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684" tIns="110934" rIns="105684" bIns="1109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No. of CCU beds (20%): 17000</a:t>
          </a:r>
        </a:p>
      </dsp:txBody>
      <dsp:txXfrm>
        <a:off x="2654862" y="240976"/>
        <a:ext cx="2156787" cy="1294072"/>
      </dsp:txXfrm>
    </dsp:sp>
    <dsp:sp modelId="{9810199A-A16C-4142-94B0-0878C6184CB2}">
      <dsp:nvSpPr>
        <dsp:cNvPr id="0" name=""/>
        <dsp:cNvSpPr/>
      </dsp:nvSpPr>
      <dsp:spPr>
        <a:xfrm>
          <a:off x="7462697" y="842293"/>
          <a:ext cx="4654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5461" y="45720"/>
              </a:lnTo>
            </a:path>
          </a:pathLst>
        </a:custGeom>
        <a:noFill/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683027" y="885532"/>
        <a:ext cx="24803" cy="4960"/>
      </dsp:txXfrm>
    </dsp:sp>
    <dsp:sp modelId="{3CEFDA13-0C28-4C72-85FA-83BF22572380}">
      <dsp:nvSpPr>
        <dsp:cNvPr id="0" name=""/>
        <dsp:cNvSpPr/>
      </dsp:nvSpPr>
      <dsp:spPr>
        <a:xfrm>
          <a:off x="5307710" y="240976"/>
          <a:ext cx="2156787" cy="12940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684" tIns="110934" rIns="105684" bIns="1109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TAM for </a:t>
          </a:r>
          <a:r>
            <a:rPr lang="en-US" sz="1700" b="1" kern="1200" dirty="0"/>
            <a:t>all</a:t>
          </a:r>
          <a:r>
            <a:rPr lang="en-US" sz="1700" kern="1200" dirty="0"/>
            <a:t> CCU beds @ Rs. 75k: </a:t>
          </a:r>
          <a:r>
            <a:rPr lang="en-US" sz="1700" b="1" kern="1200" dirty="0"/>
            <a:t>$14.6 Mn</a:t>
          </a:r>
          <a:endParaRPr lang="en-US" sz="1700" kern="1200" dirty="0"/>
        </a:p>
      </dsp:txBody>
      <dsp:txXfrm>
        <a:off x="5307710" y="240976"/>
        <a:ext cx="2156787" cy="1294072"/>
      </dsp:txXfrm>
    </dsp:sp>
    <dsp:sp modelId="{B2A26448-1C00-48E3-B3BD-CCC1E473CE35}">
      <dsp:nvSpPr>
        <dsp:cNvPr id="0" name=""/>
        <dsp:cNvSpPr/>
      </dsp:nvSpPr>
      <dsp:spPr>
        <a:xfrm>
          <a:off x="1080407" y="1533249"/>
          <a:ext cx="7958545" cy="465461"/>
        </a:xfrm>
        <a:custGeom>
          <a:avLst/>
          <a:gdLst/>
          <a:ahLst/>
          <a:cxnLst/>
          <a:rect l="0" t="0" r="0" b="0"/>
          <a:pathLst>
            <a:path>
              <a:moveTo>
                <a:pt x="7958545" y="0"/>
              </a:moveTo>
              <a:lnTo>
                <a:pt x="7958545" y="249830"/>
              </a:lnTo>
              <a:lnTo>
                <a:pt x="0" y="249830"/>
              </a:lnTo>
              <a:lnTo>
                <a:pt x="0" y="465461"/>
              </a:lnTo>
            </a:path>
          </a:pathLst>
        </a:custGeom>
        <a:noFill/>
        <a:ln w="127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4860330" y="1763499"/>
        <a:ext cx="398699" cy="4960"/>
      </dsp:txXfrm>
    </dsp:sp>
    <dsp:sp modelId="{8F04B7E1-6E41-4AA2-A4B9-E712C1887038}">
      <dsp:nvSpPr>
        <dsp:cNvPr id="0" name=""/>
        <dsp:cNvSpPr/>
      </dsp:nvSpPr>
      <dsp:spPr>
        <a:xfrm>
          <a:off x="7960559" y="240976"/>
          <a:ext cx="2156787" cy="1294072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684" tIns="110934" rIns="105684" bIns="1109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HW market share @ 20%: 3400 beds</a:t>
          </a:r>
        </a:p>
      </dsp:txBody>
      <dsp:txXfrm>
        <a:off x="7960559" y="240976"/>
        <a:ext cx="2156787" cy="1294072"/>
      </dsp:txXfrm>
    </dsp:sp>
    <dsp:sp modelId="{DE50495F-1A21-4336-BD4A-F12017688CBE}">
      <dsp:nvSpPr>
        <dsp:cNvPr id="0" name=""/>
        <dsp:cNvSpPr/>
      </dsp:nvSpPr>
      <dsp:spPr>
        <a:xfrm>
          <a:off x="2157000" y="2632426"/>
          <a:ext cx="4654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5461" y="45720"/>
              </a:lnTo>
            </a:path>
          </a:pathLst>
        </a:custGeom>
        <a:noFill/>
        <a:ln w="1270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377329" y="2675666"/>
        <a:ext cx="24803" cy="4960"/>
      </dsp:txXfrm>
    </dsp:sp>
    <dsp:sp modelId="{13723B4F-55D6-4796-9675-28581A1D6594}">
      <dsp:nvSpPr>
        <dsp:cNvPr id="0" name=""/>
        <dsp:cNvSpPr/>
      </dsp:nvSpPr>
      <dsp:spPr>
        <a:xfrm>
          <a:off x="2013" y="2031110"/>
          <a:ext cx="2156787" cy="129407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684" tIns="110934" rIns="105684" bIns="1109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SAM @ Rs. 75000 - $2.9M </a:t>
          </a:r>
        </a:p>
      </dsp:txBody>
      <dsp:txXfrm>
        <a:off x="2013" y="2031110"/>
        <a:ext cx="2156787" cy="1294072"/>
      </dsp:txXfrm>
    </dsp:sp>
    <dsp:sp modelId="{49593825-C723-4642-9C76-558E9D4F79EE}">
      <dsp:nvSpPr>
        <dsp:cNvPr id="0" name=""/>
        <dsp:cNvSpPr/>
      </dsp:nvSpPr>
      <dsp:spPr>
        <a:xfrm>
          <a:off x="4809849" y="2632426"/>
          <a:ext cx="4654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5461" y="45720"/>
              </a:lnTo>
            </a:path>
          </a:pathLst>
        </a:cu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30178" y="2675666"/>
        <a:ext cx="24803" cy="4960"/>
      </dsp:txXfrm>
    </dsp:sp>
    <dsp:sp modelId="{6426E6A1-3DB8-4F6F-BFEE-AA86E8D1863A}">
      <dsp:nvSpPr>
        <dsp:cNvPr id="0" name=""/>
        <dsp:cNvSpPr/>
      </dsp:nvSpPr>
      <dsp:spPr>
        <a:xfrm>
          <a:off x="2654862" y="2031110"/>
          <a:ext cx="2156787" cy="129407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684" tIns="110934" rIns="105684" bIns="1109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Y1 SOM @ 700 devices/ ~25 hospitals: $670k</a:t>
          </a:r>
        </a:p>
      </dsp:txBody>
      <dsp:txXfrm>
        <a:off x="2654862" y="2031110"/>
        <a:ext cx="2156787" cy="1294072"/>
      </dsp:txXfrm>
    </dsp:sp>
    <dsp:sp modelId="{612BD11C-445F-4B7B-A092-198CDCDE471F}">
      <dsp:nvSpPr>
        <dsp:cNvPr id="0" name=""/>
        <dsp:cNvSpPr/>
      </dsp:nvSpPr>
      <dsp:spPr>
        <a:xfrm>
          <a:off x="7462697" y="2632426"/>
          <a:ext cx="465461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65461" y="45720"/>
              </a:lnTo>
            </a:path>
          </a:pathLst>
        </a:custGeom>
        <a:noFill/>
        <a:ln w="127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683027" y="2675666"/>
        <a:ext cx="24803" cy="4960"/>
      </dsp:txXfrm>
    </dsp:sp>
    <dsp:sp modelId="{ADE30304-FE3B-436C-B2AE-7B2725F8FC5A}">
      <dsp:nvSpPr>
        <dsp:cNvPr id="0" name=""/>
        <dsp:cNvSpPr/>
      </dsp:nvSpPr>
      <dsp:spPr>
        <a:xfrm>
          <a:off x="5307710" y="2031110"/>
          <a:ext cx="2156787" cy="1294072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684" tIns="110934" rIns="105684" bIns="110934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3Y STRAP revenue @ 30% growth: $2.4Mn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[~2800 devices, ~95 hospitals]</a:t>
          </a:r>
        </a:p>
      </dsp:txBody>
      <dsp:txXfrm>
        <a:off x="5307710" y="2031110"/>
        <a:ext cx="2156787" cy="1294072"/>
      </dsp:txXfrm>
    </dsp:sp>
    <dsp:sp modelId="{BEAF5384-0750-4EDE-AB02-ED1A2BAC4623}">
      <dsp:nvSpPr>
        <dsp:cNvPr id="0" name=""/>
        <dsp:cNvSpPr/>
      </dsp:nvSpPr>
      <dsp:spPr>
        <a:xfrm>
          <a:off x="7960559" y="2031110"/>
          <a:ext cx="2156787" cy="129407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5684" tIns="110934" rIns="105684" bIns="110934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If 2-year cloud costs included @Rs. 100k: $3.2 Mn </a:t>
          </a:r>
        </a:p>
      </dsp:txBody>
      <dsp:txXfrm>
        <a:off x="7960559" y="2031110"/>
        <a:ext cx="2156787" cy="12940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599ABB-8305-49E3-ACB5-33AB23D52B4D}">
      <dsp:nvSpPr>
        <dsp:cNvPr id="0" name=""/>
        <dsp:cNvSpPr/>
      </dsp:nvSpPr>
      <dsp:spPr>
        <a:xfrm>
          <a:off x="0" y="371"/>
          <a:ext cx="10515600" cy="5119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A7013AA-332B-4A6D-A615-1DDD3255D797}">
      <dsp:nvSpPr>
        <dsp:cNvPr id="0" name=""/>
        <dsp:cNvSpPr/>
      </dsp:nvSpPr>
      <dsp:spPr>
        <a:xfrm>
          <a:off x="154872" y="115566"/>
          <a:ext cx="281587" cy="2815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7ACB4-8CA8-482F-AFCF-F6C8E0D29AC9}">
      <dsp:nvSpPr>
        <dsp:cNvPr id="0" name=""/>
        <dsp:cNvSpPr/>
      </dsp:nvSpPr>
      <dsp:spPr>
        <a:xfrm>
          <a:off x="591332" y="371"/>
          <a:ext cx="9924267" cy="51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84" tIns="54184" rIns="54184" bIns="5418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Annual cardiac surgeries India</a:t>
          </a:r>
          <a:r>
            <a:rPr lang="en-US" sz="2400" kern="1200" baseline="30000" dirty="0">
              <a:solidFill>
                <a:srgbClr val="FF0000"/>
              </a:solidFill>
            </a:rPr>
            <a:t>2</a:t>
          </a:r>
          <a:r>
            <a:rPr lang="en-US" sz="2400" kern="1200" dirty="0"/>
            <a:t>: 300k</a:t>
          </a:r>
        </a:p>
      </dsp:txBody>
      <dsp:txXfrm>
        <a:off x="591332" y="371"/>
        <a:ext cx="9924267" cy="511976"/>
      </dsp:txXfrm>
    </dsp:sp>
    <dsp:sp modelId="{10FC0A53-ACA9-49E6-A562-FE2D4DB8F8A8}">
      <dsp:nvSpPr>
        <dsp:cNvPr id="0" name=""/>
        <dsp:cNvSpPr/>
      </dsp:nvSpPr>
      <dsp:spPr>
        <a:xfrm>
          <a:off x="0" y="640342"/>
          <a:ext cx="10515600" cy="5119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5BB3D8-37D2-4B88-91F5-982F5EF4D453}">
      <dsp:nvSpPr>
        <dsp:cNvPr id="0" name=""/>
        <dsp:cNvSpPr/>
      </dsp:nvSpPr>
      <dsp:spPr>
        <a:xfrm>
          <a:off x="154872" y="755537"/>
          <a:ext cx="281587" cy="2815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E21DD70-C45D-489B-86CF-A95D1B46F474}">
      <dsp:nvSpPr>
        <dsp:cNvPr id="0" name=""/>
        <dsp:cNvSpPr/>
      </dsp:nvSpPr>
      <dsp:spPr>
        <a:xfrm>
          <a:off x="591332" y="640342"/>
          <a:ext cx="9924267" cy="51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84" tIns="54184" rIns="54184" bIns="5418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Multispecialty hospitals and colleges with CCU (MSCH): 700</a:t>
          </a:r>
          <a:r>
            <a:rPr lang="en-US" sz="2400" kern="1200" baseline="30000" dirty="0">
              <a:solidFill>
                <a:srgbClr val="FF0000"/>
              </a:solidFill>
            </a:rPr>
            <a:t>3</a:t>
          </a:r>
          <a:endParaRPr lang="en-US" sz="2400" kern="1200" dirty="0"/>
        </a:p>
      </dsp:txBody>
      <dsp:txXfrm>
        <a:off x="591332" y="640342"/>
        <a:ext cx="9924267" cy="511976"/>
      </dsp:txXfrm>
    </dsp:sp>
    <dsp:sp modelId="{87ECBAEF-F994-4E6C-84DA-2500D954C5E0}">
      <dsp:nvSpPr>
        <dsp:cNvPr id="0" name=""/>
        <dsp:cNvSpPr/>
      </dsp:nvSpPr>
      <dsp:spPr>
        <a:xfrm>
          <a:off x="0" y="1280313"/>
          <a:ext cx="10515600" cy="5119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F791E3-B9A3-4C37-874B-14F6D5AF21B3}">
      <dsp:nvSpPr>
        <dsp:cNvPr id="0" name=""/>
        <dsp:cNvSpPr/>
      </dsp:nvSpPr>
      <dsp:spPr>
        <a:xfrm>
          <a:off x="154872" y="1395507"/>
          <a:ext cx="281587" cy="2815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B42B65-663F-4621-A20B-7BF78E85A129}">
      <dsp:nvSpPr>
        <dsp:cNvPr id="0" name=""/>
        <dsp:cNvSpPr/>
      </dsp:nvSpPr>
      <dsp:spPr>
        <a:xfrm>
          <a:off x="591332" y="1280313"/>
          <a:ext cx="9924267" cy="51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84" tIns="54184" rIns="54184" bIns="5418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Avg. yearly procedures in MSCH : </a:t>
          </a:r>
          <a:r>
            <a:rPr lang="en-US" sz="2400" b="1" kern="1200"/>
            <a:t>428</a:t>
          </a:r>
          <a:endParaRPr lang="en-US" sz="2400" kern="1200"/>
        </a:p>
      </dsp:txBody>
      <dsp:txXfrm>
        <a:off x="591332" y="1280313"/>
        <a:ext cx="9924267" cy="511976"/>
      </dsp:txXfrm>
    </dsp:sp>
    <dsp:sp modelId="{58F27049-EF0B-4262-8249-D7BD2C5C4119}">
      <dsp:nvSpPr>
        <dsp:cNvPr id="0" name=""/>
        <dsp:cNvSpPr/>
      </dsp:nvSpPr>
      <dsp:spPr>
        <a:xfrm>
          <a:off x="0" y="1920283"/>
          <a:ext cx="10515600" cy="5119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002360-09E8-4E8B-90C1-1F8A07CFE150}">
      <dsp:nvSpPr>
        <dsp:cNvPr id="0" name=""/>
        <dsp:cNvSpPr/>
      </dsp:nvSpPr>
      <dsp:spPr>
        <a:xfrm>
          <a:off x="154872" y="2035478"/>
          <a:ext cx="281587" cy="28158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BFCD40-DA35-48C3-8661-C0DDF82EFE74}">
      <dsp:nvSpPr>
        <dsp:cNvPr id="0" name=""/>
        <dsp:cNvSpPr/>
      </dsp:nvSpPr>
      <dsp:spPr>
        <a:xfrm>
          <a:off x="591332" y="1920283"/>
          <a:ext cx="9924267" cy="51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84" tIns="54184" rIns="54184" bIns="5418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Revenue from 3-day procedure monitoring @ Rs. 1500: 19.2 lakhs</a:t>
          </a:r>
        </a:p>
      </dsp:txBody>
      <dsp:txXfrm>
        <a:off x="591332" y="1920283"/>
        <a:ext cx="9924267" cy="511976"/>
      </dsp:txXfrm>
    </dsp:sp>
    <dsp:sp modelId="{680821F4-7428-46AB-8140-676F5E5C0CFC}">
      <dsp:nvSpPr>
        <dsp:cNvPr id="0" name=""/>
        <dsp:cNvSpPr/>
      </dsp:nvSpPr>
      <dsp:spPr>
        <a:xfrm>
          <a:off x="0" y="2560254"/>
          <a:ext cx="10515600" cy="5119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EA1B7EA-3EDF-4AF0-A92E-4CC3439C6A09}">
      <dsp:nvSpPr>
        <dsp:cNvPr id="0" name=""/>
        <dsp:cNvSpPr/>
      </dsp:nvSpPr>
      <dsp:spPr>
        <a:xfrm>
          <a:off x="154872" y="2675449"/>
          <a:ext cx="281587" cy="281587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D63812-3BFE-45FC-BB89-652536DB27A7}">
      <dsp:nvSpPr>
        <dsp:cNvPr id="0" name=""/>
        <dsp:cNvSpPr/>
      </dsp:nvSpPr>
      <dsp:spPr>
        <a:xfrm>
          <a:off x="591332" y="2560254"/>
          <a:ext cx="9924267" cy="51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84" tIns="54184" rIns="54184" bIns="5418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FF0000"/>
              </a:solidFill>
            </a:rPr>
            <a:t>Benefit/cost ratio: </a:t>
          </a:r>
          <a:r>
            <a:rPr lang="en-US" sz="2400" strike="sngStrike" kern="1200" dirty="0">
              <a:solidFill>
                <a:srgbClr val="FF0000"/>
              </a:solidFill>
            </a:rPr>
            <a:t>~</a:t>
          </a:r>
          <a:r>
            <a:rPr lang="en-US" sz="2400" strike="sngStrike" kern="1200">
              <a:solidFill>
                <a:srgbClr val="FF0000"/>
              </a:solidFill>
            </a:rPr>
            <a:t>25 …</a:t>
          </a:r>
          <a:r>
            <a:rPr lang="en-US" sz="2400" strike="noStrike" kern="1200">
              <a:solidFill>
                <a:srgbClr val="FF0000"/>
              </a:solidFill>
            </a:rPr>
            <a:t>~2.3</a:t>
          </a:r>
          <a:endParaRPr lang="en-US" sz="2400" strike="noStrike" kern="1200" dirty="0">
            <a:solidFill>
              <a:srgbClr val="FF0000"/>
            </a:solidFill>
          </a:endParaRPr>
        </a:p>
      </dsp:txBody>
      <dsp:txXfrm>
        <a:off x="591332" y="2560254"/>
        <a:ext cx="9924267" cy="511976"/>
      </dsp:txXfrm>
    </dsp:sp>
    <dsp:sp modelId="{9D849715-763B-4872-8015-8770022D0380}">
      <dsp:nvSpPr>
        <dsp:cNvPr id="0" name=""/>
        <dsp:cNvSpPr/>
      </dsp:nvSpPr>
      <dsp:spPr>
        <a:xfrm>
          <a:off x="0" y="3200224"/>
          <a:ext cx="10515600" cy="5119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5F4131F-B841-425C-878D-78DAF34D0A56}">
      <dsp:nvSpPr>
        <dsp:cNvPr id="0" name=""/>
        <dsp:cNvSpPr/>
      </dsp:nvSpPr>
      <dsp:spPr>
        <a:xfrm>
          <a:off x="154872" y="3315419"/>
          <a:ext cx="281587" cy="281587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1AC115E-4222-4A5E-BC64-0A7E3A29B44E}">
      <dsp:nvSpPr>
        <dsp:cNvPr id="0" name=""/>
        <dsp:cNvSpPr/>
      </dsp:nvSpPr>
      <dsp:spPr>
        <a:xfrm>
          <a:off x="591332" y="3200224"/>
          <a:ext cx="9924267" cy="51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84" tIns="54184" rIns="54184" bIns="5418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solidFill>
                <a:srgbClr val="FF0000"/>
              </a:solidFill>
            </a:rPr>
            <a:t>Payoff procedures: ~16</a:t>
          </a:r>
        </a:p>
      </dsp:txBody>
      <dsp:txXfrm>
        <a:off x="591332" y="3200224"/>
        <a:ext cx="9924267" cy="511976"/>
      </dsp:txXfrm>
    </dsp:sp>
    <dsp:sp modelId="{86703B23-7C09-4A99-8BA8-EACA47B601F8}">
      <dsp:nvSpPr>
        <dsp:cNvPr id="0" name=""/>
        <dsp:cNvSpPr/>
      </dsp:nvSpPr>
      <dsp:spPr>
        <a:xfrm>
          <a:off x="0" y="3840195"/>
          <a:ext cx="10515600" cy="51197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D8A7AF-6891-4C16-BE99-B851C9AAFB0C}">
      <dsp:nvSpPr>
        <dsp:cNvPr id="0" name=""/>
        <dsp:cNvSpPr/>
      </dsp:nvSpPr>
      <dsp:spPr>
        <a:xfrm>
          <a:off x="154872" y="3955390"/>
          <a:ext cx="281587" cy="281587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52D27D8-BE6B-4EF8-A681-F5E2A1E0AFBE}">
      <dsp:nvSpPr>
        <dsp:cNvPr id="0" name=""/>
        <dsp:cNvSpPr/>
      </dsp:nvSpPr>
      <dsp:spPr>
        <a:xfrm>
          <a:off x="591332" y="3840195"/>
          <a:ext cx="9924267" cy="51197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4184" tIns="54184" rIns="54184" bIns="54184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Monthly revenue: Rs. 160k</a:t>
          </a:r>
        </a:p>
      </dsp:txBody>
      <dsp:txXfrm>
        <a:off x="591332" y="3840195"/>
        <a:ext cx="9924267" cy="511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5C3BFE-6775-3042-E04E-6F86EB12C4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C1649C-9106-46BF-2017-90D4FAEFD9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5279E4-7451-0314-76C4-A88BFF940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6198-1B2F-4410-8422-F97B60C698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10D434-DB9A-5DD1-67EE-9292CBB21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B1BF92-BA5D-88A0-F74A-D6C7475A35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D6C7-F4C2-4933-B919-2C33AF15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097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7D187-60C1-B50A-364D-2C3E844B17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E7DF-92C1-F8F6-97B3-73B7F0F100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B56032-5727-F8D2-A75D-DFD58DDF1F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6198-1B2F-4410-8422-F97B60C698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D91DEA-AF19-CFAC-C751-34E55BACF9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4AAA6-F0D6-6244-4496-4019E7937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D6C7-F4C2-4933-B919-2C33AF15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532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10D7F-A025-7993-A6CA-6103F6A62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FF9F52-253A-F074-CF63-333D11C6B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421AEC-8740-67FB-58DF-A00FD7E3B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6198-1B2F-4410-8422-F97B60C698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300099-95ED-2A13-75AA-94C86CBC3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0628F0-7186-59D2-E398-8704BED21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D6C7-F4C2-4933-B919-2C33AF15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135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8CE79-F67F-9548-0103-F3C052F6D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D8496-3EFD-BFC3-E50C-785B1EE5E3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AD8A53-ED3A-F04F-982A-2E2C06AC63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F45BE-53D3-6E93-0088-7369935B7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6198-1B2F-4410-8422-F97B60C698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56AF09-081A-1583-749F-9F6897D0B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E47AF5-3860-C0B6-EDFD-977F9710F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D6C7-F4C2-4933-B919-2C33AF15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147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5583A9-3F35-7AA2-D4C8-429FCD6337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1D43A-AEEA-44B3-54DB-8FD9007464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863445-B68A-2EAD-3073-DB141B31A83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8011E62-DF73-45AC-DF4E-71277BD01C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D70343-E280-E900-57F2-CEE4379DD3E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CA5622-21B1-5D6E-6483-7A9DF2364B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6198-1B2F-4410-8422-F97B60C698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79C02C1-8A45-6BB5-A1B1-5D966D0A4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A4A9ECE-4C18-583E-8350-760D618107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D6C7-F4C2-4933-B919-2C33AF15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727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0CE8E5-9D62-E917-DF2E-297E43AA7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DBAEA4-B12F-7C69-D50F-2416A4FD30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6198-1B2F-4410-8422-F97B60C698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1E603E-0225-BA40-23BF-0D257E7A9E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568D6B-29C8-41DA-3B44-9CEEFB29B0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D6C7-F4C2-4933-B919-2C33AF15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4463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3F48E1E-3E93-4463-61EC-D8EF9F6216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6198-1B2F-4410-8422-F97B60C698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245DF3-3447-17A5-6AB2-A39EC4132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3CA63B-11C6-875B-EA47-C0438BF23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D6C7-F4C2-4933-B919-2C33AF15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7163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373A4B-4CBD-319A-CEEC-6866DE6EA3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726255-53C6-A062-154E-8345A75E6E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C8307D-9BF1-5AA9-2E60-9E92A0EDAA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CD1E7-E252-7408-2EB4-5A24A7521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6198-1B2F-4410-8422-F97B60C698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9CC6BBC-9EEC-CD17-3F99-5453E0F591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51B4A9-9646-EEEB-A3C2-4A0DB6233B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D6C7-F4C2-4933-B919-2C33AF15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8230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77F923-434F-F2BB-3A65-0F6267407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B62C45E-2EF2-0AD7-0141-80C3A4BFD2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CA1DC-F5A7-0EA7-DA31-F797F18F84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F4EDDB-CD49-2312-6A93-A95E75ED7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6198-1B2F-4410-8422-F97B60C698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90661E-D891-250E-CCFA-1879E1BB58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9A0407-9051-D315-1DD4-7B2F7F7E1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D6C7-F4C2-4933-B919-2C33AF15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066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1E3C5-B31B-F3C5-E21B-4B403CA94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1238A8-4540-8A18-8250-96A7B581A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D96C7-99AB-529F-F9B7-1B6EBB62DD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6198-1B2F-4410-8422-F97B60C698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ECB016-F04E-85C5-277F-F9DEBC6B41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0ECB4-AF4A-1E8B-C2C3-9C54AEDC0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D6C7-F4C2-4933-B919-2C33AF15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7696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F9921A-F7D9-DE65-6F96-140353726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4A08A1-7D36-4829-F676-140CF4BBE6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CA61FE-0D29-0489-CED2-528A03F3E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0C6198-1B2F-4410-8422-F97B60C698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8DF52C-A086-127B-8E30-6599A07871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FA819-CEB8-91C8-1D74-E1B11CD18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22D6C7-F4C2-4933-B919-2C33AF15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6215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2B41E6-9F53-0F97-1195-BD3D4F157F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61DCD3-77C8-9098-1250-22329A521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15E19-B512-438B-E87D-A601BD903BA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0C6198-1B2F-4410-8422-F97B60C6989D}" type="datetimeFigureOut">
              <a:rPr lang="en-US" smtClean="0"/>
              <a:t>2/17/2025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CA235-BB24-4EB3-D57B-2ED2B8A410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A0A959-7461-FE16-ED0B-15B82DBA39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22D6C7-F4C2-4933-B919-2C33AF155E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9890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5AC086-E1D8-7890-A916-708A13859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US" sz="5400"/>
              <a:t>Context and problem</a:t>
            </a:r>
          </a:p>
        </p:txBody>
      </p:sp>
      <p:sp>
        <p:nvSpPr>
          <p:cNvPr id="23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onnsiteX0" fmla="*/ 0 w 5410200"/>
              <a:gd name="connsiteY0" fmla="*/ 0 h 18288"/>
              <a:gd name="connsiteX1" fmla="*/ 568071 w 5410200"/>
              <a:gd name="connsiteY1" fmla="*/ 0 h 18288"/>
              <a:gd name="connsiteX2" fmla="*/ 1298448 w 5410200"/>
              <a:gd name="connsiteY2" fmla="*/ 0 h 18288"/>
              <a:gd name="connsiteX3" fmla="*/ 1920621 w 5410200"/>
              <a:gd name="connsiteY3" fmla="*/ 0 h 18288"/>
              <a:gd name="connsiteX4" fmla="*/ 2488692 w 5410200"/>
              <a:gd name="connsiteY4" fmla="*/ 0 h 18288"/>
              <a:gd name="connsiteX5" fmla="*/ 3219069 w 5410200"/>
              <a:gd name="connsiteY5" fmla="*/ 0 h 18288"/>
              <a:gd name="connsiteX6" fmla="*/ 3895344 w 5410200"/>
              <a:gd name="connsiteY6" fmla="*/ 0 h 18288"/>
              <a:gd name="connsiteX7" fmla="*/ 4571619 w 5410200"/>
              <a:gd name="connsiteY7" fmla="*/ 0 h 18288"/>
              <a:gd name="connsiteX8" fmla="*/ 5410200 w 5410200"/>
              <a:gd name="connsiteY8" fmla="*/ 0 h 18288"/>
              <a:gd name="connsiteX9" fmla="*/ 5410200 w 5410200"/>
              <a:gd name="connsiteY9" fmla="*/ 18288 h 18288"/>
              <a:gd name="connsiteX10" fmla="*/ 4842129 w 5410200"/>
              <a:gd name="connsiteY10" fmla="*/ 18288 h 18288"/>
              <a:gd name="connsiteX11" fmla="*/ 4328160 w 5410200"/>
              <a:gd name="connsiteY11" fmla="*/ 18288 h 18288"/>
              <a:gd name="connsiteX12" fmla="*/ 3597783 w 5410200"/>
              <a:gd name="connsiteY12" fmla="*/ 18288 h 18288"/>
              <a:gd name="connsiteX13" fmla="*/ 3029712 w 5410200"/>
              <a:gd name="connsiteY13" fmla="*/ 18288 h 18288"/>
              <a:gd name="connsiteX14" fmla="*/ 2299335 w 5410200"/>
              <a:gd name="connsiteY14" fmla="*/ 18288 h 18288"/>
              <a:gd name="connsiteX15" fmla="*/ 1514856 w 5410200"/>
              <a:gd name="connsiteY15" fmla="*/ 18288 h 18288"/>
              <a:gd name="connsiteX16" fmla="*/ 892683 w 5410200"/>
              <a:gd name="connsiteY16" fmla="*/ 18288 h 18288"/>
              <a:gd name="connsiteX17" fmla="*/ 0 w 5410200"/>
              <a:gd name="connsiteY17" fmla="*/ 18288 h 18288"/>
              <a:gd name="connsiteX18" fmla="*/ 0 w 5410200"/>
              <a:gd name="connsiteY18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4" name="Content Placeholder 2">
            <a:extLst>
              <a:ext uri="{FF2B5EF4-FFF2-40B4-BE49-F238E27FC236}">
                <a16:creationId xmlns:a16="http://schemas.microsoft.com/office/drawing/2014/main" id="{072B3F31-0E99-5DE5-2640-269D5B87A5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6007209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2390398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63076C-8DB4-2DC5-F031-AEB7DFE048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73" name="Rectangle 2072">
            <a:extLst>
              <a:ext uri="{FF2B5EF4-FFF2-40B4-BE49-F238E27FC236}">
                <a16:creationId xmlns:a16="http://schemas.microsoft.com/office/drawing/2014/main" id="{149FB5C3-7336-4FE0-A30C-CC0A3646D4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74" name="Group 2073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62" name="Rectangle 2061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3" name="Rectangle 2062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75" name="Rectangle 2074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A85DF9-47D2-521B-59B7-2DBA7DEBB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000"/>
              <a:t>Device Spec</a:t>
            </a:r>
          </a:p>
        </p:txBody>
      </p:sp>
      <p:sp>
        <p:nvSpPr>
          <p:cNvPr id="2076" name="Rectangle 2075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BF4635-72A4-D9F3-A8C1-434F4A1777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55715" y="2508105"/>
            <a:ext cx="5040285" cy="36324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Health parameter monitoring</a:t>
            </a:r>
          </a:p>
          <a:p>
            <a:pPr lvl="1"/>
            <a:r>
              <a:rPr lang="en-US" sz="2000"/>
              <a:t>SPO2 (Blood Oxygen Saturation)</a:t>
            </a:r>
          </a:p>
          <a:p>
            <a:pPr lvl="1"/>
            <a:r>
              <a:rPr lang="en-US" sz="2000"/>
              <a:t>ECG (Electrocardiogram)</a:t>
            </a:r>
          </a:p>
          <a:p>
            <a:pPr lvl="1"/>
            <a:r>
              <a:rPr lang="en-US" sz="2000"/>
              <a:t>Heart Rate</a:t>
            </a:r>
          </a:p>
          <a:p>
            <a:pPr lvl="1"/>
            <a:r>
              <a:rPr lang="en-US" sz="2000"/>
              <a:t>Body Temperature</a:t>
            </a:r>
          </a:p>
          <a:p>
            <a:pPr lvl="1"/>
            <a:r>
              <a:rPr lang="en-US" sz="2000"/>
              <a:t>Posture &amp; restlessness</a:t>
            </a:r>
          </a:p>
          <a:p>
            <a:r>
              <a:rPr lang="en-US" sz="2000"/>
              <a:t>Hardware</a:t>
            </a:r>
          </a:p>
          <a:p>
            <a:pPr lvl="1"/>
            <a:r>
              <a:rPr lang="en-US" sz="2000"/>
              <a:t>WiFi telemetry</a:t>
            </a:r>
          </a:p>
          <a:p>
            <a:pPr lvl="1"/>
            <a:r>
              <a:rPr lang="en-US" sz="2000"/>
              <a:t>5- day battery life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8367FB2-8CE4-7AFD-0BEF-AF8E09289007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408896" y="774285"/>
            <a:ext cx="3464661" cy="25811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766AF35E-CD67-CD63-50EA-55B06917B8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46667" y="3647680"/>
            <a:ext cx="4389120" cy="2435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5535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8FC22BF-58E2-B388-1510-D912DB18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78F9EC-85DA-125D-780D-7A76B9D61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9842237" cy="1325563"/>
          </a:xfrm>
        </p:spPr>
        <p:txBody>
          <a:bodyPr>
            <a:normAutofit/>
          </a:bodyPr>
          <a:lstStyle/>
          <a:p>
            <a:r>
              <a:rPr lang="en-US" sz="5600"/>
              <a:t>Key propositions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5890" y="356812"/>
            <a:ext cx="0" cy="6492875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Graphic 12">
            <a:extLst>
              <a:ext uri="{FF2B5EF4-FFF2-40B4-BE49-F238E27FC236}">
                <a16:creationId xmlns:a16="http://schemas.microsoft.com/office/drawing/2014/main" id="{58BDB0EE-D238-415B-9ED8-62AA6AB2AA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903882" y="591829"/>
            <a:ext cx="139039" cy="139039"/>
          </a:xfrm>
          <a:custGeom>
            <a:avLst/>
            <a:gdLst>
              <a:gd name="connsiteX0" fmla="*/ 129602 w 139039"/>
              <a:gd name="connsiteY0" fmla="*/ 60082 h 139039"/>
              <a:gd name="connsiteX1" fmla="*/ 78957 w 139039"/>
              <a:gd name="connsiteY1" fmla="*/ 60082 h 139039"/>
              <a:gd name="connsiteX2" fmla="*/ 78957 w 139039"/>
              <a:gd name="connsiteY2" fmla="*/ 9437 h 139039"/>
              <a:gd name="connsiteX3" fmla="*/ 69520 w 139039"/>
              <a:gd name="connsiteY3" fmla="*/ 0 h 139039"/>
              <a:gd name="connsiteX4" fmla="*/ 60082 w 139039"/>
              <a:gd name="connsiteY4" fmla="*/ 9437 h 139039"/>
              <a:gd name="connsiteX5" fmla="*/ 60082 w 139039"/>
              <a:gd name="connsiteY5" fmla="*/ 60082 h 139039"/>
              <a:gd name="connsiteX6" fmla="*/ 9437 w 139039"/>
              <a:gd name="connsiteY6" fmla="*/ 60082 h 139039"/>
              <a:gd name="connsiteX7" fmla="*/ 0 w 139039"/>
              <a:gd name="connsiteY7" fmla="*/ 69520 h 139039"/>
              <a:gd name="connsiteX8" fmla="*/ 9437 w 139039"/>
              <a:gd name="connsiteY8" fmla="*/ 78957 h 139039"/>
              <a:gd name="connsiteX9" fmla="*/ 60082 w 139039"/>
              <a:gd name="connsiteY9" fmla="*/ 78957 h 139039"/>
              <a:gd name="connsiteX10" fmla="*/ 60082 w 139039"/>
              <a:gd name="connsiteY10" fmla="*/ 129602 h 139039"/>
              <a:gd name="connsiteX11" fmla="*/ 69520 w 139039"/>
              <a:gd name="connsiteY11" fmla="*/ 139039 h 139039"/>
              <a:gd name="connsiteX12" fmla="*/ 78957 w 139039"/>
              <a:gd name="connsiteY12" fmla="*/ 129602 h 139039"/>
              <a:gd name="connsiteX13" fmla="*/ 78957 w 139039"/>
              <a:gd name="connsiteY13" fmla="*/ 78957 h 139039"/>
              <a:gd name="connsiteX14" fmla="*/ 129602 w 139039"/>
              <a:gd name="connsiteY14" fmla="*/ 78957 h 139039"/>
              <a:gd name="connsiteX15" fmla="*/ 139039 w 139039"/>
              <a:gd name="connsiteY15" fmla="*/ 69520 h 139039"/>
              <a:gd name="connsiteX16" fmla="*/ 129602 w 139039"/>
              <a:gd name="connsiteY16" fmla="*/ 60082 h 139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39039" h="139039">
                <a:moveTo>
                  <a:pt x="129602" y="60082"/>
                </a:moveTo>
                <a:lnTo>
                  <a:pt x="78957" y="60082"/>
                </a:lnTo>
                <a:lnTo>
                  <a:pt x="78957" y="9437"/>
                </a:lnTo>
                <a:cubicBezTo>
                  <a:pt x="78957" y="4225"/>
                  <a:pt x="74731" y="0"/>
                  <a:pt x="69520" y="0"/>
                </a:cubicBezTo>
                <a:cubicBezTo>
                  <a:pt x="64308" y="0"/>
                  <a:pt x="60082" y="4225"/>
                  <a:pt x="60082" y="9437"/>
                </a:cubicBezTo>
                <a:lnTo>
                  <a:pt x="60082" y="60082"/>
                </a:lnTo>
                <a:lnTo>
                  <a:pt x="9437" y="60082"/>
                </a:lnTo>
                <a:cubicBezTo>
                  <a:pt x="4225" y="60082"/>
                  <a:pt x="0" y="64308"/>
                  <a:pt x="0" y="69520"/>
                </a:cubicBezTo>
                <a:cubicBezTo>
                  <a:pt x="0" y="74731"/>
                  <a:pt x="4225" y="78957"/>
                  <a:pt x="9437" y="78957"/>
                </a:cubicBezTo>
                <a:lnTo>
                  <a:pt x="60082" y="78957"/>
                </a:lnTo>
                <a:lnTo>
                  <a:pt x="60082" y="129602"/>
                </a:lnTo>
                <a:cubicBezTo>
                  <a:pt x="60082" y="134814"/>
                  <a:pt x="64308" y="139039"/>
                  <a:pt x="69520" y="139039"/>
                </a:cubicBezTo>
                <a:cubicBezTo>
                  <a:pt x="74731" y="139039"/>
                  <a:pt x="78957" y="134814"/>
                  <a:pt x="78957" y="129602"/>
                </a:cubicBezTo>
                <a:lnTo>
                  <a:pt x="78957" y="78957"/>
                </a:lnTo>
                <a:lnTo>
                  <a:pt x="129602" y="78957"/>
                </a:lnTo>
                <a:cubicBezTo>
                  <a:pt x="134814" y="78957"/>
                  <a:pt x="139039" y="74731"/>
                  <a:pt x="139039" y="69520"/>
                </a:cubicBezTo>
                <a:cubicBezTo>
                  <a:pt x="139039" y="64308"/>
                  <a:pt x="134814" y="60082"/>
                  <a:pt x="129602" y="60082"/>
                </a:cubicBezTo>
                <a:close/>
              </a:path>
            </a:pathLst>
          </a:custGeom>
          <a:solidFill>
            <a:schemeClr val="accent2"/>
          </a:solidFill>
          <a:ln w="6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Graphic 11">
            <a:extLst>
              <a:ext uri="{FF2B5EF4-FFF2-40B4-BE49-F238E27FC236}">
                <a16:creationId xmlns:a16="http://schemas.microsoft.com/office/drawing/2014/main" id="{C5B55FC3-961D-4325-82F1-DE92B0D04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62662" y="821124"/>
            <a:ext cx="91138" cy="91138"/>
          </a:xfrm>
          <a:custGeom>
            <a:avLst/>
            <a:gdLst>
              <a:gd name="connsiteX0" fmla="*/ 91138 w 91138"/>
              <a:gd name="connsiteY0" fmla="*/ 45569 h 91138"/>
              <a:gd name="connsiteX1" fmla="*/ 45569 w 91138"/>
              <a:gd name="connsiteY1" fmla="*/ 91138 h 91138"/>
              <a:gd name="connsiteX2" fmla="*/ 0 w 91138"/>
              <a:gd name="connsiteY2" fmla="*/ 45569 h 91138"/>
              <a:gd name="connsiteX3" fmla="*/ 45569 w 91138"/>
              <a:gd name="connsiteY3" fmla="*/ 0 h 91138"/>
              <a:gd name="connsiteX4" fmla="*/ 91138 w 91138"/>
              <a:gd name="connsiteY4" fmla="*/ 45569 h 9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138" h="91138">
                <a:moveTo>
                  <a:pt x="91138" y="45569"/>
                </a:moveTo>
                <a:cubicBezTo>
                  <a:pt x="91138" y="70736"/>
                  <a:pt x="70736" y="91138"/>
                  <a:pt x="45569" y="91138"/>
                </a:cubicBezTo>
                <a:cubicBezTo>
                  <a:pt x="20402" y="91138"/>
                  <a:pt x="0" y="70736"/>
                  <a:pt x="0" y="45569"/>
                </a:cubicBezTo>
                <a:cubicBezTo>
                  <a:pt x="0" y="20402"/>
                  <a:pt x="20402" y="0"/>
                  <a:pt x="45569" y="0"/>
                </a:cubicBezTo>
                <a:cubicBezTo>
                  <a:pt x="70736" y="0"/>
                  <a:pt x="91138" y="20402"/>
                  <a:pt x="91138" y="45569"/>
                </a:cubicBezTo>
                <a:close/>
              </a:path>
            </a:pathLst>
          </a:custGeom>
          <a:solidFill>
            <a:schemeClr val="accent2"/>
          </a:solidFill>
          <a:ln w="422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8" name="Graphic 13">
            <a:extLst>
              <a:ext uri="{FF2B5EF4-FFF2-40B4-BE49-F238E27FC236}">
                <a16:creationId xmlns:a16="http://schemas.microsoft.com/office/drawing/2014/main" id="{4C8AB332-D09E-4F28-943C-DABDD4716A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888342" y="1336268"/>
            <a:ext cx="127714" cy="127714"/>
          </a:xfrm>
          <a:custGeom>
            <a:avLst/>
            <a:gdLst>
              <a:gd name="connsiteX0" fmla="*/ 63857 w 127714"/>
              <a:gd name="connsiteY0" fmla="*/ 18874 h 127714"/>
              <a:gd name="connsiteX1" fmla="*/ 108840 w 127714"/>
              <a:gd name="connsiteY1" fmla="*/ 63857 h 127714"/>
              <a:gd name="connsiteX2" fmla="*/ 63857 w 127714"/>
              <a:gd name="connsiteY2" fmla="*/ 108840 h 127714"/>
              <a:gd name="connsiteX3" fmla="*/ 18874 w 127714"/>
              <a:gd name="connsiteY3" fmla="*/ 63857 h 127714"/>
              <a:gd name="connsiteX4" fmla="*/ 63857 w 127714"/>
              <a:gd name="connsiteY4" fmla="*/ 18874 h 127714"/>
              <a:gd name="connsiteX5" fmla="*/ 63857 w 127714"/>
              <a:gd name="connsiteY5" fmla="*/ 0 h 127714"/>
              <a:gd name="connsiteX6" fmla="*/ 0 w 127714"/>
              <a:gd name="connsiteY6" fmla="*/ 63857 h 127714"/>
              <a:gd name="connsiteX7" fmla="*/ 63857 w 127714"/>
              <a:gd name="connsiteY7" fmla="*/ 127714 h 127714"/>
              <a:gd name="connsiteX8" fmla="*/ 127714 w 127714"/>
              <a:gd name="connsiteY8" fmla="*/ 63857 h 127714"/>
              <a:gd name="connsiteX9" fmla="*/ 63857 w 127714"/>
              <a:gd name="connsiteY9" fmla="*/ 0 h 1277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7714" h="127714">
                <a:moveTo>
                  <a:pt x="63857" y="18874"/>
                </a:moveTo>
                <a:cubicBezTo>
                  <a:pt x="88700" y="18874"/>
                  <a:pt x="108840" y="39014"/>
                  <a:pt x="108840" y="63857"/>
                </a:cubicBezTo>
                <a:cubicBezTo>
                  <a:pt x="108840" y="88700"/>
                  <a:pt x="88700" y="108840"/>
                  <a:pt x="63857" y="108840"/>
                </a:cubicBezTo>
                <a:cubicBezTo>
                  <a:pt x="39014" y="108840"/>
                  <a:pt x="18874" y="88700"/>
                  <a:pt x="18874" y="63857"/>
                </a:cubicBezTo>
                <a:cubicBezTo>
                  <a:pt x="18898" y="39024"/>
                  <a:pt x="39024" y="18898"/>
                  <a:pt x="63857" y="18874"/>
                </a:cubicBezTo>
                <a:moveTo>
                  <a:pt x="63857" y="0"/>
                </a:moveTo>
                <a:cubicBezTo>
                  <a:pt x="28590" y="0"/>
                  <a:pt x="0" y="28590"/>
                  <a:pt x="0" y="63857"/>
                </a:cubicBezTo>
                <a:cubicBezTo>
                  <a:pt x="0" y="99124"/>
                  <a:pt x="28590" y="127714"/>
                  <a:pt x="63857" y="127714"/>
                </a:cubicBezTo>
                <a:cubicBezTo>
                  <a:pt x="99124" y="127714"/>
                  <a:pt x="127714" y="99124"/>
                  <a:pt x="127714" y="63857"/>
                </a:cubicBezTo>
                <a:cubicBezTo>
                  <a:pt x="127714" y="28590"/>
                  <a:pt x="99124" y="0"/>
                  <a:pt x="63857" y="0"/>
                </a:cubicBezTo>
                <a:close/>
              </a:path>
            </a:pathLst>
          </a:custGeom>
          <a:solidFill>
            <a:schemeClr val="accent2"/>
          </a:solidFill>
          <a:ln w="610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F3F2384-2ECB-0782-0A1A-ED156090BF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226478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367342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448905-44D1-D090-A23D-05EB7ADE1B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4" name="Freeform: Shape 23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25" name="Freeform: Shape 24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15CE54-9428-AD5D-23A1-BE679414FB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sz="4000"/>
              <a:t>Questions for doctor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27" name="Content Placeholder 2">
            <a:extLst>
              <a:ext uri="{FF2B5EF4-FFF2-40B4-BE49-F238E27FC236}">
                <a16:creationId xmlns:a16="http://schemas.microsoft.com/office/drawing/2014/main" id="{C87514E0-E898-56B0-84F2-7A46DE92EAC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99885962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486404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itle 22">
            <a:extLst>
              <a:ext uri="{FF2B5EF4-FFF2-40B4-BE49-F238E27FC236}">
                <a16:creationId xmlns:a16="http://schemas.microsoft.com/office/drawing/2014/main" id="{C3F3DC94-86D7-2991-6844-582033EB2F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Protocols using ECG monitoring</a:t>
            </a:r>
          </a:p>
        </p:txBody>
      </p:sp>
      <p:graphicFrame>
        <p:nvGraphicFramePr>
          <p:cNvPr id="22" name="Content Placeholder 21">
            <a:extLst>
              <a:ext uri="{FF2B5EF4-FFF2-40B4-BE49-F238E27FC236}">
                <a16:creationId xmlns:a16="http://schemas.microsoft.com/office/drawing/2014/main" id="{B640C1E1-8505-B52D-E2DC-2B0B8781AD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4441224"/>
              </p:ext>
            </p:extLst>
          </p:nvPr>
        </p:nvGraphicFramePr>
        <p:xfrm>
          <a:off x="644056" y="2655726"/>
          <a:ext cx="10927831" cy="310651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245064">
                  <a:extLst>
                    <a:ext uri="{9D8B030D-6E8A-4147-A177-3AD203B41FA5}">
                      <a16:colId xmlns:a16="http://schemas.microsoft.com/office/drawing/2014/main" val="3854543216"/>
                    </a:ext>
                  </a:extLst>
                </a:gridCol>
                <a:gridCol w="3608563">
                  <a:extLst>
                    <a:ext uri="{9D8B030D-6E8A-4147-A177-3AD203B41FA5}">
                      <a16:colId xmlns:a16="http://schemas.microsoft.com/office/drawing/2014/main" val="2895334523"/>
                    </a:ext>
                  </a:extLst>
                </a:gridCol>
                <a:gridCol w="4074204">
                  <a:extLst>
                    <a:ext uri="{9D8B030D-6E8A-4147-A177-3AD203B41FA5}">
                      <a16:colId xmlns:a16="http://schemas.microsoft.com/office/drawing/2014/main" val="802893418"/>
                    </a:ext>
                  </a:extLst>
                </a:gridCol>
              </a:tblGrid>
              <a:tr h="3984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</a:rPr>
                        <a:t>Patient Type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</a:rPr>
                        <a:t>ECG Type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b="1" u="none" strike="noStrike">
                          <a:effectLst/>
                        </a:rPr>
                        <a:t>Frequency</a:t>
                      </a:r>
                      <a:endParaRPr lang="en-US" sz="210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4094293175"/>
                  </a:ext>
                </a:extLst>
              </a:tr>
              <a:tr h="3984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Pre-Surgical Patients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12-lead ECG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Once, or more if needed.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1797636968"/>
                  </a:ext>
                </a:extLst>
              </a:tr>
              <a:tr h="3984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Post-Cardiac Surgery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Continuous ECG (Telemetry)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24–72 hours.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2598251012"/>
                  </a:ext>
                </a:extLst>
              </a:tr>
              <a:tr h="715705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Post-Major Surgery (Non-Cardiac)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12-lead ECG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Within 24 hours, then as needed.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287587082"/>
                  </a:ext>
                </a:extLst>
              </a:tr>
              <a:tr h="3984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Emergency Chest Pain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12-lead ECG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Immediately, then repeated.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562414307"/>
                  </a:ext>
                </a:extLst>
              </a:tr>
              <a:tr h="3984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Arrhythmia Symptoms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Holter monitor or telemetry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24–48 hours.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1384539032"/>
                  </a:ext>
                </a:extLst>
              </a:tr>
              <a:tr h="3984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ICU/Severe Sepsis/Shock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Continuous ECG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2100" u="none" strike="noStrike">
                          <a:effectLst/>
                        </a:rPr>
                        <a:t>Until stable.</a:t>
                      </a:r>
                      <a:endParaRPr lang="en-US" sz="21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12017" marR="12017" marT="12017" marB="0" anchor="ctr"/>
                </a:tc>
                <a:extLst>
                  <a:ext uri="{0D108BD9-81ED-4DB2-BD59-A6C34878D82A}">
                    <a16:rowId xmlns:a16="http://schemas.microsoft.com/office/drawing/2014/main" val="4239521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5984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AD2B4D-96AA-AEDD-4EB6-0D0C40E65F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Factors influencing purchase decision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D498A-042F-6017-5F84-655C62ED6B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Competitors &amp; internal requirements such a system</a:t>
            </a:r>
          </a:p>
          <a:p>
            <a:r>
              <a:rPr lang="en-US"/>
              <a:t>Hier </a:t>
            </a:r>
            <a:r>
              <a:rPr lang="en-US" dirty="0"/>
              <a:t>typical purchase chain and stakeholders.</a:t>
            </a:r>
          </a:p>
          <a:p>
            <a:r>
              <a:rPr lang="en-US" dirty="0"/>
              <a:t>One-time purchase model preferable over recurring.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46513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19" name="Rectangle 411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EF8BF2-6912-9CC9-AACF-656F9D7A9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r>
              <a:rPr lang="en-US" sz="4200"/>
              <a:t>Narayana Hrudayala - Profile</a:t>
            </a:r>
          </a:p>
        </p:txBody>
      </p:sp>
      <p:sp>
        <p:nvSpPr>
          <p:cNvPr id="4120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C4376-FC1F-0D0B-AB3C-F09706A1D5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US" sz="1900" dirty="0"/>
              <a:t>6186 beds in 39 facilities across 3 heart </a:t>
            </a:r>
            <a:r>
              <a:rPr lang="en-US" sz="1900" dirty="0" err="1"/>
              <a:t>centres</a:t>
            </a:r>
            <a:r>
              <a:rPr lang="en-US" sz="1900" dirty="0"/>
              <a:t>, 18 hospitals and 17 primary care facilities.</a:t>
            </a:r>
          </a:p>
          <a:p>
            <a:r>
              <a:rPr lang="en-US" sz="1900" dirty="0"/>
              <a:t>Average revenue per occupied bed (ARPOB): Rs. 35.3k/day</a:t>
            </a:r>
          </a:p>
          <a:p>
            <a:r>
              <a:rPr lang="en-US" sz="1900" dirty="0"/>
              <a:t>Average length of stay: 4.4 days</a:t>
            </a:r>
          </a:p>
          <a:p>
            <a:r>
              <a:rPr lang="en-US" sz="1900" dirty="0"/>
              <a:t>Rare Indian chain with international operations: 19% sales – 110 bed Health City Cayman Islands </a:t>
            </a:r>
          </a:p>
          <a:p>
            <a:r>
              <a:rPr lang="en-US" sz="1900" dirty="0"/>
              <a:t>33% case mix from cardiac sciences</a:t>
            </a:r>
          </a:p>
          <a:p>
            <a:endParaRPr lang="en-US" sz="1900" dirty="0"/>
          </a:p>
        </p:txBody>
      </p:sp>
      <p:pic>
        <p:nvPicPr>
          <p:cNvPr id="4106" name="Picture 10">
            <a:extLst>
              <a:ext uri="{FF2B5EF4-FFF2-40B4-BE49-F238E27FC236}">
                <a16:creationId xmlns:a16="http://schemas.microsoft.com/office/drawing/2014/main" id="{8FCEF220-3CBB-0B20-AEEC-D7401E6291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09" r="18164" b="-2"/>
          <a:stretch/>
        </p:blipFill>
        <p:spPr bwMode="auto"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AutoShape 4" descr="narayana-bangalore">
            <a:extLst>
              <a:ext uri="{FF2B5EF4-FFF2-40B4-BE49-F238E27FC236}">
                <a16:creationId xmlns:a16="http://schemas.microsoft.com/office/drawing/2014/main" id="{1838B828-A594-6326-D092-A484F194979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2447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5581A9-FEC9-1836-EE8E-4D801236D2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92B883-225E-E63B-97FA-016A786BF0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Narayana </a:t>
            </a:r>
            <a:r>
              <a:rPr lang="en-US" dirty="0" err="1"/>
              <a:t>Hrudayala</a:t>
            </a:r>
            <a:r>
              <a:rPr lang="en-US" dirty="0"/>
              <a:t> – Business case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393B3-2D7F-91F5-ACB2-F655960CBFC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err="1"/>
              <a:t>WaSPs</a:t>
            </a:r>
            <a:r>
              <a:rPr lang="en-US" dirty="0"/>
              <a:t> for 75% of bed capacity: 4500 devices</a:t>
            </a:r>
          </a:p>
          <a:p>
            <a:r>
              <a:rPr lang="en-US" dirty="0"/>
              <a:t>Revenue @Rs. 20k/device : $1.05 Mn, </a:t>
            </a:r>
          </a:p>
          <a:p>
            <a:pPr lvl="1"/>
            <a:r>
              <a:rPr lang="en-US" dirty="0"/>
              <a:t>at launch [500 devices]: $115k</a:t>
            </a:r>
          </a:p>
          <a:p>
            <a:pPr lvl="1"/>
            <a:r>
              <a:rPr lang="en-US" dirty="0"/>
              <a:t>3Y STRAP: $1.57 Mn</a:t>
            </a:r>
          </a:p>
          <a:p>
            <a:r>
              <a:rPr lang="en-US" dirty="0"/>
              <a:t>Revenue @Rs. 75k/device : $ 3.9 Mn</a:t>
            </a:r>
          </a:p>
          <a:p>
            <a:pPr lvl="1"/>
            <a:r>
              <a:rPr lang="en-US" dirty="0"/>
              <a:t>at launch [500 devices]: $430k</a:t>
            </a:r>
          </a:p>
          <a:p>
            <a:pPr lvl="1"/>
            <a:r>
              <a:rPr lang="en-US" dirty="0"/>
              <a:t>3Y STRAP: $5.9 Mn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4EDFB8-C68C-F92A-1036-22EED126C32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Value drivers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Health City Cayman Islands revenue growing at 11%</a:t>
            </a:r>
          </a:p>
          <a:p>
            <a:pPr lvl="1"/>
            <a:r>
              <a:rPr lang="en-US" dirty="0"/>
              <a:t>NHS tie-up, FDA approval for global reach</a:t>
            </a:r>
          </a:p>
          <a:p>
            <a:pPr lvl="1"/>
            <a:r>
              <a:rPr lang="en-US" dirty="0"/>
              <a:t>Wider cardiac monitoring market: $14 Mn </a:t>
            </a:r>
          </a:p>
          <a:p>
            <a:pPr lvl="1"/>
            <a:r>
              <a:rPr lang="en-US" dirty="0"/>
              <a:t>The device has a 2-year lifecycle, creating recurring revenue from each hospital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33803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DBD52-33CD-7543-3923-EF8FABC7EE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Pricing rationale</a:t>
            </a: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9B0A9858-6BB6-98BB-E590-3DC5E280B7B1}"/>
              </a:ext>
            </a:extLst>
          </p:cNvPr>
          <p:cNvGraphicFramePr>
            <a:graphicFrameLocks noGrp="1"/>
          </p:cNvGraphicFramePr>
          <p:nvPr>
            <p:ph sz="half" idx="1"/>
            <p:extLst>
              <p:ext uri="{D42A27DB-BD31-4B8C-83A1-F6EECF244321}">
                <p14:modId xmlns:p14="http://schemas.microsoft.com/office/powerpoint/2010/main" val="1764607709"/>
              </p:ext>
            </p:extLst>
          </p:nvPr>
        </p:nvGraphicFramePr>
        <p:xfrm>
          <a:off x="838200" y="1825625"/>
          <a:ext cx="5181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95B9E-B0BA-BE14-482C-A374BE875FB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Patient charge @1500/day is 4% of ARPOB</a:t>
            </a:r>
          </a:p>
          <a:p>
            <a:r>
              <a:rPr lang="en-US" dirty="0"/>
              <a:t>With daily ~180 procedures and 4-day monitoring, annual revenue from WSP: Rs. 39 crores </a:t>
            </a:r>
            <a:r>
              <a:rPr lang="en-US" dirty="0" err="1"/>
              <a:t>i.e</a:t>
            </a:r>
            <a:r>
              <a:rPr lang="en-US" dirty="0"/>
              <a:t> $ 4.9 Mn</a:t>
            </a:r>
          </a:p>
          <a:p>
            <a:r>
              <a:rPr lang="en-US" dirty="0"/>
              <a:t>Benefit/cost ratio over 2-year period for 4500 beds: 2.3</a:t>
            </a:r>
          </a:p>
          <a:p>
            <a:r>
              <a:rPr lang="en-US" dirty="0"/>
              <a:t>Cost breakeven: 10 month</a:t>
            </a:r>
          </a:p>
          <a:p>
            <a:r>
              <a:rPr lang="en-US" dirty="0"/>
              <a:t>[Rev: $ 9Mn, Cost: $3.9Mn]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71737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345A976A-8DE3-4B67-B94B-2044FDD128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AAA1B9-2DDB-49C9-A037-A523D2F13C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500141C-EB92-0D56-84A8-270CCBF96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457200"/>
            <a:ext cx="10579608" cy="118872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chemeClr val="tx2"/>
                </a:solidFill>
              </a:rPr>
              <a:t>Market size - WSP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6566969-F813-4CC5-B3E9-363D85B55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8881264" y="-5116"/>
            <a:ext cx="3318648" cy="2490264"/>
            <a:chOff x="-305" y="-1"/>
            <a:chExt cx="3832880" cy="2876136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AF8CF66C-45E2-456B-92B0-9E97A331D1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3815424" cy="2653659"/>
            </a:xfrm>
            <a:custGeom>
              <a:avLst/>
              <a:gdLst>
                <a:gd name="connsiteX0" fmla="*/ 3203055 w 3815424"/>
                <a:gd name="connsiteY0" fmla="*/ 0 h 2653659"/>
                <a:gd name="connsiteX1" fmla="*/ 3815424 w 3815424"/>
                <a:gd name="connsiteY1" fmla="*/ 0 h 2653659"/>
                <a:gd name="connsiteX2" fmla="*/ 3801025 w 3815424"/>
                <a:gd name="connsiteY2" fmla="*/ 214243 h 2653659"/>
                <a:gd name="connsiteX3" fmla="*/ 587142 w 3815424"/>
                <a:gd name="connsiteY3" fmla="*/ 2653659 h 2653659"/>
                <a:gd name="connsiteX4" fmla="*/ 53389 w 3815424"/>
                <a:gd name="connsiteY4" fmla="*/ 2605041 h 2653659"/>
                <a:gd name="connsiteX5" fmla="*/ 0 w 3815424"/>
                <a:gd name="connsiteY5" fmla="*/ 2593136 h 2653659"/>
                <a:gd name="connsiteX6" fmla="*/ 0 w 3815424"/>
                <a:gd name="connsiteY6" fmla="*/ 1994836 h 2653659"/>
                <a:gd name="connsiteX7" fmla="*/ 159710 w 3815424"/>
                <a:gd name="connsiteY7" fmla="*/ 2035054 h 2653659"/>
                <a:gd name="connsiteX8" fmla="*/ 587142 w 3815424"/>
                <a:gd name="connsiteY8" fmla="*/ 2075152 h 2653659"/>
                <a:gd name="connsiteX9" fmla="*/ 1549283 w 3815424"/>
                <a:gd name="connsiteY9" fmla="*/ 1900153 h 2653659"/>
                <a:gd name="connsiteX10" fmla="*/ 2406698 w 3815424"/>
                <a:gd name="connsiteY10" fmla="*/ 1418450 h 2653659"/>
                <a:gd name="connsiteX11" fmla="*/ 2996069 w 3815424"/>
                <a:gd name="connsiteY11" fmla="*/ 728678 h 2653659"/>
                <a:gd name="connsiteX12" fmla="*/ 3193967 w 3815424"/>
                <a:gd name="connsiteY12" fmla="*/ 137719 h 26536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59">
                  <a:moveTo>
                    <a:pt x="3203055" y="0"/>
                  </a:moveTo>
                  <a:lnTo>
                    <a:pt x="3815424" y="0"/>
                  </a:lnTo>
                  <a:lnTo>
                    <a:pt x="3801025" y="214243"/>
                  </a:lnTo>
                  <a:cubicBezTo>
                    <a:pt x="3616317" y="1584467"/>
                    <a:pt x="2091637" y="2653659"/>
                    <a:pt x="587142" y="2653659"/>
                  </a:cubicBezTo>
                  <a:cubicBezTo>
                    <a:pt x="400192" y="2653659"/>
                    <a:pt x="222112" y="2636953"/>
                    <a:pt x="53389" y="2605041"/>
                  </a:cubicBezTo>
                  <a:lnTo>
                    <a:pt x="0" y="2593136"/>
                  </a:lnTo>
                  <a:lnTo>
                    <a:pt x="0" y="1994836"/>
                  </a:lnTo>
                  <a:lnTo>
                    <a:pt x="159710" y="2035054"/>
                  </a:lnTo>
                  <a:cubicBezTo>
                    <a:pt x="295467" y="2061726"/>
                    <a:pt x="438268" y="2075152"/>
                    <a:pt x="587142" y="2075152"/>
                  </a:cubicBezTo>
                  <a:cubicBezTo>
                    <a:pt x="901731" y="2075152"/>
                    <a:pt x="1234490" y="2014697"/>
                    <a:pt x="1549283" y="1900153"/>
                  </a:cubicBezTo>
                  <a:cubicBezTo>
                    <a:pt x="1860709" y="1786959"/>
                    <a:pt x="2157231" y="1620350"/>
                    <a:pt x="2406698" y="1418450"/>
                  </a:cubicBezTo>
                  <a:cubicBezTo>
                    <a:pt x="2655859" y="1216840"/>
                    <a:pt x="2859596" y="978302"/>
                    <a:pt x="2996069" y="728678"/>
                  </a:cubicBezTo>
                  <a:cubicBezTo>
                    <a:pt x="3101178" y="536396"/>
                    <a:pt x="3167417" y="338366"/>
                    <a:pt x="3193967" y="13771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65D590E-D70D-4D25-B853-D5208F2AA3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15424" cy="2653660"/>
            </a:xfrm>
            <a:custGeom>
              <a:avLst/>
              <a:gdLst>
                <a:gd name="connsiteX0" fmla="*/ 3305038 w 3815424"/>
                <a:gd name="connsiteY0" fmla="*/ 0 h 2653660"/>
                <a:gd name="connsiteX1" fmla="*/ 3815424 w 3815424"/>
                <a:gd name="connsiteY1" fmla="*/ 0 h 2653660"/>
                <a:gd name="connsiteX2" fmla="*/ 3801025 w 3815424"/>
                <a:gd name="connsiteY2" fmla="*/ 214244 h 2653660"/>
                <a:gd name="connsiteX3" fmla="*/ 587142 w 3815424"/>
                <a:gd name="connsiteY3" fmla="*/ 2653660 h 2653660"/>
                <a:gd name="connsiteX4" fmla="*/ 53389 w 3815424"/>
                <a:gd name="connsiteY4" fmla="*/ 2605042 h 2653660"/>
                <a:gd name="connsiteX5" fmla="*/ 0 w 3815424"/>
                <a:gd name="connsiteY5" fmla="*/ 2593137 h 2653660"/>
                <a:gd name="connsiteX6" fmla="*/ 0 w 3815424"/>
                <a:gd name="connsiteY6" fmla="*/ 2094444 h 2653660"/>
                <a:gd name="connsiteX7" fmla="*/ 137675 w 3815424"/>
                <a:gd name="connsiteY7" fmla="*/ 2129195 h 2653660"/>
                <a:gd name="connsiteX8" fmla="*/ 587142 w 3815424"/>
                <a:gd name="connsiteY8" fmla="*/ 2171571 h 2653660"/>
                <a:gd name="connsiteX9" fmla="*/ 1585826 w 3815424"/>
                <a:gd name="connsiteY9" fmla="*/ 1990112 h 2653660"/>
                <a:gd name="connsiteX10" fmla="*/ 2473046 w 3815424"/>
                <a:gd name="connsiteY10" fmla="*/ 1491633 h 2653660"/>
                <a:gd name="connsiteX11" fmla="*/ 3086710 w 3815424"/>
                <a:gd name="connsiteY11" fmla="*/ 772838 h 2653660"/>
                <a:gd name="connsiteX12" fmla="*/ 3295217 w 3815424"/>
                <a:gd name="connsiteY12" fmla="*/ 149229 h 265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815424" h="2653660">
                  <a:moveTo>
                    <a:pt x="3305038" y="0"/>
                  </a:moveTo>
                  <a:lnTo>
                    <a:pt x="3815424" y="0"/>
                  </a:lnTo>
                  <a:lnTo>
                    <a:pt x="3801025" y="214244"/>
                  </a:lnTo>
                  <a:cubicBezTo>
                    <a:pt x="3616317" y="1584467"/>
                    <a:pt x="2091637" y="2653660"/>
                    <a:pt x="587142" y="2653660"/>
                  </a:cubicBezTo>
                  <a:cubicBezTo>
                    <a:pt x="400192" y="2653660"/>
                    <a:pt x="222112" y="2636954"/>
                    <a:pt x="53389" y="2605042"/>
                  </a:cubicBezTo>
                  <a:lnTo>
                    <a:pt x="0" y="2593137"/>
                  </a:lnTo>
                  <a:lnTo>
                    <a:pt x="0" y="2094444"/>
                  </a:lnTo>
                  <a:lnTo>
                    <a:pt x="137675" y="2129195"/>
                  </a:lnTo>
                  <a:cubicBezTo>
                    <a:pt x="280616" y="2157374"/>
                    <a:pt x="430766" y="2171571"/>
                    <a:pt x="587142" y="2171571"/>
                  </a:cubicBezTo>
                  <a:cubicBezTo>
                    <a:pt x="918879" y="2171571"/>
                    <a:pt x="1254904" y="2110634"/>
                    <a:pt x="1585826" y="1990112"/>
                  </a:cubicBezTo>
                  <a:cubicBezTo>
                    <a:pt x="1908071" y="1873061"/>
                    <a:pt x="2214800" y="1700666"/>
                    <a:pt x="2473046" y="1491633"/>
                  </a:cubicBezTo>
                  <a:cubicBezTo>
                    <a:pt x="2735782" y="1279031"/>
                    <a:pt x="2942276" y="1037118"/>
                    <a:pt x="3086710" y="772838"/>
                  </a:cubicBezTo>
                  <a:cubicBezTo>
                    <a:pt x="3197408" y="570216"/>
                    <a:pt x="3267226" y="361248"/>
                    <a:pt x="3295217" y="14922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6231501E-3F84-4705-A001-13995FA688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1"/>
              <a:ext cx="3815986" cy="2675935"/>
            </a:xfrm>
            <a:custGeom>
              <a:avLst/>
              <a:gdLst>
                <a:gd name="connsiteX0" fmla="*/ 3648768 w 3815986"/>
                <a:gd name="connsiteY0" fmla="*/ 0 h 2675935"/>
                <a:gd name="connsiteX1" fmla="*/ 3815986 w 3815986"/>
                <a:gd name="connsiteY1" fmla="*/ 0 h 2675935"/>
                <a:gd name="connsiteX2" fmla="*/ 3804695 w 3815986"/>
                <a:gd name="connsiteY2" fmla="*/ 200084 h 2675935"/>
                <a:gd name="connsiteX3" fmla="*/ 3762590 w 3815986"/>
                <a:gd name="connsiteY3" fmla="*/ 455543 h 2675935"/>
                <a:gd name="connsiteX4" fmla="*/ 3592332 w 3815986"/>
                <a:gd name="connsiteY4" fmla="*/ 947274 h 2675935"/>
                <a:gd name="connsiteX5" fmla="*/ 2953967 w 3815986"/>
                <a:gd name="connsiteY5" fmla="*/ 1782349 h 2675935"/>
                <a:gd name="connsiteX6" fmla="*/ 2530669 w 3815986"/>
                <a:gd name="connsiteY6" fmla="*/ 2109494 h 2675935"/>
                <a:gd name="connsiteX7" fmla="*/ 2057561 w 3815986"/>
                <a:gd name="connsiteY7" fmla="*/ 2369245 h 2675935"/>
                <a:gd name="connsiteX8" fmla="*/ 1007330 w 3815986"/>
                <a:gd name="connsiteY8" fmla="*/ 2655701 h 2675935"/>
                <a:gd name="connsiteX9" fmla="*/ 732765 w 3815986"/>
                <a:gd name="connsiteY9" fmla="*/ 2674696 h 2675935"/>
                <a:gd name="connsiteX10" fmla="*/ 457666 w 3815986"/>
                <a:gd name="connsiteY10" fmla="*/ 2670839 h 2675935"/>
                <a:gd name="connsiteX11" fmla="*/ 183574 w 3815986"/>
                <a:gd name="connsiteY11" fmla="*/ 2643312 h 2675935"/>
                <a:gd name="connsiteX12" fmla="*/ 0 w 3815986"/>
                <a:gd name="connsiteY12" fmla="*/ 2607798 h 2675935"/>
                <a:gd name="connsiteX13" fmla="*/ 0 w 3815986"/>
                <a:gd name="connsiteY13" fmla="*/ 2356652 h 2675935"/>
                <a:gd name="connsiteX14" fmla="*/ 222195 w 3815986"/>
                <a:gd name="connsiteY14" fmla="*/ 2396940 h 2675935"/>
                <a:gd name="connsiteX15" fmla="*/ 472364 w 3815986"/>
                <a:gd name="connsiteY15" fmla="*/ 2419092 h 2675935"/>
                <a:gd name="connsiteX16" fmla="*/ 974972 w 3815986"/>
                <a:gd name="connsiteY16" fmla="*/ 2402122 h 2675935"/>
                <a:gd name="connsiteX17" fmla="*/ 1468292 w 3815986"/>
                <a:gd name="connsiteY17" fmla="*/ 2304162 h 2675935"/>
                <a:gd name="connsiteX18" fmla="*/ 1940176 w 3815986"/>
                <a:gd name="connsiteY18" fmla="*/ 2133695 h 2675935"/>
                <a:gd name="connsiteX19" fmla="*/ 2783403 w 3815986"/>
                <a:gd name="connsiteY19" fmla="*/ 1609954 h 2675935"/>
                <a:gd name="connsiteX20" fmla="*/ 3128104 w 3815986"/>
                <a:gd name="connsiteY20" fmla="*/ 1260439 h 2675935"/>
                <a:gd name="connsiteX21" fmla="*/ 3400639 w 3815986"/>
                <a:gd name="connsiteY21" fmla="*/ 859052 h 2675935"/>
                <a:gd name="connsiteX22" fmla="*/ 3585595 w 3815986"/>
                <a:gd name="connsiteY22" fmla="*/ 415336 h 2675935"/>
                <a:gd name="connsiteX23" fmla="*/ 3635918 w 3815986"/>
                <a:gd name="connsiteY23" fmla="*/ 181137 h 26759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15986" h="2675935">
                  <a:moveTo>
                    <a:pt x="3648768" y="0"/>
                  </a:moveTo>
                  <a:lnTo>
                    <a:pt x="3815986" y="0"/>
                  </a:lnTo>
                  <a:lnTo>
                    <a:pt x="3804695" y="200084"/>
                  </a:lnTo>
                  <a:cubicBezTo>
                    <a:pt x="3795228" y="285751"/>
                    <a:pt x="3781167" y="371032"/>
                    <a:pt x="3762590" y="455543"/>
                  </a:cubicBezTo>
                  <a:cubicBezTo>
                    <a:pt x="3725537" y="624467"/>
                    <a:pt x="3668784" y="790112"/>
                    <a:pt x="3592332" y="947274"/>
                  </a:cubicBezTo>
                  <a:cubicBezTo>
                    <a:pt x="3438712" y="1261596"/>
                    <a:pt x="3216091" y="1542847"/>
                    <a:pt x="2953967" y="1782349"/>
                  </a:cubicBezTo>
                  <a:cubicBezTo>
                    <a:pt x="2822599" y="1902099"/>
                    <a:pt x="2680615" y="2011341"/>
                    <a:pt x="2530669" y="2109494"/>
                  </a:cubicBezTo>
                  <a:cubicBezTo>
                    <a:pt x="2380520" y="2207551"/>
                    <a:pt x="2222510" y="2294906"/>
                    <a:pt x="2057561" y="2369245"/>
                  </a:cubicBezTo>
                  <a:cubicBezTo>
                    <a:pt x="1727252" y="2516859"/>
                    <a:pt x="1371629" y="2614434"/>
                    <a:pt x="1007330" y="2655701"/>
                  </a:cubicBezTo>
                  <a:cubicBezTo>
                    <a:pt x="916281" y="2665873"/>
                    <a:pt x="824568" y="2672188"/>
                    <a:pt x="732765" y="2674696"/>
                  </a:cubicBezTo>
                  <a:cubicBezTo>
                    <a:pt x="640963" y="2677203"/>
                    <a:pt x="549072" y="2675901"/>
                    <a:pt x="457666" y="2670839"/>
                  </a:cubicBezTo>
                  <a:cubicBezTo>
                    <a:pt x="366106" y="2665584"/>
                    <a:pt x="274572" y="2656521"/>
                    <a:pt x="183574" y="2643312"/>
                  </a:cubicBezTo>
                  <a:lnTo>
                    <a:pt x="0" y="2607798"/>
                  </a:lnTo>
                  <a:lnTo>
                    <a:pt x="0" y="2356652"/>
                  </a:lnTo>
                  <a:lnTo>
                    <a:pt x="222195" y="2396940"/>
                  </a:lnTo>
                  <a:cubicBezTo>
                    <a:pt x="304990" y="2407980"/>
                    <a:pt x="388511" y="2415283"/>
                    <a:pt x="472364" y="2419092"/>
                  </a:cubicBezTo>
                  <a:cubicBezTo>
                    <a:pt x="640376" y="2427095"/>
                    <a:pt x="808184" y="2421791"/>
                    <a:pt x="974972" y="2402122"/>
                  </a:cubicBezTo>
                  <a:cubicBezTo>
                    <a:pt x="1141658" y="2382358"/>
                    <a:pt x="1306812" y="2349286"/>
                    <a:pt x="1468292" y="2304162"/>
                  </a:cubicBezTo>
                  <a:cubicBezTo>
                    <a:pt x="1629874" y="2259231"/>
                    <a:pt x="1787475" y="2201091"/>
                    <a:pt x="1940176" y="2133695"/>
                  </a:cubicBezTo>
                  <a:cubicBezTo>
                    <a:pt x="2246498" y="2000349"/>
                    <a:pt x="2532507" y="1823520"/>
                    <a:pt x="2783403" y="1609954"/>
                  </a:cubicBezTo>
                  <a:cubicBezTo>
                    <a:pt x="2908442" y="1502833"/>
                    <a:pt x="3024295" y="1385975"/>
                    <a:pt x="3128104" y="1260439"/>
                  </a:cubicBezTo>
                  <a:cubicBezTo>
                    <a:pt x="3232116" y="1135096"/>
                    <a:pt x="3323881" y="1000689"/>
                    <a:pt x="3400639" y="859052"/>
                  </a:cubicBezTo>
                  <a:cubicBezTo>
                    <a:pt x="3477399" y="717510"/>
                    <a:pt x="3541296" y="569316"/>
                    <a:pt x="3585595" y="415336"/>
                  </a:cubicBezTo>
                  <a:cubicBezTo>
                    <a:pt x="3607796" y="338540"/>
                    <a:pt x="3624638" y="260224"/>
                    <a:pt x="3635918" y="18113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52617E4-47FD-4C38-8F70-93BF9B12576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1"/>
              <a:ext cx="3832270" cy="2876136"/>
            </a:xfrm>
            <a:custGeom>
              <a:avLst/>
              <a:gdLst>
                <a:gd name="connsiteX0" fmla="*/ 3800718 w 3832270"/>
                <a:gd name="connsiteY0" fmla="*/ 0 h 2876136"/>
                <a:gd name="connsiteX1" fmla="*/ 3832270 w 3832270"/>
                <a:gd name="connsiteY1" fmla="*/ 0 h 2876136"/>
                <a:gd name="connsiteX2" fmla="*/ 3824562 w 3832270"/>
                <a:gd name="connsiteY2" fmla="*/ 143769 h 2876136"/>
                <a:gd name="connsiteX3" fmla="*/ 3628155 w 3832270"/>
                <a:gd name="connsiteY3" fmla="*/ 922055 h 2876136"/>
                <a:gd name="connsiteX4" fmla="*/ 3514853 w 3832270"/>
                <a:gd name="connsiteY4" fmla="*/ 1169078 h 2876136"/>
                <a:gd name="connsiteX5" fmla="*/ 3379198 w 3832270"/>
                <a:gd name="connsiteY5" fmla="*/ 1407037 h 2876136"/>
                <a:gd name="connsiteX6" fmla="*/ 3043787 w 3832270"/>
                <a:gd name="connsiteY6" fmla="*/ 1848342 h 2876136"/>
                <a:gd name="connsiteX7" fmla="*/ 2845661 w 3832270"/>
                <a:gd name="connsiteY7" fmla="*/ 2047444 h 2876136"/>
                <a:gd name="connsiteX8" fmla="*/ 2793197 w 3832270"/>
                <a:gd name="connsiteY8" fmla="*/ 2094689 h 2876136"/>
                <a:gd name="connsiteX9" fmla="*/ 2739710 w 3832270"/>
                <a:gd name="connsiteY9" fmla="*/ 2140969 h 2876136"/>
                <a:gd name="connsiteX10" fmla="*/ 2629166 w 3832270"/>
                <a:gd name="connsiteY10" fmla="*/ 2229867 h 2876136"/>
                <a:gd name="connsiteX11" fmla="*/ 2145952 w 3832270"/>
                <a:gd name="connsiteY11" fmla="*/ 2535994 h 2876136"/>
                <a:gd name="connsiteX12" fmla="*/ 1034987 w 3832270"/>
                <a:gd name="connsiteY12" fmla="*/ 2863910 h 2876136"/>
                <a:gd name="connsiteX13" fmla="*/ 741909 w 3832270"/>
                <a:gd name="connsiteY13" fmla="*/ 2875939 h 2876136"/>
                <a:gd name="connsiteX14" fmla="*/ 450208 w 3832270"/>
                <a:gd name="connsiteY14" fmla="*/ 2857451 h 2876136"/>
                <a:gd name="connsiteX15" fmla="*/ 22215 w 3832270"/>
                <a:gd name="connsiteY15" fmla="*/ 2775923 h 2876136"/>
                <a:gd name="connsiteX16" fmla="*/ 0 w 3832270"/>
                <a:gd name="connsiteY16" fmla="*/ 2769256 h 2876136"/>
                <a:gd name="connsiteX17" fmla="*/ 0 w 3832270"/>
                <a:gd name="connsiteY17" fmla="*/ 2590612 h 2876136"/>
                <a:gd name="connsiteX18" fmla="*/ 199046 w 3832270"/>
                <a:gd name="connsiteY18" fmla="*/ 2627410 h 2876136"/>
                <a:gd name="connsiteX19" fmla="*/ 468174 w 3832270"/>
                <a:gd name="connsiteY19" fmla="*/ 2649670 h 2876136"/>
                <a:gd name="connsiteX20" fmla="*/ 1003650 w 3832270"/>
                <a:gd name="connsiteY20" fmla="*/ 2622480 h 2876136"/>
                <a:gd name="connsiteX21" fmla="*/ 1266489 w 3832270"/>
                <a:gd name="connsiteY21" fmla="*/ 2573982 h 2876136"/>
                <a:gd name="connsiteX22" fmla="*/ 1524223 w 3832270"/>
                <a:gd name="connsiteY22" fmla="*/ 2504657 h 2876136"/>
                <a:gd name="connsiteX23" fmla="*/ 1775731 w 3832270"/>
                <a:gd name="connsiteY23" fmla="*/ 2416243 h 2876136"/>
                <a:gd name="connsiteX24" fmla="*/ 2019789 w 3832270"/>
                <a:gd name="connsiteY24" fmla="*/ 2309412 h 2876136"/>
                <a:gd name="connsiteX25" fmla="*/ 2482486 w 3832270"/>
                <a:gd name="connsiteY25" fmla="*/ 2046962 h 2876136"/>
                <a:gd name="connsiteX26" fmla="*/ 2591908 w 3832270"/>
                <a:gd name="connsiteY26" fmla="*/ 1971371 h 2876136"/>
                <a:gd name="connsiteX27" fmla="*/ 2645702 w 3832270"/>
                <a:gd name="connsiteY27" fmla="*/ 1932321 h 2876136"/>
                <a:gd name="connsiteX28" fmla="*/ 2698779 w 3832270"/>
                <a:gd name="connsiteY28" fmla="*/ 1892309 h 2876136"/>
                <a:gd name="connsiteX29" fmla="*/ 2903537 w 3832270"/>
                <a:gd name="connsiteY29" fmla="*/ 1722516 h 2876136"/>
                <a:gd name="connsiteX30" fmla="*/ 3269061 w 3832270"/>
                <a:gd name="connsiteY30" fmla="*/ 1337327 h 2876136"/>
                <a:gd name="connsiteX31" fmla="*/ 3424928 w 3832270"/>
                <a:gd name="connsiteY31" fmla="*/ 1122508 h 2876136"/>
                <a:gd name="connsiteX32" fmla="*/ 3557622 w 3832270"/>
                <a:gd name="connsiteY32" fmla="*/ 893226 h 2876136"/>
                <a:gd name="connsiteX33" fmla="*/ 3587019 w 3832270"/>
                <a:gd name="connsiteY33" fmla="*/ 833929 h 2876136"/>
                <a:gd name="connsiteX34" fmla="*/ 3601310 w 3832270"/>
                <a:gd name="connsiteY34" fmla="*/ 804040 h 2876136"/>
                <a:gd name="connsiteX35" fmla="*/ 3614885 w 3832270"/>
                <a:gd name="connsiteY35" fmla="*/ 773861 h 2876136"/>
                <a:gd name="connsiteX36" fmla="*/ 3640812 w 3832270"/>
                <a:gd name="connsiteY36" fmla="*/ 713022 h 2876136"/>
                <a:gd name="connsiteX37" fmla="*/ 3665105 w 3832270"/>
                <a:gd name="connsiteY37" fmla="*/ 651506 h 2876136"/>
                <a:gd name="connsiteX38" fmla="*/ 3744110 w 3832270"/>
                <a:gd name="connsiteY38" fmla="*/ 399567 h 2876136"/>
                <a:gd name="connsiteX39" fmla="*/ 3792123 w 3832270"/>
                <a:gd name="connsiteY39" fmla="*/ 140444 h 28761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832270" h="2876136">
                  <a:moveTo>
                    <a:pt x="3800718" y="0"/>
                  </a:moveTo>
                  <a:lnTo>
                    <a:pt x="3832270" y="0"/>
                  </a:lnTo>
                  <a:lnTo>
                    <a:pt x="3824562" y="143769"/>
                  </a:lnTo>
                  <a:cubicBezTo>
                    <a:pt x="3797131" y="409191"/>
                    <a:pt x="3730585" y="671345"/>
                    <a:pt x="3628155" y="922055"/>
                  </a:cubicBezTo>
                  <a:cubicBezTo>
                    <a:pt x="3593858" y="1005553"/>
                    <a:pt x="3556704" y="1088280"/>
                    <a:pt x="3514853" y="1169078"/>
                  </a:cubicBezTo>
                  <a:cubicBezTo>
                    <a:pt x="3473616" y="1250166"/>
                    <a:pt x="3428194" y="1329517"/>
                    <a:pt x="3379198" y="1407037"/>
                  </a:cubicBezTo>
                  <a:cubicBezTo>
                    <a:pt x="3281106" y="1561980"/>
                    <a:pt x="3169132" y="1710174"/>
                    <a:pt x="3043787" y="1848342"/>
                  </a:cubicBezTo>
                  <a:cubicBezTo>
                    <a:pt x="2980806" y="1917184"/>
                    <a:pt x="2915071" y="1984001"/>
                    <a:pt x="2845661" y="2047444"/>
                  </a:cubicBezTo>
                  <a:cubicBezTo>
                    <a:pt x="2828411" y="2063450"/>
                    <a:pt x="2811060" y="2079263"/>
                    <a:pt x="2793197" y="2094689"/>
                  </a:cubicBezTo>
                  <a:cubicBezTo>
                    <a:pt x="2775436" y="2110213"/>
                    <a:pt x="2757982" y="2126025"/>
                    <a:pt x="2739710" y="2140969"/>
                  </a:cubicBezTo>
                  <a:cubicBezTo>
                    <a:pt x="2703576" y="2171341"/>
                    <a:pt x="2666524" y="2200749"/>
                    <a:pt x="2629166" y="2229867"/>
                  </a:cubicBezTo>
                  <a:cubicBezTo>
                    <a:pt x="2479015" y="2345569"/>
                    <a:pt x="2316821" y="2448061"/>
                    <a:pt x="2145952" y="2535994"/>
                  </a:cubicBezTo>
                  <a:cubicBezTo>
                    <a:pt x="1804312" y="2711957"/>
                    <a:pt x="1424600" y="2826982"/>
                    <a:pt x="1034987" y="2863910"/>
                  </a:cubicBezTo>
                  <a:cubicBezTo>
                    <a:pt x="937762" y="2873167"/>
                    <a:pt x="839720" y="2877096"/>
                    <a:pt x="741909" y="2875939"/>
                  </a:cubicBezTo>
                  <a:cubicBezTo>
                    <a:pt x="644097" y="2874782"/>
                    <a:pt x="546515" y="2868539"/>
                    <a:pt x="450208" y="2857451"/>
                  </a:cubicBezTo>
                  <a:cubicBezTo>
                    <a:pt x="305520" y="2840674"/>
                    <a:pt x="162095" y="2813810"/>
                    <a:pt x="22215" y="2775923"/>
                  </a:cubicBezTo>
                  <a:lnTo>
                    <a:pt x="0" y="2769256"/>
                  </a:lnTo>
                  <a:lnTo>
                    <a:pt x="0" y="2590612"/>
                  </a:lnTo>
                  <a:lnTo>
                    <a:pt x="199046" y="2627410"/>
                  </a:lnTo>
                  <a:cubicBezTo>
                    <a:pt x="288321" y="2639209"/>
                    <a:pt x="378197" y="2646537"/>
                    <a:pt x="468174" y="2649670"/>
                  </a:cubicBezTo>
                  <a:cubicBezTo>
                    <a:pt x="648333" y="2656805"/>
                    <a:pt x="826655" y="2647163"/>
                    <a:pt x="1003650" y="2622480"/>
                  </a:cubicBezTo>
                  <a:cubicBezTo>
                    <a:pt x="1091943" y="2609658"/>
                    <a:pt x="1179725" y="2593747"/>
                    <a:pt x="1266489" y="2573982"/>
                  </a:cubicBezTo>
                  <a:cubicBezTo>
                    <a:pt x="1353250" y="2553927"/>
                    <a:pt x="1439298" y="2531076"/>
                    <a:pt x="1524223" y="2504657"/>
                  </a:cubicBezTo>
                  <a:cubicBezTo>
                    <a:pt x="1609149" y="2478336"/>
                    <a:pt x="1693052" y="2448833"/>
                    <a:pt x="1775731" y="2416243"/>
                  </a:cubicBezTo>
                  <a:cubicBezTo>
                    <a:pt x="1858309" y="2383557"/>
                    <a:pt x="1939764" y="2347882"/>
                    <a:pt x="2019789" y="2309412"/>
                  </a:cubicBezTo>
                  <a:cubicBezTo>
                    <a:pt x="2179839" y="2232567"/>
                    <a:pt x="2334583" y="2144923"/>
                    <a:pt x="2482486" y="2046962"/>
                  </a:cubicBezTo>
                  <a:cubicBezTo>
                    <a:pt x="2519334" y="2022376"/>
                    <a:pt x="2556081" y="1997403"/>
                    <a:pt x="2591908" y="1971371"/>
                  </a:cubicBezTo>
                  <a:cubicBezTo>
                    <a:pt x="2610077" y="1958644"/>
                    <a:pt x="2627838" y="1945434"/>
                    <a:pt x="2645702" y="1932321"/>
                  </a:cubicBezTo>
                  <a:cubicBezTo>
                    <a:pt x="2663666" y="1919305"/>
                    <a:pt x="2681325" y="1905903"/>
                    <a:pt x="2698779" y="1892309"/>
                  </a:cubicBezTo>
                  <a:cubicBezTo>
                    <a:pt x="2768903" y="1838025"/>
                    <a:pt x="2837496" y="1781717"/>
                    <a:pt x="2903537" y="1722516"/>
                  </a:cubicBezTo>
                  <a:cubicBezTo>
                    <a:pt x="3035926" y="1604501"/>
                    <a:pt x="3158720" y="1475784"/>
                    <a:pt x="3269061" y="1337327"/>
                  </a:cubicBezTo>
                  <a:cubicBezTo>
                    <a:pt x="3324182" y="1268099"/>
                    <a:pt x="3376341" y="1196461"/>
                    <a:pt x="3424928" y="1122508"/>
                  </a:cubicBezTo>
                  <a:cubicBezTo>
                    <a:pt x="3472697" y="1048170"/>
                    <a:pt x="3517814" y="972000"/>
                    <a:pt x="3557622" y="893226"/>
                  </a:cubicBezTo>
                  <a:cubicBezTo>
                    <a:pt x="3567931" y="873654"/>
                    <a:pt x="3577526" y="853791"/>
                    <a:pt x="3587019" y="833929"/>
                  </a:cubicBezTo>
                  <a:lnTo>
                    <a:pt x="3601310" y="804040"/>
                  </a:lnTo>
                  <a:lnTo>
                    <a:pt x="3614885" y="773861"/>
                  </a:lnTo>
                  <a:cubicBezTo>
                    <a:pt x="3623766" y="753709"/>
                    <a:pt x="3632748" y="733559"/>
                    <a:pt x="3640812" y="713022"/>
                  </a:cubicBezTo>
                  <a:cubicBezTo>
                    <a:pt x="3648876" y="692485"/>
                    <a:pt x="3657756" y="672236"/>
                    <a:pt x="3665105" y="651506"/>
                  </a:cubicBezTo>
                  <a:cubicBezTo>
                    <a:pt x="3696544" y="569166"/>
                    <a:pt x="3723185" y="485089"/>
                    <a:pt x="3744110" y="399567"/>
                  </a:cubicBezTo>
                  <a:cubicBezTo>
                    <a:pt x="3765341" y="314238"/>
                    <a:pt x="3781392" y="227654"/>
                    <a:pt x="3792123" y="14044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217D733-97B6-4C43-AF0C-5E3CB0EA13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0800000" flipH="1">
            <a:off x="0" y="4607887"/>
            <a:ext cx="2605762" cy="2252847"/>
            <a:chOff x="-305" y="-4155"/>
            <a:chExt cx="2514948" cy="2174333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FD288266-7E76-4D4A-BAAC-E233FA013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14948" cy="2170178"/>
            </a:xfrm>
            <a:custGeom>
              <a:avLst/>
              <a:gdLst>
                <a:gd name="connsiteX0" fmla="*/ 2466091 w 2514948"/>
                <a:gd name="connsiteY0" fmla="*/ 0 h 2170178"/>
                <a:gd name="connsiteX1" fmla="*/ 2514948 w 2514948"/>
                <a:gd name="connsiteY1" fmla="*/ 0 h 2170178"/>
                <a:gd name="connsiteX2" fmla="*/ 2512286 w 2514948"/>
                <a:gd name="connsiteY2" fmla="*/ 12375 h 2170178"/>
                <a:gd name="connsiteX3" fmla="*/ 2394961 w 2514948"/>
                <a:gd name="connsiteY3" fmla="*/ 368660 h 2170178"/>
                <a:gd name="connsiteX4" fmla="*/ 2289734 w 2514948"/>
                <a:gd name="connsiteY4" fmla="*/ 598078 h 2170178"/>
                <a:gd name="connsiteX5" fmla="*/ 2163747 w 2514948"/>
                <a:gd name="connsiteY5" fmla="*/ 819078 h 2170178"/>
                <a:gd name="connsiteX6" fmla="*/ 1852241 w 2514948"/>
                <a:gd name="connsiteY6" fmla="*/ 1228932 h 2170178"/>
                <a:gd name="connsiteX7" fmla="*/ 1668235 w 2514948"/>
                <a:gd name="connsiteY7" fmla="*/ 1413844 h 2170178"/>
                <a:gd name="connsiteX8" fmla="*/ 1619510 w 2514948"/>
                <a:gd name="connsiteY8" fmla="*/ 1457722 h 2170178"/>
                <a:gd name="connsiteX9" fmla="*/ 1569835 w 2514948"/>
                <a:gd name="connsiteY9" fmla="*/ 1500704 h 2170178"/>
                <a:gd name="connsiteX10" fmla="*/ 1467169 w 2514948"/>
                <a:gd name="connsiteY10" fmla="*/ 1583266 h 2170178"/>
                <a:gd name="connsiteX11" fmla="*/ 1018393 w 2514948"/>
                <a:gd name="connsiteY11" fmla="*/ 1867576 h 2170178"/>
                <a:gd name="connsiteX12" fmla="*/ 255857 w 2514948"/>
                <a:gd name="connsiteY12" fmla="*/ 2133049 h 2170178"/>
                <a:gd name="connsiteX13" fmla="*/ 0 w 2514948"/>
                <a:gd name="connsiteY13" fmla="*/ 2170178 h 2170178"/>
                <a:gd name="connsiteX14" fmla="*/ 0 w 2514948"/>
                <a:gd name="connsiteY14" fmla="*/ 1940056 h 2170178"/>
                <a:gd name="connsiteX15" fmla="*/ 201609 w 2514948"/>
                <a:gd name="connsiteY15" fmla="*/ 1902856 h 2170178"/>
                <a:gd name="connsiteX16" fmla="*/ 440974 w 2514948"/>
                <a:gd name="connsiteY16" fmla="*/ 1838472 h 2170178"/>
                <a:gd name="connsiteX17" fmla="*/ 674558 w 2514948"/>
                <a:gd name="connsiteY17" fmla="*/ 1756359 h 2170178"/>
                <a:gd name="connsiteX18" fmla="*/ 901222 w 2514948"/>
                <a:gd name="connsiteY18" fmla="*/ 1657142 h 2170178"/>
                <a:gd name="connsiteX19" fmla="*/ 1330943 w 2514948"/>
                <a:gd name="connsiteY19" fmla="*/ 1413396 h 2170178"/>
                <a:gd name="connsiteX20" fmla="*/ 1432566 w 2514948"/>
                <a:gd name="connsiteY20" fmla="*/ 1343193 h 2170178"/>
                <a:gd name="connsiteX21" fmla="*/ 1482527 w 2514948"/>
                <a:gd name="connsiteY21" fmla="*/ 1306926 h 2170178"/>
                <a:gd name="connsiteX22" fmla="*/ 1531821 w 2514948"/>
                <a:gd name="connsiteY22" fmla="*/ 1269765 h 2170178"/>
                <a:gd name="connsiteX23" fmla="*/ 1721986 w 2514948"/>
                <a:gd name="connsiteY23" fmla="*/ 1112073 h 2170178"/>
                <a:gd name="connsiteX24" fmla="*/ 2061460 w 2514948"/>
                <a:gd name="connsiteY24" fmla="*/ 754336 h 2170178"/>
                <a:gd name="connsiteX25" fmla="*/ 2206218 w 2514948"/>
                <a:gd name="connsiteY25" fmla="*/ 554827 h 2170178"/>
                <a:gd name="connsiteX26" fmla="*/ 2329455 w 2514948"/>
                <a:gd name="connsiteY26" fmla="*/ 341886 h 2170178"/>
                <a:gd name="connsiteX27" fmla="*/ 2356757 w 2514948"/>
                <a:gd name="connsiteY27" fmla="*/ 286815 h 2170178"/>
                <a:gd name="connsiteX28" fmla="*/ 2370030 w 2514948"/>
                <a:gd name="connsiteY28" fmla="*/ 259056 h 2170178"/>
                <a:gd name="connsiteX29" fmla="*/ 2382637 w 2514948"/>
                <a:gd name="connsiteY29" fmla="*/ 231028 h 2170178"/>
                <a:gd name="connsiteX30" fmla="*/ 2406716 w 2514948"/>
                <a:gd name="connsiteY30" fmla="*/ 174525 h 2170178"/>
                <a:gd name="connsiteX31" fmla="*/ 2429278 w 2514948"/>
                <a:gd name="connsiteY31" fmla="*/ 117393 h 21701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514948" h="2170178">
                  <a:moveTo>
                    <a:pt x="2466091" y="0"/>
                  </a:moveTo>
                  <a:lnTo>
                    <a:pt x="2514948" y="0"/>
                  </a:lnTo>
                  <a:lnTo>
                    <a:pt x="2512286" y="12375"/>
                  </a:lnTo>
                  <a:cubicBezTo>
                    <a:pt x="2481760" y="133161"/>
                    <a:pt x="2442526" y="252239"/>
                    <a:pt x="2394961" y="368660"/>
                  </a:cubicBezTo>
                  <a:cubicBezTo>
                    <a:pt x="2363109" y="446208"/>
                    <a:pt x="2328603" y="523039"/>
                    <a:pt x="2289734" y="598078"/>
                  </a:cubicBezTo>
                  <a:cubicBezTo>
                    <a:pt x="2251436" y="673387"/>
                    <a:pt x="2209251" y="747083"/>
                    <a:pt x="2163747" y="819078"/>
                  </a:cubicBezTo>
                  <a:cubicBezTo>
                    <a:pt x="2072646" y="962979"/>
                    <a:pt x="1968652" y="1100611"/>
                    <a:pt x="1852241" y="1228932"/>
                  </a:cubicBezTo>
                  <a:cubicBezTo>
                    <a:pt x="1793748" y="1292868"/>
                    <a:pt x="1732698" y="1354923"/>
                    <a:pt x="1668235" y="1413844"/>
                  </a:cubicBezTo>
                  <a:cubicBezTo>
                    <a:pt x="1652214" y="1428709"/>
                    <a:pt x="1636100" y="1443395"/>
                    <a:pt x="1619510" y="1457722"/>
                  </a:cubicBezTo>
                  <a:cubicBezTo>
                    <a:pt x="1603015" y="1472140"/>
                    <a:pt x="1586805" y="1486825"/>
                    <a:pt x="1569835" y="1500704"/>
                  </a:cubicBezTo>
                  <a:cubicBezTo>
                    <a:pt x="1536276" y="1528911"/>
                    <a:pt x="1501865" y="1556223"/>
                    <a:pt x="1467169" y="1583266"/>
                  </a:cubicBezTo>
                  <a:cubicBezTo>
                    <a:pt x="1327719" y="1690722"/>
                    <a:pt x="1177085" y="1785910"/>
                    <a:pt x="1018393" y="1867576"/>
                  </a:cubicBezTo>
                  <a:cubicBezTo>
                    <a:pt x="780425" y="1990142"/>
                    <a:pt x="522567" y="2080875"/>
                    <a:pt x="255857" y="2133049"/>
                  </a:cubicBezTo>
                  <a:lnTo>
                    <a:pt x="0" y="2170178"/>
                  </a:lnTo>
                  <a:lnTo>
                    <a:pt x="0" y="1940056"/>
                  </a:lnTo>
                  <a:lnTo>
                    <a:pt x="201609" y="1902856"/>
                  </a:lnTo>
                  <a:cubicBezTo>
                    <a:pt x="282186" y="1884231"/>
                    <a:pt x="362102" y="1863008"/>
                    <a:pt x="440974" y="1838472"/>
                  </a:cubicBezTo>
                  <a:cubicBezTo>
                    <a:pt x="519848" y="1814027"/>
                    <a:pt x="597771" y="1786627"/>
                    <a:pt x="674558" y="1756359"/>
                  </a:cubicBezTo>
                  <a:cubicBezTo>
                    <a:pt x="751250" y="1726003"/>
                    <a:pt x="826900" y="1692870"/>
                    <a:pt x="901222" y="1657142"/>
                  </a:cubicBezTo>
                  <a:cubicBezTo>
                    <a:pt x="1049865" y="1585774"/>
                    <a:pt x="1193581" y="1504376"/>
                    <a:pt x="1330943" y="1413396"/>
                  </a:cubicBezTo>
                  <a:cubicBezTo>
                    <a:pt x="1365165" y="1390563"/>
                    <a:pt x="1399293" y="1367370"/>
                    <a:pt x="1432566" y="1343193"/>
                  </a:cubicBezTo>
                  <a:cubicBezTo>
                    <a:pt x="1449441" y="1331373"/>
                    <a:pt x="1465936" y="1319104"/>
                    <a:pt x="1482527" y="1306926"/>
                  </a:cubicBezTo>
                  <a:cubicBezTo>
                    <a:pt x="1499210" y="1294837"/>
                    <a:pt x="1515611" y="1282391"/>
                    <a:pt x="1531821" y="1269765"/>
                  </a:cubicBezTo>
                  <a:cubicBezTo>
                    <a:pt x="1596947" y="1219350"/>
                    <a:pt x="1660652" y="1167055"/>
                    <a:pt x="1721986" y="1112073"/>
                  </a:cubicBezTo>
                  <a:cubicBezTo>
                    <a:pt x="1844940" y="1002469"/>
                    <a:pt x="1958983" y="882926"/>
                    <a:pt x="2061460" y="754336"/>
                  </a:cubicBezTo>
                  <a:cubicBezTo>
                    <a:pt x="2112652" y="690042"/>
                    <a:pt x="2161094" y="623510"/>
                    <a:pt x="2206218" y="554827"/>
                  </a:cubicBezTo>
                  <a:cubicBezTo>
                    <a:pt x="2250583" y="485787"/>
                    <a:pt x="2292484" y="415046"/>
                    <a:pt x="2329455" y="341886"/>
                  </a:cubicBezTo>
                  <a:cubicBezTo>
                    <a:pt x="2339030" y="323709"/>
                    <a:pt x="2347941" y="305261"/>
                    <a:pt x="2356757" y="286815"/>
                  </a:cubicBezTo>
                  <a:lnTo>
                    <a:pt x="2370030" y="259056"/>
                  </a:lnTo>
                  <a:lnTo>
                    <a:pt x="2382637" y="231028"/>
                  </a:lnTo>
                  <a:cubicBezTo>
                    <a:pt x="2390885" y="212312"/>
                    <a:pt x="2399227" y="193598"/>
                    <a:pt x="2406716" y="174525"/>
                  </a:cubicBezTo>
                  <a:cubicBezTo>
                    <a:pt x="2414206" y="155452"/>
                    <a:pt x="2422453" y="136646"/>
                    <a:pt x="2429278" y="11739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B697F88A-8624-4BA2-AF06-E6C3A52F03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-4155"/>
              <a:ext cx="2493062" cy="1947896"/>
            </a:xfrm>
            <a:custGeom>
              <a:avLst/>
              <a:gdLst>
                <a:gd name="connsiteX0" fmla="*/ 1896911 w 2493062"/>
                <a:gd name="connsiteY0" fmla="*/ 0 h 1947896"/>
                <a:gd name="connsiteX1" fmla="*/ 2493062 w 2493062"/>
                <a:gd name="connsiteY1" fmla="*/ 0 h 1947896"/>
                <a:gd name="connsiteX2" fmla="*/ 2435315 w 2493062"/>
                <a:gd name="connsiteY2" fmla="*/ 178165 h 1947896"/>
                <a:gd name="connsiteX3" fmla="*/ 93066 w 2493062"/>
                <a:gd name="connsiteY3" fmla="*/ 1935859 h 1947896"/>
                <a:gd name="connsiteX4" fmla="*/ 0 w 2493062"/>
                <a:gd name="connsiteY4" fmla="*/ 1947896 h 1947896"/>
                <a:gd name="connsiteX5" fmla="*/ 0 w 2493062"/>
                <a:gd name="connsiteY5" fmla="*/ 1404756 h 1947896"/>
                <a:gd name="connsiteX6" fmla="*/ 17392 w 2493062"/>
                <a:gd name="connsiteY6" fmla="*/ 1402364 h 1947896"/>
                <a:gd name="connsiteX7" fmla="*/ 464249 w 2493062"/>
                <a:gd name="connsiteY7" fmla="*/ 1281208 h 1947896"/>
                <a:gd name="connsiteX8" fmla="*/ 1260556 w 2493062"/>
                <a:gd name="connsiteY8" fmla="*/ 833835 h 1947896"/>
                <a:gd name="connsiteX9" fmla="*/ 1807924 w 2493062"/>
                <a:gd name="connsiteY9" fmla="*/ 193222 h 1947896"/>
                <a:gd name="connsiteX10" fmla="*/ 1874357 w 2493062"/>
                <a:gd name="connsiteY10" fmla="*/ 58333 h 1947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3062" h="1947896">
                  <a:moveTo>
                    <a:pt x="1896911" y="0"/>
                  </a:moveTo>
                  <a:lnTo>
                    <a:pt x="2493062" y="0"/>
                  </a:lnTo>
                  <a:lnTo>
                    <a:pt x="2435315" y="178165"/>
                  </a:lnTo>
                  <a:cubicBezTo>
                    <a:pt x="2088122" y="1071812"/>
                    <a:pt x="1129732" y="1758033"/>
                    <a:pt x="93066" y="1935859"/>
                  </a:cubicBezTo>
                  <a:lnTo>
                    <a:pt x="0" y="1947896"/>
                  </a:lnTo>
                  <a:lnTo>
                    <a:pt x="0" y="1404756"/>
                  </a:lnTo>
                  <a:lnTo>
                    <a:pt x="17392" y="1402364"/>
                  </a:lnTo>
                  <a:cubicBezTo>
                    <a:pt x="167719" y="1375030"/>
                    <a:pt x="318070" y="1334398"/>
                    <a:pt x="464249" y="1281208"/>
                  </a:cubicBezTo>
                  <a:cubicBezTo>
                    <a:pt x="753480" y="1176081"/>
                    <a:pt x="1028869" y="1021346"/>
                    <a:pt x="1260556" y="833835"/>
                  </a:cubicBezTo>
                  <a:cubicBezTo>
                    <a:pt x="1491960" y="646594"/>
                    <a:pt x="1681177" y="425056"/>
                    <a:pt x="1807924" y="193222"/>
                  </a:cubicBezTo>
                  <a:cubicBezTo>
                    <a:pt x="1832328" y="148578"/>
                    <a:pt x="1854477" y="103599"/>
                    <a:pt x="1874357" y="58333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CA77163-C052-481C-9DCF-68C23ACAB3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305" y="0"/>
              <a:ext cx="2501089" cy="1972702"/>
            </a:xfrm>
            <a:custGeom>
              <a:avLst/>
              <a:gdLst>
                <a:gd name="connsiteX0" fmla="*/ 2318728 w 2501089"/>
                <a:gd name="connsiteY0" fmla="*/ 0 h 1972702"/>
                <a:gd name="connsiteX1" fmla="*/ 2501089 w 2501089"/>
                <a:gd name="connsiteY1" fmla="*/ 0 h 1972702"/>
                <a:gd name="connsiteX2" fmla="*/ 2453909 w 2501089"/>
                <a:gd name="connsiteY2" fmla="*/ 167837 h 1972702"/>
                <a:gd name="connsiteX3" fmla="*/ 2361125 w 2501089"/>
                <a:gd name="connsiteY3" fmla="*/ 392084 h 1972702"/>
                <a:gd name="connsiteX4" fmla="*/ 1768255 w 2501089"/>
                <a:gd name="connsiteY4" fmla="*/ 1167644 h 1972702"/>
                <a:gd name="connsiteX5" fmla="*/ 1375125 w 2501089"/>
                <a:gd name="connsiteY5" fmla="*/ 1471474 h 1972702"/>
                <a:gd name="connsiteX6" fmla="*/ 935735 w 2501089"/>
                <a:gd name="connsiteY6" fmla="*/ 1712713 h 1972702"/>
                <a:gd name="connsiteX7" fmla="*/ 212353 w 2501089"/>
                <a:gd name="connsiteY7" fmla="*/ 1940294 h 1972702"/>
                <a:gd name="connsiteX8" fmla="*/ 0 w 2501089"/>
                <a:gd name="connsiteY8" fmla="*/ 1972702 h 1972702"/>
                <a:gd name="connsiteX9" fmla="*/ 0 w 2501089"/>
                <a:gd name="connsiteY9" fmla="*/ 1732181 h 1972702"/>
                <a:gd name="connsiteX10" fmla="*/ 161195 w 2501089"/>
                <a:gd name="connsiteY10" fmla="*/ 1706590 h 1972702"/>
                <a:gd name="connsiteX11" fmla="*/ 388463 w 2501089"/>
                <a:gd name="connsiteY11" fmla="*/ 1652268 h 1972702"/>
                <a:gd name="connsiteX12" fmla="*/ 826716 w 2501089"/>
                <a:gd name="connsiteY12" fmla="*/ 1493950 h 1972702"/>
                <a:gd name="connsiteX13" fmla="*/ 1609847 w 2501089"/>
                <a:gd name="connsiteY13" fmla="*/ 1007535 h 1972702"/>
                <a:gd name="connsiteX14" fmla="*/ 1929982 w 2501089"/>
                <a:gd name="connsiteY14" fmla="*/ 682930 h 1972702"/>
                <a:gd name="connsiteX15" fmla="*/ 2183093 w 2501089"/>
                <a:gd name="connsiteY15" fmla="*/ 310149 h 1972702"/>
                <a:gd name="connsiteX16" fmla="*/ 2280286 w 2501089"/>
                <a:gd name="connsiteY16" fmla="*/ 108435 h 1972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501089" h="1972702">
                  <a:moveTo>
                    <a:pt x="2318728" y="0"/>
                  </a:moveTo>
                  <a:lnTo>
                    <a:pt x="2501089" y="0"/>
                  </a:lnTo>
                  <a:lnTo>
                    <a:pt x="2453909" y="167837"/>
                  </a:lnTo>
                  <a:cubicBezTo>
                    <a:pt x="2427555" y="244153"/>
                    <a:pt x="2396627" y="319103"/>
                    <a:pt x="2361125" y="392084"/>
                  </a:cubicBezTo>
                  <a:cubicBezTo>
                    <a:pt x="2218453" y="684005"/>
                    <a:pt x="2011698" y="945211"/>
                    <a:pt x="1768255" y="1167644"/>
                  </a:cubicBezTo>
                  <a:cubicBezTo>
                    <a:pt x="1646250" y="1278860"/>
                    <a:pt x="1514385" y="1380316"/>
                    <a:pt x="1375125" y="1471474"/>
                  </a:cubicBezTo>
                  <a:cubicBezTo>
                    <a:pt x="1235677" y="1562542"/>
                    <a:pt x="1088928" y="1643672"/>
                    <a:pt x="935735" y="1712713"/>
                  </a:cubicBezTo>
                  <a:cubicBezTo>
                    <a:pt x="705659" y="1815533"/>
                    <a:pt x="462359" y="1892212"/>
                    <a:pt x="212353" y="1940294"/>
                  </a:cubicBezTo>
                  <a:lnTo>
                    <a:pt x="0" y="1972702"/>
                  </a:lnTo>
                  <a:lnTo>
                    <a:pt x="0" y="1732181"/>
                  </a:lnTo>
                  <a:lnTo>
                    <a:pt x="161195" y="1706590"/>
                  </a:lnTo>
                  <a:cubicBezTo>
                    <a:pt x="237638" y="1691378"/>
                    <a:pt x="313477" y="1673222"/>
                    <a:pt x="388463" y="1652268"/>
                  </a:cubicBezTo>
                  <a:cubicBezTo>
                    <a:pt x="538529" y="1610539"/>
                    <a:pt x="684898" y="1556543"/>
                    <a:pt x="826716" y="1493950"/>
                  </a:cubicBezTo>
                  <a:cubicBezTo>
                    <a:pt x="1111207" y="1370107"/>
                    <a:pt x="1376832" y="1205881"/>
                    <a:pt x="1609847" y="1007535"/>
                  </a:cubicBezTo>
                  <a:cubicBezTo>
                    <a:pt x="1725975" y="908049"/>
                    <a:pt x="1833571" y="799519"/>
                    <a:pt x="1929982" y="682930"/>
                  </a:cubicBezTo>
                  <a:cubicBezTo>
                    <a:pt x="2026581" y="566520"/>
                    <a:pt x="2111806" y="441692"/>
                    <a:pt x="2183093" y="310149"/>
                  </a:cubicBezTo>
                  <a:cubicBezTo>
                    <a:pt x="2218738" y="244422"/>
                    <a:pt x="2251396" y="177150"/>
                    <a:pt x="2280286" y="10843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sz="800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2B425B5-0A0E-4B85-B718-E5DA73431A5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1"/>
              <a:ext cx="2491105" cy="1943661"/>
            </a:xfrm>
            <a:custGeom>
              <a:avLst/>
              <a:gdLst>
                <a:gd name="connsiteX0" fmla="*/ 1995408 w 2491105"/>
                <a:gd name="connsiteY0" fmla="*/ 0 h 1943661"/>
                <a:gd name="connsiteX1" fmla="*/ 2491105 w 2491105"/>
                <a:gd name="connsiteY1" fmla="*/ 0 h 1943661"/>
                <a:gd name="connsiteX2" fmla="*/ 2434705 w 2491105"/>
                <a:gd name="connsiteY2" fmla="*/ 174009 h 1943661"/>
                <a:gd name="connsiteX3" fmla="*/ 92457 w 2491105"/>
                <a:gd name="connsiteY3" fmla="*/ 1931703 h 1943661"/>
                <a:gd name="connsiteX4" fmla="*/ 0 w 2491105"/>
                <a:gd name="connsiteY4" fmla="*/ 1943661 h 1943661"/>
                <a:gd name="connsiteX5" fmla="*/ 0 w 2491105"/>
                <a:gd name="connsiteY5" fmla="*/ 1491489 h 1943661"/>
                <a:gd name="connsiteX6" fmla="*/ 34107 w 2491105"/>
                <a:gd name="connsiteY6" fmla="*/ 1486836 h 1943661"/>
                <a:gd name="connsiteX7" fmla="*/ 497577 w 2491105"/>
                <a:gd name="connsiteY7" fmla="*/ 1360598 h 1943661"/>
                <a:gd name="connsiteX8" fmla="*/ 1321566 w 2491105"/>
                <a:gd name="connsiteY8" fmla="*/ 897645 h 1943661"/>
                <a:gd name="connsiteX9" fmla="*/ 1891495 w 2491105"/>
                <a:gd name="connsiteY9" fmla="*/ 230078 h 1943661"/>
                <a:gd name="connsiteX10" fmla="*/ 1961469 w 2491105"/>
                <a:gd name="connsiteY10" fmla="*/ 87885 h 1943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2491105" h="1943661">
                  <a:moveTo>
                    <a:pt x="1995408" y="0"/>
                  </a:moveTo>
                  <a:lnTo>
                    <a:pt x="2491105" y="0"/>
                  </a:lnTo>
                  <a:lnTo>
                    <a:pt x="2434705" y="174009"/>
                  </a:lnTo>
                  <a:cubicBezTo>
                    <a:pt x="2087512" y="1067655"/>
                    <a:pt x="1129122" y="1753877"/>
                    <a:pt x="92457" y="1931703"/>
                  </a:cubicBezTo>
                  <a:lnTo>
                    <a:pt x="0" y="1943661"/>
                  </a:lnTo>
                  <a:lnTo>
                    <a:pt x="0" y="1491489"/>
                  </a:lnTo>
                  <a:lnTo>
                    <a:pt x="34107" y="1486836"/>
                  </a:lnTo>
                  <a:cubicBezTo>
                    <a:pt x="189055" y="1458696"/>
                    <a:pt x="343908" y="1416565"/>
                    <a:pt x="497577" y="1360598"/>
                  </a:cubicBezTo>
                  <a:cubicBezTo>
                    <a:pt x="796856" y="1251889"/>
                    <a:pt x="1081725" y="1091781"/>
                    <a:pt x="1321566" y="897645"/>
                  </a:cubicBezTo>
                  <a:cubicBezTo>
                    <a:pt x="1565577" y="700195"/>
                    <a:pt x="1757355" y="475523"/>
                    <a:pt x="1891495" y="230078"/>
                  </a:cubicBezTo>
                  <a:cubicBezTo>
                    <a:pt x="1917197" y="183033"/>
                    <a:pt x="1940526" y="135619"/>
                    <a:pt x="1961469" y="87885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58F7F91-25AE-20E4-6035-BD3B122A984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51510305"/>
              </p:ext>
            </p:extLst>
          </p:nvPr>
        </p:nvGraphicFramePr>
        <p:xfrm>
          <a:off x="1036320" y="2560320"/>
          <a:ext cx="10119360" cy="356616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99741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525E56-AFF0-265F-1B30-B98759684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955A2079-FA98-4876-80F0-72364A7D2E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E5620C-14C3-EE2F-B460-78D9FBAE6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10515600" cy="1133499"/>
          </a:xfrm>
        </p:spPr>
        <p:txBody>
          <a:bodyPr>
            <a:normAutofit/>
          </a:bodyPr>
          <a:lstStyle/>
          <a:p>
            <a:pPr algn="ctr"/>
            <a:r>
              <a:rPr lang="en-US" sz="5200"/>
              <a:t>Hospital revenue proposition</a:t>
            </a:r>
          </a:p>
        </p:txBody>
      </p:sp>
      <p:graphicFrame>
        <p:nvGraphicFramePr>
          <p:cNvPr id="29" name="Content Placeholder 2">
            <a:extLst>
              <a:ext uri="{FF2B5EF4-FFF2-40B4-BE49-F238E27FC236}">
                <a16:creationId xmlns:a16="http://schemas.microsoft.com/office/drawing/2014/main" id="{A0FE2AC9-10E6-8878-F88E-1DD0CB39CC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2304727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39753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1A599-5868-667B-B945-EE3DA15FCA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F0FF2-59EF-6618-EA75-EEC103F7BA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Cardio-Thoracic Surgeon Network – 2021</a:t>
            </a:r>
          </a:p>
          <a:p>
            <a:r>
              <a:rPr lang="en-US" dirty="0"/>
              <a:t>2. Indian Journal of Cardiac Surgery, PUBMED – 2023</a:t>
            </a:r>
          </a:p>
          <a:p>
            <a:r>
              <a:rPr lang="en-US" dirty="0"/>
              <a:t>3. Expressions (Journal) -  2020</a:t>
            </a:r>
          </a:p>
        </p:txBody>
      </p:sp>
    </p:spTree>
    <p:extLst>
      <p:ext uri="{BB962C8B-B14F-4D97-AF65-F5344CB8AC3E}">
        <p14:creationId xmlns:p14="http://schemas.microsoft.com/office/powerpoint/2010/main" val="13546664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B1602-0CB8-4E4E-62AE-7EF3BB88C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CC5715-0A79-87EB-E32D-62243CF1CC4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Does the device provide a warning framework for a complete ECG?</a:t>
            </a:r>
          </a:p>
          <a:p>
            <a:r>
              <a:rPr lang="en-US" dirty="0"/>
              <a:t>How does it integrate into ICU/CCU telemetry systems?</a:t>
            </a:r>
          </a:p>
          <a:p>
            <a:r>
              <a:rPr lang="en-US" dirty="0"/>
              <a:t>Please chart the diagnostic fall-off against 5 or 12 lead ECGs deployed in typical telemetry systems.</a:t>
            </a:r>
          </a:p>
          <a:p>
            <a:r>
              <a:rPr lang="en-US" dirty="0"/>
              <a:t>Explore if it can help increase efficiency of existing ECG protocols through software triangulation of underlying conditions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021128-3199-A46C-8017-B40D853C4C5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Medium-Sized Hospitals &amp; nursing homes</a:t>
            </a:r>
          </a:p>
          <a:p>
            <a:pPr lvl="1"/>
            <a:r>
              <a:rPr lang="en-US" dirty="0"/>
              <a:t>Daily ECGs: 50–200</a:t>
            </a:r>
          </a:p>
          <a:p>
            <a:pPr lvl="1"/>
            <a:r>
              <a:rPr lang="en-US" dirty="0"/>
              <a:t>Presence of departments like cardiology, pulmonology, and internal medicine.</a:t>
            </a:r>
          </a:p>
          <a:p>
            <a:r>
              <a:rPr lang="en-US" dirty="0"/>
              <a:t>Multi-specialty &amp; medical colleges</a:t>
            </a:r>
          </a:p>
          <a:p>
            <a:pPr lvl="1"/>
            <a:r>
              <a:rPr lang="en-US" dirty="0"/>
              <a:t>Daily ECGs: 200–500+</a:t>
            </a:r>
          </a:p>
          <a:p>
            <a:pPr lvl="1"/>
            <a:r>
              <a:rPr lang="en-US" dirty="0"/>
              <a:t>High patient volume due to outpatient clinics, emergency rooms, and ICUs.</a:t>
            </a:r>
          </a:p>
          <a:p>
            <a:pPr lvl="1"/>
            <a:r>
              <a:rPr lang="en-US" dirty="0"/>
              <a:t> Specialized cardiac departments performing stress tests, telemetry, and continuous monitoring.</a:t>
            </a:r>
          </a:p>
          <a:p>
            <a:r>
              <a:rPr lang="en-US" dirty="0"/>
              <a:t>Cardiac-Specific Hospitals or Centers</a:t>
            </a:r>
          </a:p>
          <a:p>
            <a:pPr lvl="1"/>
            <a:r>
              <a:rPr lang="en-US" dirty="0"/>
              <a:t>Daily ECGs: 300–1,000+</a:t>
            </a:r>
          </a:p>
          <a:p>
            <a:pPr lvl="1"/>
            <a:r>
              <a:rPr lang="en-US" dirty="0"/>
              <a:t>High focus on cardiac diagnostics.</a:t>
            </a:r>
          </a:p>
          <a:p>
            <a:pPr lvl="1"/>
            <a:r>
              <a:rPr lang="en-US" dirty="0"/>
              <a:t>Advanced tests like Holter monitoring and stress ECGs can also be explored</a:t>
            </a:r>
          </a:p>
        </p:txBody>
      </p:sp>
    </p:spTree>
    <p:extLst>
      <p:ext uri="{BB962C8B-B14F-4D97-AF65-F5344CB8AC3E}">
        <p14:creationId xmlns:p14="http://schemas.microsoft.com/office/powerpoint/2010/main" val="36295296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2BA971E34033F4AA7025BE88BA4BE7B" ma:contentTypeVersion="20" ma:contentTypeDescription="Create a new document." ma:contentTypeScope="" ma:versionID="3a1b36f311d16156b5df7e2dbb9110b8">
  <xsd:schema xmlns:xsd="http://www.w3.org/2001/XMLSchema" xmlns:xs="http://www.w3.org/2001/XMLSchema" xmlns:p="http://schemas.microsoft.com/office/2006/metadata/properties" xmlns:ns1="http://schemas.microsoft.com/sharepoint/v3" xmlns:ns2="212195d3-613c-4a44-91d9-ac42eac57cb9" xmlns:ns3="d45dfcea-f72d-4267-851d-7ea1bd0f5af2" xmlns:ns4="213af126-92eb-4bb5-8bfd-1661103a2928" targetNamespace="http://schemas.microsoft.com/office/2006/metadata/properties" ma:root="true" ma:fieldsID="c3daead2383615748aeb09d9553d4e04" ns1:_="" ns2:_="" ns3:_="" ns4:_="">
    <xsd:import namespace="http://schemas.microsoft.com/sharepoint/v3"/>
    <xsd:import namespace="212195d3-613c-4a44-91d9-ac42eac57cb9"/>
    <xsd:import namespace="d45dfcea-f72d-4267-851d-7ea1bd0f5af2"/>
    <xsd:import namespace="213af126-92eb-4bb5-8bfd-1661103a292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1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2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2195d3-613c-4a44-91d9-ac42eac57cb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1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2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7" nillable="true" ma:displayName="Length (seconds)" ma:internalName="MediaLengthInSeconds" ma:readOnly="true">
      <xsd:simpleType>
        <xsd:restriction base="dms:Unknown"/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8bc46713-8fa2-488a-ac8b-ad618560c9d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6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5dfcea-f72d-4267-851d-7ea1bd0f5af2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f126-92eb-4bb5-8bfd-1661103a2928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fd4cdf22-5fc7-4945-9e7a-ed25fb7b546a}" ma:internalName="TaxCatchAll" ma:showField="CatchAllData" ma:web="d45dfcea-f72d-4267-851d-7ea1bd0f5af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213af126-92eb-4bb5-8bfd-1661103a2928" xsi:nil="true"/>
    <_ip_UnifiedCompliancePolicyProperties xmlns="http://schemas.microsoft.com/sharepoint/v3" xsi:nil="true"/>
    <lcf76f155ced4ddcb4097134ff3c332f xmlns="212195d3-613c-4a44-91d9-ac42eac57cb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E8615927-D2F3-4AF2-8265-ADE29BADF27B}"/>
</file>

<file path=customXml/itemProps2.xml><?xml version="1.0" encoding="utf-8"?>
<ds:datastoreItem xmlns:ds="http://schemas.openxmlformats.org/officeDocument/2006/customXml" ds:itemID="{5DD820B1-461F-4900-A0D8-9402F0CFBA91}"/>
</file>

<file path=customXml/itemProps3.xml><?xml version="1.0" encoding="utf-8"?>
<ds:datastoreItem xmlns:ds="http://schemas.openxmlformats.org/officeDocument/2006/customXml" ds:itemID="{6928B9DF-9E40-4FA5-B8C9-62E5AA1A4E9C}"/>
</file>

<file path=docMetadata/LabelInfo.xml><?xml version="1.0" encoding="utf-8"?>
<clbl:labelList xmlns:clbl="http://schemas.microsoft.com/office/2020/mipLabelMetadata">
  <clbl:label id="{d546e5e1-5d42-4630-bacd-c69bfdcbd5e8}" enabled="1" method="Standard" siteId="{96ece526-9c7d-48b0-8daf-8b93c90a5d18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18905</TotalTime>
  <Words>885</Words>
  <Application>Microsoft Office PowerPoint</Application>
  <PresentationFormat>Widescreen</PresentationFormat>
  <Paragraphs>123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Context and problem</vt:lpstr>
      <vt:lpstr>Device Spec</vt:lpstr>
      <vt:lpstr>Key propositions</vt:lpstr>
      <vt:lpstr>Questions for doctor</vt:lpstr>
      <vt:lpstr>Protocols using ECG monitoring</vt:lpstr>
      <vt:lpstr>Factors influencing purchase decision</vt:lpstr>
      <vt:lpstr>Narayana Hrudayala - Profile</vt:lpstr>
      <vt:lpstr>Narayana Hrudayala – Business case</vt:lpstr>
      <vt:lpstr>Pricing rationale</vt:lpstr>
      <vt:lpstr>Market size - WSP</vt:lpstr>
      <vt:lpstr>Hospital revenue proposition</vt:lpstr>
      <vt:lpstr>Sources</vt:lpstr>
      <vt:lpstr>Feedback</vt:lpstr>
    </vt:vector>
  </TitlesOfParts>
  <Company>Honeywell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Singh, Sukhbeer</dc:creator>
  <cp:lastModifiedBy>Singh, Sukhbeer</cp:lastModifiedBy>
  <cp:revision>2</cp:revision>
  <dcterms:created xsi:type="dcterms:W3CDTF">2025-01-29T08:25:13Z</dcterms:created>
  <dcterms:modified xsi:type="dcterms:W3CDTF">2025-02-17T08:47:09Z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0x010100C2BA971E34033F4AA7025BE88BA4BE7B</vt:lpwstr>
  </property>
</Properties>
</file>