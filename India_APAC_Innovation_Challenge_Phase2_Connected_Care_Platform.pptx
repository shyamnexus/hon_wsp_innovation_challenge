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301752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Arial"/>
              </a:defRPr>
            </a:pPr>
            <a:r>
              <a:t>Leadership Presentation |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46304" cy="38862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42416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500" b="1">
                <a:solidFill>
                  <a:srgbClr val="202020"/>
                </a:solidFill>
                <a:latin typeface="Arial"/>
              </a:defRPr>
            </a:pPr>
            <a:r>
              <a:t>Honeywell Connected Care and</a:t>
            </a:r>
            <a:br/>
            <a:r>
              <a:t>Hospital Operations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71800"/>
            <a:ext cx="996696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36393F"/>
                </a:solidFill>
                <a:latin typeface="Arial"/>
              </a:defRPr>
            </a:pPr>
            <a:r>
              <a:t>A leadership-scale healthcare innovation connecting patients, beds, assets, and workflows in real time across India and APAC hospitals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4224528"/>
            <a:ext cx="237744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Patient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224528"/>
            <a:ext cx="2057400" cy="38404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BP + Vitals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6168" y="4224528"/>
            <a:ext cx="2194560" cy="384048"/>
          </a:xfrm>
          <a:prstGeom prst="round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Bed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224528"/>
            <a:ext cx="214884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Asset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6053328"/>
            <a:ext cx="7772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63666A"/>
                </a:solidFill>
                <a:latin typeface="Arial"/>
              </a:defRPr>
            </a:pPr>
            <a:r>
              <a:t>2026 India and APAC Innovation 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Executive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Leadership narrative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143000"/>
            <a:ext cx="10607040" cy="12344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99032"/>
            <a:ext cx="99669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Honeywell transforms a strong wearable patch concept into a connected hospital intelligence platform for India and APAC.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80360"/>
            <a:ext cx="329184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88036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999232"/>
            <a:ext cx="2971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Clinical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337560"/>
            <a:ext cx="2962656" cy="8869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Continuous monitoring and connected BP/vitals create stronger visibility across high-risk patient journeys.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880360"/>
            <a:ext cx="329184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88036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2999232"/>
            <a:ext cx="2971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Operational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337560"/>
            <a:ext cx="2962656" cy="8869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Bed state, asset location, and workflow dashboards address capacity and productivity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880360"/>
            <a:ext cx="329184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288036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999232"/>
            <a:ext cx="2971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Commercial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337560"/>
            <a:ext cx="2962656" cy="8869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The offer expands from devices into software, analytics, integration, and services revenue.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3327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50" b="1">
                <a:solidFill>
                  <a:srgbClr val="202020"/>
                </a:solidFill>
                <a:latin typeface="Arial"/>
              </a:defRPr>
            </a:pPr>
            <a:r>
              <a:t>The platform aligns with Honeywell strengths in sensing, connected devices, automation, workflow intelligence, and enterprise-grade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Strategic ambition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Healthcare operations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202020"/>
                </a:solidFill>
                <a:latin typeface="Arial"/>
              </a:defRPr>
            </a:pPr>
            <a:r>
              <a:t>Honeywell is positioned as a healthcare operations intelligence partner for high-volume hospitals and hospital chains across India and APAC.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3383280" cy="132588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4028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59152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From sensing to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97480"/>
            <a:ext cx="3054096" cy="79552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Connected devices capture vital and operational signals; the platform converts those signals into workflow 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240280"/>
            <a:ext cx="3383280" cy="132588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24028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2359152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From point solution to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2697480"/>
            <a:ext cx="3054096" cy="79552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Wearable monitoring becomes part of a broader hospital operating layer across care and capacity.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2240280"/>
            <a:ext cx="3383280" cy="132588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224028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359152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From site deployment to network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697480"/>
            <a:ext cx="3054096" cy="79552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Hospital chains gain standardized dashboards, KPIs, and deployment models across facilities.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28032"/>
            <a:ext cx="672084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Strategic theme: connected hospital intelligence with measurable business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Market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Connected pain points create a platform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024128"/>
            <a:ext cx="1033272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024128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143000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Manual vitals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481328"/>
            <a:ext cx="10003536" cy="2194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6393F"/>
                </a:solidFill>
                <a:latin typeface="Arial"/>
              </a:defRPr>
            </a:pPr>
            <a:r>
              <a:t>Blind spots between rounds and fragmented patient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20240"/>
            <a:ext cx="1033272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20240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039112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Disconnected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377440"/>
            <a:ext cx="10003536" cy="2194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6393F"/>
                </a:solidFill>
                <a:latin typeface="Arial"/>
              </a:defRPr>
            </a:pPr>
            <a:r>
              <a:t>BP, ECG, SpO2, temperature, and respiration signals sit in separate workflows.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16352"/>
            <a:ext cx="1033272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816352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2935224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Equipment search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273552"/>
            <a:ext cx="10003536" cy="2194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6393F"/>
                </a:solidFill>
                <a:latin typeface="Arial"/>
              </a:defRPr>
            </a:pPr>
            <a:r>
              <a:t>Nurses and biomedical teams lose productivity locating mobile assets.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712464"/>
            <a:ext cx="1033272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712464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831336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Invisible bed states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69664"/>
            <a:ext cx="10003536" cy="2194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6393F"/>
                </a:solidFill>
                <a:latin typeface="Arial"/>
              </a:defRPr>
            </a:pPr>
            <a:r>
              <a:t>Admission, discharge, cleaning, transfer, and blocked states lack real-time synchronization.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608576"/>
            <a:ext cx="1033272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608576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727448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Limited leadership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065776"/>
            <a:ext cx="10003536" cy="2194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6393F"/>
                </a:solidFill>
                <a:latin typeface="Arial"/>
              </a:defRPr>
            </a:pPr>
            <a:r>
              <a:t>Acuity, capacity, utilization, and bottlenecks are not visible in one operating picture.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5532120"/>
            <a:ext cx="589788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Impact: delayed response, avoidable workload, underused assets, and lost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Platform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One operating layer for patients, beds, assets, and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331720"/>
            <a:ext cx="4251960" cy="8686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Honeywell Connected Care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097280"/>
            <a:ext cx="3429000" cy="138988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097280"/>
            <a:ext cx="73152" cy="138988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216152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Wearable smart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554480"/>
            <a:ext cx="3099816" cy="8595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ECG, heart rate, temperature, respiration, posture, restlessness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429000" cy="138988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73152" cy="138988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216152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Connected BP and vitals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554480"/>
            <a:ext cx="3099816" cy="8595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BP, SpO2, ward-round workflow, missed-vitals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730752"/>
            <a:ext cx="3429000" cy="138988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30752"/>
            <a:ext cx="73152" cy="138988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49624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Bed and capacity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87952"/>
            <a:ext cx="3099816" cy="8595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Occupancy, cleaning, blocked, maintenance, discharge-ready, transfer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730752"/>
            <a:ext cx="3429000" cy="1389888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730752"/>
            <a:ext cx="73152" cy="138988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849624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Asset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87952"/>
            <a:ext cx="3099816" cy="8595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Pumps, monitors, cylinders, wheelchairs, ECG carts, transport assets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977639" y="1792224"/>
            <a:ext cx="109729" cy="969264"/>
          </a:xfrm>
          <a:prstGeom prst="line">
            <a:avLst/>
          </a:prstGeom>
          <a:ln w="1651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1792224"/>
            <a:ext cx="0" cy="969264"/>
          </a:xfrm>
          <a:prstGeom prst="line">
            <a:avLst/>
          </a:prstGeom>
          <a:ln w="1651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77639" y="2761488"/>
            <a:ext cx="109729" cy="1664208"/>
          </a:xfrm>
          <a:prstGeom prst="line">
            <a:avLst/>
          </a:prstGeom>
          <a:ln w="1651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29600" y="2761488"/>
            <a:ext cx="0" cy="1664208"/>
          </a:xfrm>
          <a:prstGeom prst="line">
            <a:avLst/>
          </a:prstGeom>
          <a:ln w="1651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63240" y="5349240"/>
            <a:ext cx="6172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50" b="1">
                <a:solidFill>
                  <a:srgbClr val="202020"/>
                </a:solidFill>
                <a:latin typeface="Arial"/>
              </a:defRPr>
            </a:pPr>
            <a:r>
              <a:t>Real-time visibility: who needs attention, which bed opens next, and where the equipment is located.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Secure edge, platform services, and hospital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024128"/>
            <a:ext cx="10332720" cy="768096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024128"/>
            <a:ext cx="73152" cy="76809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143000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Device and sensor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481328"/>
            <a:ext cx="10003536" cy="237744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Wearable patch | BP monitor | SpO2 | bed sensor | BLE/RFID/UWB asset tag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56816"/>
            <a:ext cx="10332720" cy="768096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56816"/>
            <a:ext cx="73152" cy="76809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075688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Connectivity and edge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414016"/>
            <a:ext cx="10003536" cy="237744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Wi-Fi, BLE gateways, edge hub, authentication, local buffering, device 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89504"/>
            <a:ext cx="10332720" cy="768096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889504"/>
            <a:ext cx="73152" cy="76809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008376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Platform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346704"/>
            <a:ext cx="10003536" cy="237744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Device registry, patient assignment, rules engine, alerting, analytics, APIs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822191"/>
            <a:ext cx="10332720" cy="768096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822191"/>
            <a:ext cx="73152" cy="76809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41063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Hospital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279392"/>
            <a:ext cx="10003536" cy="237744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HMS/EHR/EMR, ADT, FHIR/HL7 where available, role-based access, audit trail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54879"/>
            <a:ext cx="10332720" cy="768096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754879"/>
            <a:ext cx="73152" cy="76809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873751"/>
            <a:ext cx="10012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Command-center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212079"/>
            <a:ext cx="10003536" cy="237744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Patient risk board, ward dashboard, bed board, asset map, leadership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Solution pillar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Connected patient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5156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202020"/>
                </a:solidFill>
                <a:latin typeface="Arial"/>
              </a:defRPr>
            </a:pPr>
            <a:r>
              <a:t>Continuous and periodic vitals become actionable clinical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5303520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60">
                <a:solidFill>
                  <a:srgbClr val="202020"/>
                </a:solidFill>
                <a:latin typeface="Arial"/>
              </a:defRPr>
            </a:pPr>
            <a:r>
              <a:t>Wearable patch for ECG, heart rate, temperature, respiration, posture, and restlessness.</a:t>
            </a:r>
          </a:p>
          <a:p>
            <a:pPr>
              <a:spcAft>
                <a:spcPts val="500"/>
              </a:spcAft>
              <a:defRPr sz="1360">
                <a:solidFill>
                  <a:srgbClr val="202020"/>
                </a:solidFill>
                <a:latin typeface="Arial"/>
              </a:defRPr>
            </a:pPr>
            <a:r>
              <a:t>Connected BP monitor for ward rounds, emergency observation, post-procedure checks, and chronic-care follow-up.</a:t>
            </a:r>
          </a:p>
          <a:p>
            <a:pPr>
              <a:spcAft>
                <a:spcPts val="500"/>
              </a:spcAft>
              <a:defRPr sz="1360">
                <a:solidFill>
                  <a:srgbClr val="202020"/>
                </a:solidFill>
                <a:latin typeface="Arial"/>
              </a:defRPr>
            </a:pPr>
            <a:r>
              <a:t>SpO2 and HRV expansion for broader early-warning signals.</a:t>
            </a:r>
          </a:p>
          <a:p>
            <a:pPr>
              <a:spcAft>
                <a:spcPts val="500"/>
              </a:spcAft>
              <a:defRPr sz="1360">
                <a:solidFill>
                  <a:srgbClr val="202020"/>
                </a:solidFill>
                <a:latin typeface="Arial"/>
              </a:defRPr>
            </a:pPr>
            <a:r>
              <a:t>Patient-to-device assignment linked to ward, bed, and episode data.</a:t>
            </a:r>
          </a:p>
          <a:p>
            <a:pPr>
              <a:spcAft>
                <a:spcPts val="500"/>
              </a:spcAft>
              <a:defRPr sz="1360">
                <a:solidFill>
                  <a:srgbClr val="202020"/>
                </a:solidFill>
                <a:latin typeface="Arial"/>
              </a:defRPr>
            </a:pPr>
            <a:r>
              <a:t>Alerts for abnormal trends, missed observations, battery status, and connectivity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34440"/>
            <a:ext cx="2240280" cy="123444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234440"/>
            <a:ext cx="73152" cy="1234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35331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Care areas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1691640"/>
            <a:ext cx="1911096" cy="70408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Post-operative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Cardiac step-down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ICU/CCU step-down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High-risk 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2240280" cy="123444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234440"/>
            <a:ext cx="73152" cy="12344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35331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691640"/>
            <a:ext cx="1911096" cy="70408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Vitals compliance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Escalation queues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Trend review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Device 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35808"/>
            <a:ext cx="484632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3035808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3154679"/>
            <a:ext cx="4526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Leadership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3493008"/>
            <a:ext cx="4517136" cy="8869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More continuous observation in high-risk periods and clearer escalation before deterioration becomes a crisis.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Solution pillars 2 and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Bed intelligence and asset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097280"/>
            <a:ext cx="5257800" cy="352044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097280"/>
            <a:ext cx="73152" cy="3520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216152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Smart bed and capacity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554480"/>
            <a:ext cx="4928616" cy="299008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Real-time bed state: occupied, vacant, cleaning, blocked, maintenance, transfer-in-progress, discharge-ready.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Visibility into bed turnover cycle time and operational bottlenecks.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Capacity intelligence for ICU, CCU, step-down, emergency, and post-operative units.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Admission, discharge, and transfer context connected to operations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257800" cy="352044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73152" cy="35204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216152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Asset tracking for hospital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554480"/>
            <a:ext cx="4928616" cy="299008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Location visibility for infusion pumps, wheelchairs, monitors, ECG carts, defibrillators, oxygen cylinders, stretchers, and portable ultrasound units.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Utilization, idle time, movement history, zone alerts, and service readiness.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Better equipment availability for nursing, biomedical, transport, and operations teams.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5257800"/>
            <a:ext cx="726948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Operational outcome: faster flow, less search time, stronger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Command-center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One view for clinical and operational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78992"/>
            <a:ext cx="3383280" cy="117043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78992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19786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Patient risk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536192"/>
            <a:ext cx="3054096" cy="64008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Trend changes, abnormal vitals, escalation status, device health.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78992"/>
            <a:ext cx="3383280" cy="117043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78992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19786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Ward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536192"/>
            <a:ext cx="3054096" cy="64008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Vitals compliance, battery status, connectivity, nursing queues.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78992"/>
            <a:ext cx="3383280" cy="117043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78992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19786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Bed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1536192"/>
            <a:ext cx="3054096" cy="64008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Occupancy, cleaning queue, discharge readiness, transfer bottlenecks.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788920"/>
            <a:ext cx="3383280" cy="117043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0" y="2788920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8" y="2907791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Asset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246120"/>
            <a:ext cx="3054096" cy="64008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Availability, zone, movement, utilization, and service readiness.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788920"/>
            <a:ext cx="3383280" cy="117043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788920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907791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Leadership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246120"/>
            <a:ext cx="3054096" cy="64008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Acuity, capacity, throughput, operational KPIs, and multi-site comparison.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4709160"/>
            <a:ext cx="9326880" cy="6858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4965192"/>
            <a:ext cx="8686800" cy="18287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command center converts hospital activity into coordinated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Leadership value proposition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Customer outcomes and Honeywell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097280"/>
            <a:ext cx="5166360" cy="41605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097280"/>
            <a:ext cx="73152" cy="41605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1216152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Customer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554480"/>
            <a:ext cx="4837176" cy="36301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Safer observation during high-risk care periods.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Reduced manual burden for nursing teams.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Faster response to abnormal trends and missed-vitals gaps.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Better bed throughput and discharge coordination.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Reduced asset search time and improved equipment utilization.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Real-time operational control across wards and facilities.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166360" cy="41605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73152" cy="41605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216152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Honeywell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554480"/>
            <a:ext cx="4837176" cy="36301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Platform expansion from device innovation to recurring software, analytics, integration, and services revenue.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Differentiated healthcare operations offer across India and APAC.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Scalable entry into hospital chains by ward, bed, asset, or facility.</a:t>
            </a:r>
          </a:p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Strong alignment with Honeywell capabilities in sensors, edge connectivity, automation, and enterprise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Business impact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Measurable outcomes for hospitals and Honeywell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143000"/>
            <a:ext cx="2651760" cy="182880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143000"/>
            <a:ext cx="73152" cy="18288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261872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Clinical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600200"/>
            <a:ext cx="2322576" cy="129844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Fewer missed observations, clearer escalation, better trend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143000"/>
            <a:ext cx="2651760" cy="182880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143000"/>
            <a:ext cx="73152" cy="18288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7" y="1261872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Staff productivity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1600200"/>
            <a:ext cx="2322576" cy="129844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Less manual documentation, less device reconciliation, less asset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143000"/>
            <a:ext cx="2651760" cy="182880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143000"/>
            <a:ext cx="73152" cy="18288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61872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Capacity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600200"/>
            <a:ext cx="2322576" cy="129844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Faster bed turnaround, better discharge readiness, improved transfer coordination.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1143000"/>
            <a:ext cx="2651760" cy="182880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07424" y="1143000"/>
            <a:ext cx="73152" cy="18288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261872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Asset productivity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600200"/>
            <a:ext cx="2322576" cy="129844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36393F"/>
                </a:solidFill>
                <a:latin typeface="Arial"/>
              </a:defRPr>
            </a:pPr>
            <a:r>
              <a:t>Higher mobile equipment utilization, fewer shortages, stronger service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03320"/>
            <a:ext cx="103327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Commercial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40">
                <a:solidFill>
                  <a:srgbClr val="202020"/>
                </a:solidFill>
                <a:latin typeface="Arial"/>
              </a:defRPr>
            </a:pPr>
            <a:r>
              <a:t>Device sales and device-as-a-service bundles.</a:t>
            </a:r>
          </a:p>
          <a:p>
            <a:pPr>
              <a:spcAft>
                <a:spcPts val="500"/>
              </a:spcAft>
              <a:defRPr sz="1340">
                <a:solidFill>
                  <a:srgbClr val="202020"/>
                </a:solidFill>
                <a:latin typeface="Arial"/>
              </a:defRPr>
            </a:pPr>
            <a:r>
              <a:t>Software subscription by bed, ward, or hospital.</a:t>
            </a:r>
          </a:p>
          <a:p>
            <a:pPr>
              <a:spcAft>
                <a:spcPts val="500"/>
              </a:spcAft>
              <a:defRPr sz="1340">
                <a:solidFill>
                  <a:srgbClr val="202020"/>
                </a:solidFill>
                <a:latin typeface="Arial"/>
              </a:defRPr>
            </a:pPr>
            <a:r>
              <a:t>Asset tracking subscription by tagged asset.</a:t>
            </a:r>
          </a:p>
          <a:p>
            <a:pPr>
              <a:spcAft>
                <a:spcPts val="500"/>
              </a:spcAft>
              <a:defRPr sz="1340">
                <a:solidFill>
                  <a:srgbClr val="202020"/>
                </a:solidFill>
                <a:latin typeface="Arial"/>
              </a:defRPr>
            </a:pPr>
            <a:r>
              <a:t>Integration, analytics, support, and enterprise licensing for hospital chains.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Scale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From connected foundation to enterprise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115568"/>
            <a:ext cx="342900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19072"/>
            <a:ext cx="3429000" cy="34747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19072"/>
            <a:ext cx="73152" cy="3474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837943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176272"/>
            <a:ext cx="3099816" cy="29443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Wearable smart patch.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Connected BP and SpO2 devices.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Device provisioning and patient assignment.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Ward dashboard, vitals compliance, device health, and escalation.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1115568"/>
            <a:ext cx="3429000" cy="38404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1719072"/>
            <a:ext cx="3429000" cy="34747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1719072"/>
            <a:ext cx="73152" cy="34747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1837943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176272"/>
            <a:ext cx="3099816" cy="29443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Bed-state visibility.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Asset tracking for high-need mobile equipment.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ADT and HMS integration.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Operations dashboards for nursing, biomedical, housekeeping, and transport.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0183" y="1115568"/>
            <a:ext cx="342900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0183" y="1719072"/>
            <a:ext cx="3429000" cy="3474720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0183" y="1719072"/>
            <a:ext cx="73152" cy="3474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1352" y="1837943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Enterprise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176272"/>
            <a:ext cx="3099816" cy="29443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Multi-ward and multi-site dashboards.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Predictive analytics for capacity bottlenecks, patient deterioration risk, and asset shortages.</a:t>
            </a:r>
          </a:p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Deployment templates for India and APAC hospital chains.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India and APAC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Built for regional healthcare realities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078992"/>
            <a:ext cx="3337560" cy="126187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078992"/>
            <a:ext cx="73152" cy="126187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19786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High-volume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536192"/>
            <a:ext cx="3008376" cy="731519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Tertiary hospitals, cardiac centers, emergency observation, post-operative and step-down units.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78992"/>
            <a:ext cx="3337560" cy="126187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78992"/>
            <a:ext cx="73152" cy="12618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19786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Modular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536192"/>
            <a:ext cx="3008376" cy="731519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Telemetry-like visibility without heavy infrastructure dependence.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78992"/>
            <a:ext cx="3337560" cy="1261872"/>
          </a:xfrm>
          <a:prstGeom prst="rect">
            <a:avLst/>
          </a:prstGeom>
          <a:solidFill>
            <a:srgbClr val="F3F4F6"/>
          </a:solidFill>
          <a:ln w="10160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078992"/>
            <a:ext cx="73152" cy="126187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19786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50" b="1">
                <a:solidFill>
                  <a:srgbClr val="202020"/>
                </a:solidFill>
                <a:latin typeface="Arial"/>
              </a:defRPr>
            </a:pPr>
            <a:r>
              <a:t>Hospital chains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536192"/>
            <a:ext cx="3008376" cy="731519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36393F"/>
                </a:solidFill>
                <a:latin typeface="Arial"/>
              </a:defRPr>
            </a:pPr>
            <a:r>
              <a:t>Standardized dashboards, KPIs, deployment templates, and enterprise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1014984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20">
                <a:solidFill>
                  <a:srgbClr val="202020"/>
                </a:solidFill>
                <a:latin typeface="Arial"/>
              </a:defRPr>
            </a:pPr>
            <a:r>
              <a:t>The platform fits tertiary care hospitals, mid-sized multi-specialty hospitals, medical colleges, and emerging-market providers.</a:t>
            </a:r>
          </a:p>
          <a:p>
            <a:pPr>
              <a:spcAft>
                <a:spcPts val="500"/>
              </a:spcAft>
              <a:defRPr sz="1520">
                <a:solidFill>
                  <a:srgbClr val="202020"/>
                </a:solidFill>
                <a:latin typeface="Arial"/>
              </a:defRPr>
            </a:pPr>
            <a:r>
              <a:t>Cross-region growth is supported through device bundles, software subscriptions, integration services, analytics, and channel partnerships.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5074920"/>
            <a:ext cx="640080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 scalable Honeywell healthcare platform for India and APAC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49807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Closing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Leadership takeaway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6601968"/>
            <a:ext cx="5852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Leadership Presentation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143000"/>
            <a:ext cx="10607040" cy="1600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99032"/>
            <a:ext cx="9966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Honeywell Connected Care and Hospital Operations Platform turns a wearable patch concept into a leadership-scale healthcare innovation.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7560"/>
            <a:ext cx="992124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It connects patients, beds, assets, and workflows in real time, helping hospitals improve care response, throughput, utilization, and measurable business outcomes across India and APAC.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892040"/>
            <a:ext cx="6263640" cy="38404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From wearable device to whole-hospital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