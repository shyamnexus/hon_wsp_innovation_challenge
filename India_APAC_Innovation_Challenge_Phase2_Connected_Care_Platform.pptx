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0789920" cy="1417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800">
                <a:solidFill>
                  <a:srgbClr val="FFFFFF"/>
                </a:solidFill>
              </a:defRPr>
            </a:pPr>
            <a:r>
              <a:t>Connected Care and Hospital Operations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60604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DAE7F5"/>
                </a:solidFill>
              </a:defRPr>
            </a:pPr>
            <a:r>
              <a:t>Expanding the wearable smart patch into an integrated clinical monitoring, BP, asset tracking, bed management, and command-center solution for India and APAC hospitals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4069080"/>
            <a:ext cx="4800600" cy="411480"/>
          </a:xfrm>
          <a:prstGeom prst="round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2026 India and APAC Innovation Challenge - Phase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263640"/>
            <a:ext cx="6858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6D1E0"/>
                </a:solidFill>
              </a:defRPr>
            </a:pPr>
            <a:r>
              <a:t>Submission concept built from existing Wearable Smart Patch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From a focused device to a scalable hospital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Start with the existing wearable smart patch for continuous monitoring in post-operative, cardiac, ICU step-down, and high-risk wards.</a:t>
            </a:r>
          </a:p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Add connected BP monitoring, SpO2, bed-state visibility, and mobile asset tracking to solve adjacent hospital pain points.</a:t>
            </a:r>
          </a:p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Unify patient, bed, and asset signals in a command-center dashboard with alerts, workflow queues, and operational analytics.</a:t>
            </a:r>
          </a:p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Enable modular adoption so hospitals can begin with one ward and scale across facilities in India and APAC.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29400" y="1508760"/>
            <a:ext cx="4800600" cy="1051560"/>
          </a:xfrm>
          <a:prstGeom prst="roundRect">
            <a:avLst/>
          </a:prstGeom>
          <a:solidFill>
            <a:srgbClr val="DAEDFC"/>
          </a:solidFill>
          <a:ln w="15875">
            <a:solidFill>
              <a:srgbClr val="26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29400" y="1508760"/>
            <a:ext cx="73152" cy="1051560"/>
          </a:xfrm>
          <a:prstGeom prst="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93992" y="1645919"/>
            <a:ext cx="4480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Core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93992" y="2039112"/>
            <a:ext cx="4507992" cy="429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A connected care and operations layer that helps hospitals see patients, beds, and assets in real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788920"/>
            <a:ext cx="4800600" cy="10515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0" y="2788920"/>
            <a:ext cx="73152" cy="1051560"/>
          </a:xfrm>
          <a:prstGeom prst="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93992" y="2926079"/>
            <a:ext cx="4480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Business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93992" y="3319272"/>
            <a:ext cx="4507992" cy="429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Improves response, reduces staff burden, increases bed throughput, and improves utilization of mobile assets.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069080"/>
            <a:ext cx="4800600" cy="10515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29400" y="4069080"/>
            <a:ext cx="73152" cy="105156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4206240"/>
            <a:ext cx="4480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Strategic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3992" y="4599432"/>
            <a:ext cx="4507992" cy="429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Creates device revenue, software subscription, integration services, and multi-site expansion potential.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Clinical and operational pain points are linked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63040"/>
            <a:ext cx="356616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73152" cy="132588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6002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Monitoring gaps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993392"/>
            <a:ext cx="327355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Manual rounds miss trend changes between observations.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Data from ECG, BP, SpO2, temperature, and respiration can remain fragmented.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56616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EF80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463040"/>
            <a:ext cx="73152" cy="1325880"/>
          </a:xfrm>
          <a:prstGeom prst="rect">
            <a:avLst/>
          </a:prstGeom>
          <a:solidFill>
            <a:srgbClr val="EF8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7992" y="16002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Staff burden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1993392"/>
            <a:ext cx="327355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Nurses spend time documenting vitals, checking device status, and searching for equipment.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Escalation queues are often manual and inconsistent.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463040"/>
            <a:ext cx="356616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6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463040"/>
            <a:ext cx="73152" cy="1325880"/>
          </a:xfrm>
          <a:prstGeom prst="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16002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Capacity pressure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1993392"/>
            <a:ext cx="327355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Beds may be physically available but operationally invisible.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Discharge, cleaning, transfer, and admission states are not synchronized.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23160" y="3337560"/>
            <a:ext cx="356616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23160" y="3337560"/>
            <a:ext cx="73152" cy="1325880"/>
          </a:xfrm>
          <a:prstGeom prst="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7752" y="347472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Asset friction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7752" y="3867911"/>
            <a:ext cx="327355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Infusion pumps, wheelchairs, monitors, oxygen cylinders, and ECG carts are hard to locate when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337560"/>
            <a:ext cx="356616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22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337560"/>
            <a:ext cx="73152" cy="1325880"/>
          </a:xfrm>
          <a:prstGeom prst="rect">
            <a:avLst/>
          </a:prstGeom>
          <a:solidFill>
            <a:srgbClr val="1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347472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Leadership 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1" y="3867911"/>
            <a:ext cx="327355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Hospital leaders need real-time views of patient acuity, utilization, and bottlenecks across sites.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Expanded solution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Wearable patch plus adjacent modules hospitals already need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60520" y="2423160"/>
            <a:ext cx="3794760" cy="777240"/>
          </a:xfrm>
          <a:prstGeom prst="roundRect">
            <a:avLst/>
          </a:prstGeom>
          <a:solidFill>
            <a:srgbClr val="1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Connected Care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234440"/>
            <a:ext cx="333756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34440"/>
            <a:ext cx="73152" cy="132588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37160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Wearable smart patch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304495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ECG, heart rate, skin temperature, respiration, posture, restlessness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234440"/>
            <a:ext cx="333756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6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1234440"/>
            <a:ext cx="73152" cy="1325880"/>
          </a:xfrm>
          <a:prstGeom prst="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37160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Connected BP and vitals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1764792"/>
            <a:ext cx="304495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BP monitor, SpO2, temperature, ward-round workflow, missing-vitals alerts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977639"/>
            <a:ext cx="333756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977639"/>
            <a:ext cx="73152" cy="1325880"/>
          </a:xfrm>
          <a:prstGeom prst="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1480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Bed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507992"/>
            <a:ext cx="304495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Occupancy, cleaning, blocked, maintenance, discharge-ready, transfer state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977639"/>
            <a:ext cx="333756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EF80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977639"/>
            <a:ext cx="73152" cy="1325880"/>
          </a:xfrm>
          <a:prstGeom prst="rect">
            <a:avLst/>
          </a:prstGeom>
          <a:solidFill>
            <a:srgbClr val="EF8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114800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Asset tracking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4507992"/>
            <a:ext cx="304495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Pumps, wheelchairs, monitors, cylinders, ECG carts, transport assets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23360" y="2057400"/>
            <a:ext cx="137160" cy="640080"/>
          </a:xfrm>
          <a:prstGeom prst="line">
            <a:avLst/>
          </a:prstGeom>
          <a:ln w="15240">
            <a:solidFill>
              <a:srgbClr val="60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955279" y="2057400"/>
            <a:ext cx="0" cy="640080"/>
          </a:xfrm>
          <a:prstGeom prst="line">
            <a:avLst/>
          </a:prstGeom>
          <a:ln w="15240">
            <a:solidFill>
              <a:srgbClr val="60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023360" y="2971800"/>
            <a:ext cx="137160" cy="1371600"/>
          </a:xfrm>
          <a:prstGeom prst="line">
            <a:avLst/>
          </a:prstGeom>
          <a:ln w="15240">
            <a:solidFill>
              <a:srgbClr val="60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955279" y="2971800"/>
            <a:ext cx="0" cy="1371600"/>
          </a:xfrm>
          <a:prstGeom prst="line">
            <a:avLst/>
          </a:prstGeom>
          <a:ln w="15240">
            <a:solidFill>
              <a:srgbClr val="606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Reference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Modular device layer, secure edge, open integrations, and command-center workflows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234440"/>
            <a:ext cx="10332720" cy="74980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234440"/>
            <a:ext cx="73152" cy="749808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371600"/>
            <a:ext cx="10012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Device and sensor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1764792"/>
            <a:ext cx="10040112" cy="128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Wearable patch | BP monitor | SpO2 | bed sensor | BLE/RFID/UWB asset tag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76272"/>
            <a:ext cx="10332720" cy="74980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EF80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176272"/>
            <a:ext cx="73152" cy="749808"/>
          </a:xfrm>
          <a:prstGeom prst="rect">
            <a:avLst/>
          </a:prstGeom>
          <a:solidFill>
            <a:srgbClr val="EF8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13432"/>
            <a:ext cx="10012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Connectivity and edge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706624"/>
            <a:ext cx="10040112" cy="128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Wi-Fi, BLE gateways, edge hub, device authentication, buffering, battery status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118104"/>
            <a:ext cx="10332720" cy="74980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6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118104"/>
            <a:ext cx="73152" cy="749808"/>
          </a:xfrm>
          <a:prstGeom prst="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255264"/>
            <a:ext cx="10012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Platform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648456"/>
            <a:ext cx="10040112" cy="128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Device registry, patient assignment, rules engine, alerting, analytics, APIs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59936"/>
            <a:ext cx="10332720" cy="74980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4059936"/>
            <a:ext cx="73152" cy="749808"/>
          </a:xfrm>
          <a:prstGeom prst="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197096"/>
            <a:ext cx="10012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Hospital integrations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590288"/>
            <a:ext cx="10040112" cy="128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HMS/EHR/EMR, ADT, FHIR/HL7 where available, role-based access, audit trail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001768"/>
            <a:ext cx="10332720" cy="749808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22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5001768"/>
            <a:ext cx="73152" cy="749808"/>
          </a:xfrm>
          <a:prstGeom prst="rect">
            <a:avLst/>
          </a:prstGeom>
          <a:solidFill>
            <a:srgbClr val="1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" y="5138928"/>
            <a:ext cx="10012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User workflows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" y="5532120"/>
            <a:ext cx="10040112" cy="128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Nurse dashboard, doctor escalation, bed board, asset map, leadership command center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Patient monitoring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Turn continuous and periodic vitals into actionable clinical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Wearable patch for ECG, heart rate, temperature, respiration, posture, and restlessness.</a:t>
            </a:r>
          </a:p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Connected BP monitor for ward rounds, emergency observation, post-procedure checks, and chronic-care follow-up.</a:t>
            </a:r>
          </a:p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SpO2 and HRV expansion for broader early-warning signals.</a:t>
            </a:r>
          </a:p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Patient-to-device assignment linked to ward, bed, and episode data.</a:t>
            </a:r>
          </a:p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Alerts for abnormal trends, missed observations, battery status, and connectivity gaps.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417320"/>
            <a:ext cx="2240280" cy="1143000"/>
          </a:xfrm>
          <a:prstGeom prst="roundRect">
            <a:avLst/>
          </a:prstGeom>
          <a:solidFill>
            <a:srgbClr val="DAEDFC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0" y="1417320"/>
            <a:ext cx="73152" cy="114300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5392" y="155448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Clinical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392" y="1947672"/>
            <a:ext cx="1947672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Post-operative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Cardiac step-down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ICU/CCU step-down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High-risk wards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417320"/>
            <a:ext cx="2240280" cy="1143000"/>
          </a:xfrm>
          <a:prstGeom prst="roundRect">
            <a:avLst/>
          </a:prstGeom>
          <a:solidFill>
            <a:srgbClr val="DAEDFC"/>
          </a:solidFill>
          <a:ln w="15875">
            <a:solidFill>
              <a:srgbClr val="26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61120" y="1417320"/>
            <a:ext cx="73152" cy="1143000"/>
          </a:xfrm>
          <a:prstGeom prst="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25712" y="1554480"/>
            <a:ext cx="1920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Workflow focus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5712" y="1947672"/>
            <a:ext cx="1947672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Vitals compliance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Escalation queues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Trend review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Device readiness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063240"/>
            <a:ext cx="480060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063240"/>
            <a:ext cx="73152" cy="1325880"/>
          </a:xfrm>
          <a:prstGeom prst="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3200400"/>
            <a:ext cx="4480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Outcome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3593592"/>
            <a:ext cx="450799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More continuous observation during high-risk periods and clearer escalation before deterioration becomes a crisis.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Bed and capacity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Make every bed operationally visible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3246120" cy="123444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6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73152" cy="1234440"/>
          </a:xfrm>
          <a:prstGeom prst="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554480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Bed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47672"/>
            <a:ext cx="295351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Occupied, vacant, cleaning, blocked, maintenance, transfer-in-progress, discharge-ready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17320"/>
            <a:ext cx="3246120" cy="123444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417320"/>
            <a:ext cx="73152" cy="1234440"/>
          </a:xfrm>
          <a:prstGeom prst="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1554480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Flow coordination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1947672"/>
            <a:ext cx="295351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Admission, discharge, transfer, housekeeping, transport, nursing handoff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417320"/>
            <a:ext cx="3246120" cy="123444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75320" y="1417320"/>
            <a:ext cx="73152" cy="123444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9912" y="1554480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Capacity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9912" y="1947672"/>
            <a:ext cx="295351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Ward-level occupancy, bottlenecks, turnaround time, high-acuity demand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46120"/>
            <a:ext cx="10149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41414"/>
                </a:solidFill>
              </a:defRPr>
            </a:pPr>
            <a:r>
              <a:t>Hospitals can lose capacity when bed status depends on phone calls, spreadsheets, and delayed system updates.</a:t>
            </a:r>
          </a:p>
          <a:p>
            <a:pPr>
              <a:spcAft>
                <a:spcPts val="500"/>
              </a:spcAft>
              <a:defRPr sz="1500">
                <a:solidFill>
                  <a:srgbClr val="141414"/>
                </a:solidFill>
              </a:defRPr>
            </a:pPr>
            <a:r>
              <a:t>A real-time bed board helps teams see what is available now, what is waiting for cleaning, what is blocked, and what is about to open.</a:t>
            </a:r>
          </a:p>
          <a:p>
            <a:pPr>
              <a:spcAft>
                <a:spcPts val="500"/>
              </a:spcAft>
              <a:defRPr sz="1500">
                <a:solidFill>
                  <a:srgbClr val="141414"/>
                </a:solidFill>
              </a:defRPr>
            </a:pPr>
            <a:r>
              <a:t>When bed state is connected to patient vitals and acuity, operations teams can prioritize transfers and step-down decisions more effectively.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Asset tracking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Reduce search time and improve utilization of mobile hospital equipment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325880"/>
            <a:ext cx="2514600" cy="411480"/>
          </a:xfrm>
          <a:prstGeom prst="round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Infusion pumps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325880"/>
            <a:ext cx="2514600" cy="411480"/>
          </a:xfrm>
          <a:prstGeom prst="round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Wheelchairs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79" y="1325880"/>
            <a:ext cx="2514600" cy="411480"/>
          </a:xfrm>
          <a:prstGeom prst="round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Patient monitors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325880"/>
            <a:ext cx="2514600" cy="411480"/>
          </a:xfrm>
          <a:prstGeom prst="roundRect">
            <a:avLst/>
          </a:prstGeom>
          <a:solidFill>
            <a:srgbClr val="EF8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Oxygen cylinders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65960"/>
            <a:ext cx="2514600" cy="411480"/>
          </a:xfrm>
          <a:prstGeom prst="round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ECG carts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965960"/>
            <a:ext cx="2514600" cy="411480"/>
          </a:xfrm>
          <a:prstGeom prst="round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Defibrillators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79" y="1965960"/>
            <a:ext cx="2514600" cy="411480"/>
          </a:xfrm>
          <a:prstGeom prst="round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Stretchers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965960"/>
            <a:ext cx="2514600" cy="411480"/>
          </a:xfrm>
          <a:prstGeom prst="roundRect">
            <a:avLst/>
          </a:prstGeom>
          <a:solidFill>
            <a:srgbClr val="EF8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Portable ultrasound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154680"/>
            <a:ext cx="329184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6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154680"/>
            <a:ext cx="73152" cy="1325880"/>
          </a:xfrm>
          <a:prstGeom prst="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3291840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Location 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685032"/>
            <a:ext cx="299923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Last known location, zone, movement history, and availability.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154680"/>
            <a:ext cx="329184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34840" y="3154680"/>
            <a:ext cx="73152" cy="1325880"/>
          </a:xfrm>
          <a:prstGeom prst="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1" y="3291840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Utilization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1" y="3685032"/>
            <a:ext cx="299923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Idle time, underused inventory, shortage hotspots, and redistribution opportunities.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154680"/>
            <a:ext cx="3291840" cy="132588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154680"/>
            <a:ext cx="73152" cy="132588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11312" y="3291840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Control and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3685032"/>
            <a:ext cx="2999232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Geofence alerts, service-due status, missing assets, and biomedical readiness.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Command-center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One operational view for patients, beds, assets, and staff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325880"/>
            <a:ext cx="3383280" cy="114300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73152" cy="114300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463039"/>
            <a:ext cx="3063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Patient risk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856231"/>
            <a:ext cx="3090672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Trend changes, abnormal vitals, escalation status, device health.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25880"/>
            <a:ext cx="3383280" cy="114300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6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325880"/>
            <a:ext cx="73152" cy="1143000"/>
          </a:xfrm>
          <a:prstGeom prst="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1" y="1463039"/>
            <a:ext cx="3063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Ward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1" y="1856231"/>
            <a:ext cx="3090672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Vitals compliance, battery status, connectivity, nursing queues.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325880"/>
            <a:ext cx="3383280" cy="114300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325880"/>
            <a:ext cx="73152" cy="1143000"/>
          </a:xfrm>
          <a:prstGeom prst="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8471" y="1463039"/>
            <a:ext cx="3063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Bed 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1" y="1856231"/>
            <a:ext cx="3090672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Occupancy, cleaning queue, discharge readiness, transfer bottlenecks.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0320" y="3017520"/>
            <a:ext cx="3383280" cy="114300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EF80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0" y="3017520"/>
            <a:ext cx="73152" cy="1143000"/>
          </a:xfrm>
          <a:prstGeom prst="rect">
            <a:avLst/>
          </a:prstGeom>
          <a:solidFill>
            <a:srgbClr val="EF8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24912" y="3154679"/>
            <a:ext cx="3063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Asset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24912" y="3547872"/>
            <a:ext cx="3090672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Availability, zone, movement, utilization, and service readiness.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017520"/>
            <a:ext cx="3383280" cy="114300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22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09360" y="3017520"/>
            <a:ext cx="73152" cy="1143000"/>
          </a:xfrm>
          <a:prstGeom prst="rect">
            <a:avLst/>
          </a:prstGeom>
          <a:solidFill>
            <a:srgbClr val="1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3154679"/>
            <a:ext cx="3063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Leadership 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3547872"/>
            <a:ext cx="3090672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Acuity, capacity, throughput, operational KPIs, and multi-site comparison.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8006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2223E"/>
                </a:solidFill>
              </a:defRPr>
            </a:pPr>
            <a:r>
              <a:t>The command center converts connected devices into decisions: who needs attention, which bed can open next, and where the required equipment is located.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Value proposition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A single platform with clinical, operational, and commercial impact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2697480" cy="393192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73152" cy="393192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544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Patients and families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947672"/>
            <a:ext cx="2404872" cy="3310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More continuous observation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Faster escalation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Better continuity during transfers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417320"/>
            <a:ext cx="2697480" cy="393192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6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417320"/>
            <a:ext cx="73152" cy="3931920"/>
          </a:xfrm>
          <a:prstGeom prst="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21024" y="15544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Nurses and clinicians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1024" y="1947672"/>
            <a:ext cx="2404872" cy="3310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Reduced manual capture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Clear escalation queues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Better patient trend visibility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417320"/>
            <a:ext cx="2697480" cy="393192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417320"/>
            <a:ext cx="73152" cy="3931920"/>
          </a:xfrm>
          <a:prstGeom prst="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15544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Operations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1947672"/>
            <a:ext cx="2404872" cy="3310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Faster bed turnaround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Less equipment search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Better asset allocation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72016" y="1417320"/>
            <a:ext cx="2697480" cy="393192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EF80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72016" y="1417320"/>
            <a:ext cx="73152" cy="3931920"/>
          </a:xfrm>
          <a:prstGeom prst="rect">
            <a:avLst/>
          </a:prstGeom>
          <a:solidFill>
            <a:srgbClr val="EF8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36608" y="1554480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Hospital leadership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1947672"/>
            <a:ext cx="2404872" cy="3310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Higher throughput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Measurable KPIs</a:t>
            </a:r>
          </a:p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Multi-site scalability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MVO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Phased adoption from one ward to enterprise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560320" cy="411480"/>
          </a:xfrm>
          <a:prstGeom prst="round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MVO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38528"/>
            <a:ext cx="2560320" cy="24231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38528"/>
            <a:ext cx="73152" cy="242316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075688"/>
            <a:ext cx="2240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Connected monitoring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468880"/>
            <a:ext cx="2267712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Patch, provisioning, patient assignment, ward dashboard, basic alerts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417320"/>
            <a:ext cx="2560320" cy="411480"/>
          </a:xfrm>
          <a:prstGeom prst="round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MVO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938528"/>
            <a:ext cx="2560320" cy="24231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6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1938528"/>
            <a:ext cx="73152" cy="2423160"/>
          </a:xfrm>
          <a:prstGeom prst="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075688"/>
            <a:ext cx="2240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Vitals expansion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468880"/>
            <a:ext cx="2267712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BP, SpO2, missed-vitals escalation, patient and bed integration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417320"/>
            <a:ext cx="2560320" cy="411480"/>
          </a:xfrm>
          <a:prstGeom prst="round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MVO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938528"/>
            <a:ext cx="2560320" cy="24231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938528"/>
            <a:ext cx="73152" cy="2423160"/>
          </a:xfrm>
          <a:prstGeom prst="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2075688"/>
            <a:ext cx="2240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Bed and asset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2468880"/>
            <a:ext cx="2267712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Bed-state workflow, asset tags, operations dashboards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417320"/>
            <a:ext cx="2560320" cy="411480"/>
          </a:xfrm>
          <a:prstGeom prst="roundRect">
            <a:avLst/>
          </a:prstGeom>
          <a:solidFill>
            <a:srgbClr val="EF8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300">
                <a:solidFill>
                  <a:srgbClr val="FFFFFF"/>
                </a:solidFill>
              </a:defRPr>
            </a:pPr>
            <a:r>
              <a:t>MVO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1938528"/>
            <a:ext cx="2560320" cy="242316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EF80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938528"/>
            <a:ext cx="73152" cy="2423160"/>
          </a:xfrm>
          <a:prstGeom prst="rect">
            <a:avLst/>
          </a:prstGeom>
          <a:solidFill>
            <a:srgbClr val="EF80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08592" y="2075688"/>
            <a:ext cx="2240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Scale and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8592" y="2468880"/>
            <a:ext cx="2267712" cy="180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Multi-ward rollout, predictive insights, deployment templates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983480"/>
            <a:ext cx="10607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2223E"/>
                </a:solidFill>
              </a:defRPr>
            </a:pPr>
            <a:r>
              <a:t>Recommended pilot: 50 to 100 beds in cardiac step-down, post-operative ward, emergency observation, or ICU step-down, with weekly KPI and user feedback reviews.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Target outcomes to validate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Measure before and after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41414"/>
                </a:solidFill>
              </a:defRPr>
            </a:pPr>
            <a:r>
              <a:t>Manual vitals documentation effort</a:t>
            </a:r>
          </a:p>
          <a:p>
            <a:pPr>
              <a:spcAft>
                <a:spcPts val="500"/>
              </a:spcAft>
              <a:defRPr sz="1500">
                <a:solidFill>
                  <a:srgbClr val="141414"/>
                </a:solidFill>
              </a:defRPr>
            </a:pPr>
            <a:r>
              <a:t>Missed or delayed vital-sign observations</a:t>
            </a:r>
          </a:p>
          <a:p>
            <a:pPr>
              <a:spcAft>
                <a:spcPts val="500"/>
              </a:spcAft>
              <a:defRPr sz="1500">
                <a:solidFill>
                  <a:srgbClr val="141414"/>
                </a:solidFill>
              </a:defRPr>
            </a:pPr>
            <a:r>
              <a:t>Escalation time for abnormal trends</a:t>
            </a:r>
          </a:p>
          <a:p>
            <a:pPr>
              <a:spcAft>
                <a:spcPts val="500"/>
              </a:spcAft>
              <a:defRPr sz="1500">
                <a:solidFill>
                  <a:srgbClr val="141414"/>
                </a:solidFill>
              </a:defRPr>
            </a:pPr>
            <a:r>
              <a:t>Bed turnaround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3716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41414"/>
                </a:solidFill>
              </a:defRPr>
            </a:pPr>
            <a:r>
              <a:t>Asset search time</a:t>
            </a:r>
          </a:p>
          <a:p>
            <a:pPr>
              <a:spcAft>
                <a:spcPts val="500"/>
              </a:spcAft>
              <a:defRPr sz="1500">
                <a:solidFill>
                  <a:srgbClr val="141414"/>
                </a:solidFill>
              </a:defRPr>
            </a:pPr>
            <a:r>
              <a:t>Utilization of tracked mobile assets</a:t>
            </a:r>
          </a:p>
          <a:p>
            <a:pPr>
              <a:spcAft>
                <a:spcPts val="500"/>
              </a:spcAft>
              <a:defRPr sz="1500">
                <a:solidFill>
                  <a:srgbClr val="141414"/>
                </a:solidFill>
              </a:defRPr>
            </a:pPr>
            <a:r>
              <a:t>Ward-level visibility into acuity and bottlenecks</a:t>
            </a:r>
          </a:p>
          <a:p>
            <a:pPr>
              <a:spcAft>
                <a:spcPts val="500"/>
              </a:spcAft>
              <a:defRPr sz="1500">
                <a:solidFill>
                  <a:srgbClr val="141414"/>
                </a:solidFill>
              </a:defRPr>
            </a:pPr>
            <a:r>
              <a:t>Commercial viability across device, software, and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India and APAC relevance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Built for high-volume hospitals and scalable adoption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3337560" cy="123444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73152" cy="123444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463039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High-volume hospitals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1856231"/>
            <a:ext cx="30449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Supports high patient throughput, constrained staffing, and need for practical automation.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325880"/>
            <a:ext cx="3337560" cy="123444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267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325880"/>
            <a:ext cx="73152" cy="1234440"/>
          </a:xfrm>
          <a:prstGeom prst="rect">
            <a:avLst/>
          </a:prstGeom>
          <a:solidFill>
            <a:srgbClr val="267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1" y="1463039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Modular economics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1" y="1856231"/>
            <a:ext cx="30449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Start with one ward and expand by module, bed, asset, or facility.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325880"/>
            <a:ext cx="3337560" cy="1234440"/>
          </a:xfrm>
          <a:prstGeom prst="roundRect">
            <a:avLst/>
          </a:prstGeom>
          <a:solidFill>
            <a:srgbClr val="F4F7FA"/>
          </a:solidFill>
          <a:ln w="15875">
            <a:solidFill>
              <a:srgbClr val="1C9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325880"/>
            <a:ext cx="73152" cy="1234440"/>
          </a:xfrm>
          <a:prstGeom prst="rect">
            <a:avLst/>
          </a:prstGeom>
          <a:solidFill>
            <a:srgbClr val="1C9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463039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Hospital chains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1856231"/>
            <a:ext cx="30449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Standardize dashboards and KPIs across India and APAC sites.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154680"/>
            <a:ext cx="10149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2223E"/>
                </a:solidFill>
              </a:defRPr>
            </a:pPr>
            <a:r>
              <a:t>The platform can serve tertiary care, cardiac hospitals, mid-sized multi-specialty hospitals, medical colleges, and emerging-market providers.</a:t>
            </a:r>
          </a:p>
          <a:p>
            <a:pPr>
              <a:spcAft>
                <a:spcPts val="500"/>
              </a:spcAft>
              <a:defRPr sz="1600">
                <a:solidFill>
                  <a:srgbClr val="12223E"/>
                </a:solidFill>
              </a:defRPr>
            </a:pPr>
            <a:r>
              <a:t>It creates a path from device-led innovation to recurring software, integration, analytics, and service revenue.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200">
                <a:solidFill>
                  <a:srgbClr val="12223E"/>
                </a:solidFill>
              </a:defRPr>
            </a:pPr>
            <a:r>
              <a:t>Why this wins 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960120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606B7A"/>
                </a:solidFill>
              </a:defRPr>
            </a:pPr>
            <a:r>
              <a:t>A bigger, measurable, future-ready healthcare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Anchored in an existing wearable patch concept and MVO path.</a:t>
            </a:r>
          </a:p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Expands the value proposition beyond patient monitoring into hospital operations.</a:t>
            </a:r>
          </a:p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Addresses customer value, business impact, and regional scalability together.</a:t>
            </a:r>
          </a:p>
          <a:p>
            <a:pPr>
              <a:spcAft>
                <a:spcPts val="500"/>
              </a:spcAft>
              <a:defRPr sz="1400">
                <a:solidFill>
                  <a:srgbClr val="141414"/>
                </a:solidFill>
              </a:defRPr>
            </a:pPr>
            <a:r>
              <a:t>Creates a platform that can grow through devices, software, analytics, services, and partnerships.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20840" y="1600200"/>
            <a:ext cx="4343400" cy="2148840"/>
          </a:xfrm>
          <a:prstGeom prst="roundRect">
            <a:avLst/>
          </a:prstGeom>
          <a:solidFill>
            <a:srgbClr val="DAEDFC"/>
          </a:solidFill>
          <a:ln w="15875">
            <a:solidFill>
              <a:srgbClr val="D61F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720840" y="1600200"/>
            <a:ext cx="73152" cy="2148840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85431" y="173736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12223E"/>
                </a:solidFill>
              </a:defRPr>
            </a:pPr>
            <a:r>
              <a:t>Submission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85431" y="2130552"/>
            <a:ext cx="4050791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141414"/>
                </a:solidFill>
              </a:defRPr>
            </a:pPr>
            <a:r>
              <a:t>The wearable smart patch is the starting point. The bigger idea is a connected hospital platform that helps providers see patients, beds, and assets in real time - improving care response, throughput, and measurable outcomes.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4251960"/>
            <a:ext cx="4343400" cy="502920"/>
          </a:xfrm>
          <a:prstGeom prst="roundRect">
            <a:avLst/>
          </a:prstGeom>
          <a:solidFill>
            <a:srgbClr val="1222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From wearable to whole-hospital intelligence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36576"/>
          </a:xfrm>
          <a:prstGeom prst="rect">
            <a:avLst/>
          </a:prstGeom>
          <a:solidFill>
            <a:srgbClr val="D61F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601968"/>
            <a:ext cx="113842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06B7A"/>
                </a:solidFill>
              </a:defRPr>
            </a:pPr>
            <a:r>
              <a:t>2026 India and APAC Innovation Challenge - Phase 2 | Connected Care and Hospital Operations Platform |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