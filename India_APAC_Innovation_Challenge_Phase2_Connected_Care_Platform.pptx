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691640" cy="29260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301752"/>
            <a:ext cx="2926080" cy="27432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r">
              <a:defRPr sz="1050" b="1">
                <a:solidFill>
                  <a:srgbClr val="FFFFFF"/>
                </a:solidFill>
                <a:latin typeface="Arial"/>
              </a:defRPr>
            </a:pPr>
            <a:r>
              <a:t>India and APAC Innovation Challenge - Phase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17320"/>
            <a:ext cx="146304" cy="38404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53312"/>
            <a:ext cx="10424160" cy="132588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3500" b="1">
                <a:solidFill>
                  <a:srgbClr val="202020"/>
                </a:solidFill>
                <a:latin typeface="Arial"/>
              </a:defRPr>
            </a:pPr>
            <a:r>
              <a:t>Honeywell Connected Care and</a:t>
            </a:r>
            <a:br/>
            <a:r>
              <a:t>Hospital Operations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971800"/>
            <a:ext cx="9829800" cy="65836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600" b="0">
                <a:solidFill>
                  <a:srgbClr val="36393F"/>
                </a:solidFill>
                <a:latin typeface="Arial"/>
              </a:defRPr>
            </a:pPr>
            <a:r>
              <a:t>Expanding the wearable smart patch into an integrated clinical monitoring, BP, asset tracking, bed management, and command-center solution for India and APAC hospitals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7552" y="4160520"/>
            <a:ext cx="2377440" cy="38404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Wearable Patch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4160520"/>
            <a:ext cx="2057400" cy="38404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BP + Vitals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16168" y="4160520"/>
            <a:ext cx="2194560" cy="384048"/>
          </a:xfrm>
          <a:prstGeom prst="roundRect">
            <a:avLst/>
          </a:prstGeom>
          <a:solidFill>
            <a:srgbClr val="636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Bed Management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4160520"/>
            <a:ext cx="2148840" cy="38404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Asset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6053328"/>
            <a:ext cx="7772400" cy="237744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050" b="0">
                <a:solidFill>
                  <a:srgbClr val="63666A"/>
                </a:solidFill>
                <a:latin typeface="Arial"/>
              </a:defRPr>
            </a:pPr>
            <a:r>
              <a:t>Built from existing Honeywell Wearable Smart Patch materials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6601968"/>
            <a:ext cx="585216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 - 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498079" cy="34747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l">
              <a:defRPr sz="1800" b="1">
                <a:solidFill>
                  <a:srgbClr val="202020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82880"/>
            <a:ext cx="2148840" cy="27432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50" b="0">
                <a:solidFill>
                  <a:srgbClr val="63666A"/>
                </a:solidFill>
                <a:latin typeface="Arial"/>
              </a:defRPr>
            </a:pPr>
            <a:r>
              <a:t>Honeywell healthcare innovation concept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6601968"/>
            <a:ext cx="585216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987552"/>
            <a:ext cx="1920240" cy="274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BIG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417320"/>
            <a:ext cx="5349240" cy="4251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  <a:defRPr sz="1320">
                <a:solidFill>
                  <a:srgbClr val="202020"/>
                </a:solidFill>
                <a:latin typeface="Arial"/>
              </a:defRPr>
            </a:pPr>
            <a:r>
              <a:t>Start with Honeywell's wearable smart patch for continuous monitoring in post-operative, cardiac, ICU step-down, and high-risk wards.</a:t>
            </a:r>
          </a:p>
          <a:p>
            <a:pPr>
              <a:spcAft>
                <a:spcPts val="500"/>
              </a:spcAft>
              <a:defRPr sz="1320">
                <a:solidFill>
                  <a:srgbClr val="202020"/>
                </a:solidFill>
                <a:latin typeface="Arial"/>
              </a:defRPr>
            </a:pPr>
            <a:r>
              <a:t>Add connected BP monitoring, SpO2, bed-state visibility, and mobile asset tracking to solve adjacent hospital pain points.</a:t>
            </a:r>
          </a:p>
          <a:p>
            <a:pPr>
              <a:spcAft>
                <a:spcPts val="500"/>
              </a:spcAft>
              <a:defRPr sz="1320">
                <a:solidFill>
                  <a:srgbClr val="202020"/>
                </a:solidFill>
                <a:latin typeface="Arial"/>
              </a:defRPr>
            </a:pPr>
            <a:r>
              <a:t>Unify patient, bed, and asset signals in a command-center dashboard with alerts, workflow queues, and operational analytics.</a:t>
            </a:r>
          </a:p>
          <a:p>
            <a:pPr>
              <a:spcAft>
                <a:spcPts val="500"/>
              </a:spcAft>
              <a:defRPr sz="1320">
                <a:solidFill>
                  <a:srgbClr val="202020"/>
                </a:solidFill>
                <a:latin typeface="Arial"/>
              </a:defRPr>
            </a:pPr>
            <a:r>
              <a:t>Enable modular adoption so hospitals can begin with one ward and scale across facilities in India and APAC.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170432"/>
            <a:ext cx="4937760" cy="105156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1170432"/>
            <a:ext cx="73152" cy="10515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407" y="1289304"/>
            <a:ext cx="461772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Clinical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7" y="1627632"/>
            <a:ext cx="4608576" cy="52120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Continuous and periodic vitals become actionable escalation workflows.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505456"/>
            <a:ext cx="4937760" cy="105156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2505456"/>
            <a:ext cx="73152" cy="10515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7" y="2624328"/>
            <a:ext cx="461772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Operational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7" y="2962656"/>
            <a:ext cx="4608576" cy="52120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Beds, assets, and handoffs become visible in real time.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840480"/>
            <a:ext cx="4937760" cy="105156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3840480"/>
            <a:ext cx="73152" cy="10515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7" y="3959352"/>
            <a:ext cx="461772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Business 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7" y="4297680"/>
            <a:ext cx="4608576" cy="52120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Device revenue, software subscription, integration services, and multi-site expansion.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498079" cy="34747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l">
              <a:defRPr sz="1800" b="1">
                <a:solidFill>
                  <a:srgbClr val="202020"/>
                </a:solidFill>
                <a:latin typeface="Arial"/>
              </a:defRPr>
            </a:pPr>
            <a:r>
              <a:t>The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82880"/>
            <a:ext cx="2148840" cy="27432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50" b="0">
                <a:solidFill>
                  <a:srgbClr val="63666A"/>
                </a:solidFill>
                <a:latin typeface="Arial"/>
              </a:defRPr>
            </a:pPr>
            <a:r>
              <a:t>Patient care and hospital operations are 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6601968"/>
            <a:ext cx="585216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43000"/>
            <a:ext cx="3520440" cy="132588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143000"/>
            <a:ext cx="73152" cy="13258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261872"/>
            <a:ext cx="320040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Monitoring gaps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1600200"/>
            <a:ext cx="3191256" cy="79552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Manual rounds miss trend changes between observations.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ECG, BP, SpO2, temperature, and respiration data can remain fragmented.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1143000"/>
            <a:ext cx="3520440" cy="132588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143000"/>
            <a:ext cx="73152" cy="132588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1261872"/>
            <a:ext cx="320040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Staff burden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1600200"/>
            <a:ext cx="3191256" cy="79552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Nurses spend time documenting vitals, checking device status, and searching for equipment.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Escalation queues are often manual and inconsistent.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1143000"/>
            <a:ext cx="3520440" cy="132588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1143000"/>
            <a:ext cx="73152" cy="13258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261872"/>
            <a:ext cx="320040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Capacity pressure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1600200"/>
            <a:ext cx="3191256" cy="79552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Beds may be physically available but operationally invisible.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Discharge, cleaning, transfer, and admission states are not synchronized.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37560"/>
            <a:ext cx="3520440" cy="132588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23160" y="3337560"/>
            <a:ext cx="73152" cy="1325880"/>
          </a:xfrm>
          <a:prstGeom prst="rect">
            <a:avLst/>
          </a:prstGeom>
          <a:solidFill>
            <a:srgbClr val="636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24328" y="3456432"/>
            <a:ext cx="320040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Asset friction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24328" y="3794760"/>
            <a:ext cx="3191256" cy="79552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Infusion pumps, wheelchairs, monitors, oxygen cylinders, and ECG carts are hard to locate when needed.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3337560"/>
            <a:ext cx="3520440" cy="132588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3337560"/>
            <a:ext cx="73152" cy="132588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7" y="3456432"/>
            <a:ext cx="320040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Leadership visibility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4807" y="3794760"/>
            <a:ext cx="3191256" cy="79552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Hospital leaders need real-time views of patient acuity, utilization, and bottlenecks across sites.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01568" y="5257800"/>
            <a:ext cx="5394960" cy="38404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Opportunity: convert fragmented hospital signals into one Honeywell intelligence layer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498079" cy="34747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l">
              <a:defRPr sz="1800" b="1">
                <a:solidFill>
                  <a:srgbClr val="202020"/>
                </a:solidFill>
                <a:latin typeface="Arial"/>
              </a:defRPr>
            </a:pPr>
            <a:r>
              <a:t>Expanded solution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82880"/>
            <a:ext cx="2148840" cy="27432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50" b="0">
                <a:solidFill>
                  <a:srgbClr val="63666A"/>
                </a:solidFill>
                <a:latin typeface="Arial"/>
              </a:defRPr>
            </a:pPr>
            <a:r>
              <a:t>From wearable device to Honeywell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6601968"/>
            <a:ext cx="585216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395728"/>
            <a:ext cx="3931920" cy="804672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Honeywell Connected Care Platform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3337560" cy="132588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1170432"/>
            <a:ext cx="73152" cy="13258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1289304"/>
            <a:ext cx="301752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Wearable smart patch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1627632"/>
            <a:ext cx="3008376" cy="79552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ECG, heart rate, skin temperature, respiration, posture, restlessness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170432"/>
            <a:ext cx="3337560" cy="132588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170432"/>
            <a:ext cx="73152" cy="132588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289304"/>
            <a:ext cx="301752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Connected BP and vitals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627632"/>
            <a:ext cx="3008376" cy="79552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BP monitor, SpO2, temperature, ward-round workflow, missing-vitals alerts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840480"/>
            <a:ext cx="3337560" cy="132588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3840480"/>
            <a:ext cx="73152" cy="1325880"/>
          </a:xfrm>
          <a:prstGeom prst="rect">
            <a:avLst/>
          </a:prstGeom>
          <a:solidFill>
            <a:srgbClr val="636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3959352"/>
            <a:ext cx="301752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Bed 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297680"/>
            <a:ext cx="3008376" cy="79552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Occupancy, cleaning, blocked, maintenance, discharge-ready, transfer state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3840480"/>
            <a:ext cx="3337560" cy="132588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38160" y="3840480"/>
            <a:ext cx="73152" cy="13258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8" y="3959352"/>
            <a:ext cx="301752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Asset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8" y="4297680"/>
            <a:ext cx="3008376" cy="79552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Pumps, wheelchairs, monitors, cylinders, ECG carts, transport assets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23360" y="1828800"/>
            <a:ext cx="137160" cy="960120"/>
          </a:xfrm>
          <a:prstGeom prst="line">
            <a:avLst/>
          </a:prstGeom>
          <a:ln w="1651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8092440" y="1828800"/>
            <a:ext cx="45720" cy="960120"/>
          </a:xfrm>
          <a:prstGeom prst="line">
            <a:avLst/>
          </a:prstGeom>
          <a:ln w="1651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023360" y="2788920"/>
            <a:ext cx="137160" cy="1691640"/>
          </a:xfrm>
          <a:prstGeom prst="line">
            <a:avLst/>
          </a:prstGeom>
          <a:ln w="1651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8092440" y="2788920"/>
            <a:ext cx="45720" cy="1691640"/>
          </a:xfrm>
          <a:prstGeom prst="line">
            <a:avLst/>
          </a:prstGeom>
          <a:ln w="1651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498079" cy="34747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l">
              <a:defRPr sz="1800" b="1">
                <a:solidFill>
                  <a:srgbClr val="202020"/>
                </a:solidFill>
                <a:latin typeface="Arial"/>
              </a:defRPr>
            </a:pPr>
            <a:r>
              <a:t>Reference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82880"/>
            <a:ext cx="2148840" cy="27432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50" b="0">
                <a:solidFill>
                  <a:srgbClr val="63666A"/>
                </a:solidFill>
                <a:latin typeface="Arial"/>
              </a:defRPr>
            </a:pPr>
            <a:r>
              <a:t>Open integration and secure edge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6601968"/>
            <a:ext cx="585216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051560"/>
            <a:ext cx="10332720" cy="768096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1051560"/>
            <a:ext cx="73152" cy="76809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1170431"/>
            <a:ext cx="1001268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Device and sensor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1508760"/>
            <a:ext cx="10003536" cy="237744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Wearable patch | BP monitor | SpO2 | bed sensor | BLE/RFID/UWB asset tag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1984248"/>
            <a:ext cx="10332720" cy="768096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1984248"/>
            <a:ext cx="73152" cy="768096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2103120"/>
            <a:ext cx="1001268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Connectivity and edge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2441448"/>
            <a:ext cx="10003536" cy="237744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Wi-Fi, BLE gateways, edge hub, device authentication, buffering, battery status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916936"/>
            <a:ext cx="10332720" cy="768096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2916936"/>
            <a:ext cx="73152" cy="76809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3035808"/>
            <a:ext cx="1001268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Platform services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3374136"/>
            <a:ext cx="10003536" cy="237744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Device registry, patient assignment, rules engine, alerting, analytics, APIs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849624"/>
            <a:ext cx="10332720" cy="768096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3849624"/>
            <a:ext cx="73152" cy="768096"/>
          </a:xfrm>
          <a:prstGeom prst="rect">
            <a:avLst/>
          </a:prstGeom>
          <a:solidFill>
            <a:srgbClr val="636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3968496"/>
            <a:ext cx="1001268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Hospital integrations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4306824"/>
            <a:ext cx="10003536" cy="237744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HMS/EHR/EMR, ADT, FHIR/HL7 where available, role-based access, audit trail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4782312"/>
            <a:ext cx="10332720" cy="768096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" y="4782312"/>
            <a:ext cx="73152" cy="768096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" y="4901184"/>
            <a:ext cx="1001268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User workflows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" y="5239512"/>
            <a:ext cx="10003536" cy="237744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Nurse dashboard, doctor escalation, bed board, asset map, leadership command center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498079" cy="34747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l">
              <a:defRPr sz="1800" b="1">
                <a:solidFill>
                  <a:srgbClr val="202020"/>
                </a:solidFill>
                <a:latin typeface="Arial"/>
              </a:defRPr>
            </a:pPr>
            <a:r>
              <a:t>Patient monitoring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82880"/>
            <a:ext cx="2148840" cy="27432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50" b="0">
                <a:solidFill>
                  <a:srgbClr val="63666A"/>
                </a:solidFill>
                <a:latin typeface="Arial"/>
              </a:defRPr>
            </a:pPr>
            <a:r>
              <a:t>Continuous and periodic vitals into 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6601968"/>
            <a:ext cx="585216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024128"/>
            <a:ext cx="2331720" cy="274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CLINICAL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417320"/>
            <a:ext cx="5303520" cy="434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  <a:defRPr sz="1320">
                <a:solidFill>
                  <a:srgbClr val="202020"/>
                </a:solidFill>
                <a:latin typeface="Arial"/>
              </a:defRPr>
            </a:pPr>
            <a:r>
              <a:t>Wearable patch for ECG, heart rate, temperature, respiration, posture, and restlessness.</a:t>
            </a:r>
          </a:p>
          <a:p>
            <a:pPr>
              <a:spcAft>
                <a:spcPts val="500"/>
              </a:spcAft>
              <a:defRPr sz="1320">
                <a:solidFill>
                  <a:srgbClr val="202020"/>
                </a:solidFill>
                <a:latin typeface="Arial"/>
              </a:defRPr>
            </a:pPr>
            <a:r>
              <a:t>Connected BP monitor for ward rounds, emergency observation, post-procedure checks, and chronic-care follow-up.</a:t>
            </a:r>
          </a:p>
          <a:p>
            <a:pPr>
              <a:spcAft>
                <a:spcPts val="500"/>
              </a:spcAft>
              <a:defRPr sz="1320">
                <a:solidFill>
                  <a:srgbClr val="202020"/>
                </a:solidFill>
                <a:latin typeface="Arial"/>
              </a:defRPr>
            </a:pPr>
            <a:r>
              <a:t>SpO2 and HRV expansion for broader early-warning signals.</a:t>
            </a:r>
          </a:p>
          <a:p>
            <a:pPr>
              <a:spcAft>
                <a:spcPts val="500"/>
              </a:spcAft>
              <a:defRPr sz="1320">
                <a:solidFill>
                  <a:srgbClr val="202020"/>
                </a:solidFill>
                <a:latin typeface="Arial"/>
              </a:defRPr>
            </a:pPr>
            <a:r>
              <a:t>Patient-to-device assignment linked to ward, bed, and episode data.</a:t>
            </a:r>
          </a:p>
          <a:p>
            <a:pPr>
              <a:spcAft>
                <a:spcPts val="500"/>
              </a:spcAft>
              <a:defRPr sz="1320">
                <a:solidFill>
                  <a:srgbClr val="202020"/>
                </a:solidFill>
                <a:latin typeface="Arial"/>
              </a:defRPr>
            </a:pPr>
            <a:r>
              <a:t>Alerts for abnormal trends, missed observations, battery status, and connectivity gaps.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1325880"/>
            <a:ext cx="2240280" cy="114300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46520" y="1325880"/>
            <a:ext cx="73152" cy="114300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7688" y="1444752"/>
            <a:ext cx="192024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Care areas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7688" y="1783080"/>
            <a:ext cx="1911096" cy="61264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Post-operative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Cardiac step-down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ICU/CCU step-down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High-risk wards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98280" y="1325880"/>
            <a:ext cx="2240280" cy="114300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98280" y="1325880"/>
            <a:ext cx="73152" cy="1143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9448" y="1444752"/>
            <a:ext cx="192024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User workflows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9448" y="1783080"/>
            <a:ext cx="1911096" cy="61264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Vitals compliance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Escalation queues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Trend review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Device readiness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3044952"/>
            <a:ext cx="4892040" cy="132588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46520" y="3044952"/>
            <a:ext cx="73152" cy="13258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3163824"/>
            <a:ext cx="457200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Honeywell outcome logic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3502152"/>
            <a:ext cx="4562855" cy="79552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More continuous observation during high-risk periods and clearer escalation before deterioration becomes a crisis.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498079" cy="34747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l">
              <a:defRPr sz="1800" b="1">
                <a:solidFill>
                  <a:srgbClr val="202020"/>
                </a:solidFill>
                <a:latin typeface="Arial"/>
              </a:defRPr>
            </a:pPr>
            <a:r>
              <a:t>Bed and capacity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82880"/>
            <a:ext cx="2148840" cy="27432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50" b="0">
                <a:solidFill>
                  <a:srgbClr val="63666A"/>
                </a:solidFill>
                <a:latin typeface="Arial"/>
              </a:defRPr>
            </a:pPr>
            <a:r>
              <a:t>Make every bed operationally visible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6601968"/>
            <a:ext cx="585216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234440"/>
            <a:ext cx="3246120" cy="1261872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234440"/>
            <a:ext cx="73152" cy="126187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1353312"/>
            <a:ext cx="2926079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Bed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1691640"/>
            <a:ext cx="2916936" cy="731519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Occupied, vacant, cleaning, blocked, maintenance, transfer-in-progress, discharge-ready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1234440"/>
            <a:ext cx="3246120" cy="1261872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1234440"/>
            <a:ext cx="73152" cy="1261872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1728" y="1353312"/>
            <a:ext cx="2926079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Flow coordination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1691640"/>
            <a:ext cx="2916936" cy="731519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Admission, discharge, transfer, housekeeping, transport, nursing handoff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1234440"/>
            <a:ext cx="3246120" cy="1261872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75320" y="1234440"/>
            <a:ext cx="73152" cy="1261872"/>
          </a:xfrm>
          <a:prstGeom prst="rect">
            <a:avLst/>
          </a:prstGeom>
          <a:solidFill>
            <a:srgbClr val="636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1353312"/>
            <a:ext cx="2926079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Capacity 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6488" y="1691640"/>
            <a:ext cx="2916936" cy="731519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Ward-level occupancy, bottlenecks, turnaround time, high-acuity demand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154680"/>
            <a:ext cx="10149840" cy="187451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  <a:defRPr sz="1450">
                <a:solidFill>
                  <a:srgbClr val="202020"/>
                </a:solidFill>
                <a:latin typeface="Arial"/>
              </a:defRPr>
            </a:pPr>
            <a:r>
              <a:t>Hospitals can lose capacity when bed status depends on phone calls, spreadsheets, and delayed system updates.</a:t>
            </a:r>
          </a:p>
          <a:p>
            <a:pPr>
              <a:spcAft>
                <a:spcPts val="500"/>
              </a:spcAft>
              <a:defRPr sz="1450">
                <a:solidFill>
                  <a:srgbClr val="202020"/>
                </a:solidFill>
                <a:latin typeface="Arial"/>
              </a:defRPr>
            </a:pPr>
            <a:r>
              <a:t>A real-time bed board helps teams see what is available now, what is waiting for cleaning, what is blocked, and what is about to open.</a:t>
            </a:r>
          </a:p>
          <a:p>
            <a:pPr>
              <a:spcAft>
                <a:spcPts val="500"/>
              </a:spcAft>
              <a:defRPr sz="1450">
                <a:solidFill>
                  <a:srgbClr val="202020"/>
                </a:solidFill>
                <a:latin typeface="Arial"/>
              </a:defRPr>
            </a:pPr>
            <a:r>
              <a:t>When bed state is connected to patient vitals and acuity, operations teams can prioritize transfers and step-down decisions more effectively.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498079" cy="34747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l">
              <a:defRPr sz="1800" b="1">
                <a:solidFill>
                  <a:srgbClr val="202020"/>
                </a:solidFill>
                <a:latin typeface="Arial"/>
              </a:defRPr>
            </a:pPr>
            <a:r>
              <a:t>Asset tracking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82880"/>
            <a:ext cx="2148840" cy="27432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50" b="0">
                <a:solidFill>
                  <a:srgbClr val="63666A"/>
                </a:solidFill>
                <a:latin typeface="Arial"/>
              </a:defRPr>
            </a:pPr>
            <a:r>
              <a:t>Reduce search time and improve utilization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6601968"/>
            <a:ext cx="585216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115568"/>
            <a:ext cx="2514600" cy="38404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Infusion pumps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115568"/>
            <a:ext cx="2514600" cy="38404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Wheelchairs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79" y="1115568"/>
            <a:ext cx="2514600" cy="38404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Patient monitors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115568"/>
            <a:ext cx="2514600" cy="38404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Oxygen cylinders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737360"/>
            <a:ext cx="2514600" cy="38404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ECG carts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1737360"/>
            <a:ext cx="2514600" cy="38404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Defibrillators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79" y="1737360"/>
            <a:ext cx="2514600" cy="38404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Stretchers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737360"/>
            <a:ext cx="2514600" cy="38404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Portable ultrasound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063240"/>
            <a:ext cx="3291840" cy="132588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3063240"/>
            <a:ext cx="73152" cy="13258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182112"/>
            <a:ext cx="297180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Location visibility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3520440"/>
            <a:ext cx="2962656" cy="79552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Last known location, zone, movement history, and availability.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063240"/>
            <a:ext cx="3291840" cy="132588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34840" y="3063240"/>
            <a:ext cx="73152" cy="132588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36007" y="3182112"/>
            <a:ext cx="297180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Utilization 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7" y="3520440"/>
            <a:ext cx="2962656" cy="79552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Idle time, underused inventory, shortage hotspots, and redistribution opportunities.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3063240"/>
            <a:ext cx="3291840" cy="132588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3063240"/>
            <a:ext cx="73152" cy="1325880"/>
          </a:xfrm>
          <a:prstGeom prst="rect">
            <a:avLst/>
          </a:prstGeom>
          <a:solidFill>
            <a:srgbClr val="636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3182112"/>
            <a:ext cx="297180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Control and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3520440"/>
            <a:ext cx="2962656" cy="79552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Geofence alerts, service-due status, missing assets, and biomedical readiness.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498079" cy="34747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l">
              <a:defRPr sz="1800" b="1">
                <a:solidFill>
                  <a:srgbClr val="202020"/>
                </a:solidFill>
                <a:latin typeface="Arial"/>
              </a:defRPr>
            </a:pPr>
            <a:r>
              <a:t>Command-center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82880"/>
            <a:ext cx="2148840" cy="27432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50" b="0">
                <a:solidFill>
                  <a:srgbClr val="63666A"/>
                </a:solidFill>
                <a:latin typeface="Arial"/>
              </a:defRPr>
            </a:pPr>
            <a:r>
              <a:t>One operational view for patients, beds, assets, and staff actions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6601968"/>
            <a:ext cx="585216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170432"/>
            <a:ext cx="3383280" cy="114300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73152" cy="114300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1289304"/>
            <a:ext cx="306324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Patient risk 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1627632"/>
            <a:ext cx="3054096" cy="61264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Trend changes, abnormal vitals, escalation status, device health.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170432"/>
            <a:ext cx="3383280" cy="114300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170432"/>
            <a:ext cx="73152" cy="1143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7" y="1289304"/>
            <a:ext cx="306324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Ward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7" y="1627632"/>
            <a:ext cx="3054096" cy="61264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Vitals compliance, battery status, connectivity, nursing queues.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170432"/>
            <a:ext cx="3383280" cy="114300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170432"/>
            <a:ext cx="73152" cy="1143000"/>
          </a:xfrm>
          <a:prstGeom prst="rect">
            <a:avLst/>
          </a:prstGeom>
          <a:solidFill>
            <a:srgbClr val="636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5048" y="1289304"/>
            <a:ext cx="306324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Bed 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1627632"/>
            <a:ext cx="3054096" cy="61264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Occupancy, cleaning queue, discharge readiness, transfer bottlenecks.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2862072"/>
            <a:ext cx="3383280" cy="114300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0" y="2862072"/>
            <a:ext cx="73152" cy="114300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61488" y="2980944"/>
            <a:ext cx="306324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Asset 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61488" y="3319272"/>
            <a:ext cx="3054096" cy="61264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Availability, zone, movement, utilization, and service readiness.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862072"/>
            <a:ext cx="3383280" cy="114300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2862072"/>
            <a:ext cx="73152" cy="1143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2980944"/>
            <a:ext cx="306324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Leadership 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0528" y="3319272"/>
            <a:ext cx="3054096" cy="61264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Acuity, capacity, throughput, operational KPIs, and multi-site comparison.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892040"/>
            <a:ext cx="8458200" cy="38404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Honeywell command center: who needs attention, which bed can open next, and where the required equipment is located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498079" cy="34747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l">
              <a:defRPr sz="1800" b="1">
                <a:solidFill>
                  <a:srgbClr val="202020"/>
                </a:solidFill>
                <a:latin typeface="Arial"/>
              </a:defRPr>
            </a:pPr>
            <a:r>
              <a:t>Value proposition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82880"/>
            <a:ext cx="2148840" cy="27432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50" b="0">
                <a:solidFill>
                  <a:srgbClr val="63666A"/>
                </a:solidFill>
                <a:latin typeface="Arial"/>
              </a:defRPr>
            </a:pPr>
            <a:r>
              <a:t>Clinical, operational, and commercial impact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6601968"/>
            <a:ext cx="585216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234440"/>
            <a:ext cx="2697480" cy="388620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234440"/>
            <a:ext cx="73152" cy="388620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353312"/>
            <a:ext cx="237744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Patients and families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691640"/>
            <a:ext cx="2368296" cy="335584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More continuous observation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Faster escalation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Better continuity during transfers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56432" y="1234440"/>
            <a:ext cx="2697480" cy="388620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1234440"/>
            <a:ext cx="73152" cy="38862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1353312"/>
            <a:ext cx="237744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Nurses and clinicians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1691640"/>
            <a:ext cx="2368296" cy="335584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Reduced manual capture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Clear escalation queues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Better patient trend visibility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224" y="1234440"/>
            <a:ext cx="2697480" cy="388620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64224" y="1234440"/>
            <a:ext cx="73152" cy="3886200"/>
          </a:xfrm>
          <a:prstGeom prst="rect">
            <a:avLst/>
          </a:prstGeom>
          <a:solidFill>
            <a:srgbClr val="636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1353312"/>
            <a:ext cx="237744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Operations teams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5392" y="1691640"/>
            <a:ext cx="2368296" cy="335584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Faster bed turnaround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Less equipment search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Better asset allocation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72016" y="1234440"/>
            <a:ext cx="2697480" cy="388620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72016" y="1234440"/>
            <a:ext cx="73152" cy="388620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73184" y="1353312"/>
            <a:ext cx="237744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Hospital leadership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73184" y="1691640"/>
            <a:ext cx="2368296" cy="335584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Higher throughput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Measurable KPIs</a:t>
            </a:r>
          </a:p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Multi-site scalability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498079" cy="34747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l">
              <a:defRPr sz="1800" b="1">
                <a:solidFill>
                  <a:srgbClr val="202020"/>
                </a:solidFill>
                <a:latin typeface="Arial"/>
              </a:defRPr>
            </a:pPr>
            <a:r>
              <a:t>MVO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82880"/>
            <a:ext cx="2148840" cy="27432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50" b="0">
                <a:solidFill>
                  <a:srgbClr val="63666A"/>
                </a:solidFill>
                <a:latin typeface="Arial"/>
              </a:defRPr>
            </a:pPr>
            <a:r>
              <a:t>Phased adoption from one ward to enterprise scale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6601968"/>
            <a:ext cx="585216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143000"/>
            <a:ext cx="2560320" cy="38404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MVO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19072"/>
            <a:ext cx="2560320" cy="242316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719072"/>
            <a:ext cx="73152" cy="24231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1837943"/>
            <a:ext cx="2240279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Connected monitoring foundation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176272"/>
            <a:ext cx="2231136" cy="189280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Patch, provisioning, patient assignment, ward dashboard, basic alerts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1143000"/>
            <a:ext cx="2560320" cy="38404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MVO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719072"/>
            <a:ext cx="2560320" cy="242316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83280" y="1719072"/>
            <a:ext cx="73152" cy="24231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448" y="1837943"/>
            <a:ext cx="2240279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Vitals expansion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4448" y="2176272"/>
            <a:ext cx="2231136" cy="189280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BP, SpO2, missed-vitals escalation, patient and bed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143000"/>
            <a:ext cx="2560320" cy="384048"/>
          </a:xfrm>
          <a:prstGeom prst="roundRect">
            <a:avLst/>
          </a:prstGeom>
          <a:solidFill>
            <a:srgbClr val="636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MVO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719072"/>
            <a:ext cx="2560320" cy="242316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19072"/>
            <a:ext cx="73152" cy="2423160"/>
          </a:xfrm>
          <a:prstGeom prst="rect">
            <a:avLst/>
          </a:prstGeom>
          <a:solidFill>
            <a:srgbClr val="636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7" y="1837943"/>
            <a:ext cx="2240279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Bed and asset intelligence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2176272"/>
            <a:ext cx="2231136" cy="189280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Bed-state workflow, asset tags, operations dashboards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143000"/>
            <a:ext cx="2560320" cy="38404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MVO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1719072"/>
            <a:ext cx="2560320" cy="242316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0" y="1719072"/>
            <a:ext cx="73152" cy="24231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1837943"/>
            <a:ext cx="2240279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Scale and 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5168" y="2176272"/>
            <a:ext cx="2231136" cy="189280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Multi-ward rollout, predictive insights, deployment templates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892040"/>
            <a:ext cx="1060704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  <a:defRPr sz="1450">
                <a:solidFill>
                  <a:srgbClr val="202020"/>
                </a:solidFill>
                <a:latin typeface="Arial"/>
              </a:defRPr>
            </a:pPr>
            <a:r>
              <a:t>Recommended pilot: 50 to 100 beds in cardiac step-down, post-operative ward, emergency observation, or ICU step-down, with weekly KPI and user feedback reviews.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498079" cy="34747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l">
              <a:defRPr sz="1800" b="1">
                <a:solidFill>
                  <a:srgbClr val="202020"/>
                </a:solidFill>
                <a:latin typeface="Arial"/>
              </a:defRPr>
            </a:pPr>
            <a:r>
              <a:t>Target outcomes to validate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82880"/>
            <a:ext cx="2148840" cy="27432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50" b="0">
                <a:solidFill>
                  <a:srgbClr val="63666A"/>
                </a:solidFill>
                <a:latin typeface="Arial"/>
              </a:defRPr>
            </a:pPr>
            <a:r>
              <a:t>Measure before and after implementation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6601968"/>
            <a:ext cx="585216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234440"/>
            <a:ext cx="5212080" cy="4434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  <a:defRPr sz="1450">
                <a:solidFill>
                  <a:srgbClr val="202020"/>
                </a:solidFill>
                <a:latin typeface="Arial"/>
              </a:defRPr>
            </a:pPr>
            <a:r>
              <a:t>Manual vitals documentation effort</a:t>
            </a:r>
          </a:p>
          <a:p>
            <a:pPr>
              <a:spcAft>
                <a:spcPts val="500"/>
              </a:spcAft>
              <a:defRPr sz="1450">
                <a:solidFill>
                  <a:srgbClr val="202020"/>
                </a:solidFill>
                <a:latin typeface="Arial"/>
              </a:defRPr>
            </a:pPr>
            <a:r>
              <a:t>Missed or delayed vital-sign observations</a:t>
            </a:r>
          </a:p>
          <a:p>
            <a:pPr>
              <a:spcAft>
                <a:spcPts val="500"/>
              </a:spcAft>
              <a:defRPr sz="1450">
                <a:solidFill>
                  <a:srgbClr val="202020"/>
                </a:solidFill>
                <a:latin typeface="Arial"/>
              </a:defRPr>
            </a:pPr>
            <a:r>
              <a:t>Escalation time for abnormal trends</a:t>
            </a:r>
          </a:p>
          <a:p>
            <a:pPr>
              <a:spcAft>
                <a:spcPts val="500"/>
              </a:spcAft>
              <a:defRPr sz="1450">
                <a:solidFill>
                  <a:srgbClr val="202020"/>
                </a:solidFill>
                <a:latin typeface="Arial"/>
              </a:defRPr>
            </a:pPr>
            <a:r>
              <a:t>Bed turnaround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234440"/>
            <a:ext cx="5212080" cy="4434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  <a:defRPr sz="1450">
                <a:solidFill>
                  <a:srgbClr val="202020"/>
                </a:solidFill>
                <a:latin typeface="Arial"/>
              </a:defRPr>
            </a:pPr>
            <a:r>
              <a:t>Asset search time</a:t>
            </a:r>
          </a:p>
          <a:p>
            <a:pPr>
              <a:spcAft>
                <a:spcPts val="500"/>
              </a:spcAft>
              <a:defRPr sz="1450">
                <a:solidFill>
                  <a:srgbClr val="202020"/>
                </a:solidFill>
                <a:latin typeface="Arial"/>
              </a:defRPr>
            </a:pPr>
            <a:r>
              <a:t>Utilization of tracked mobile assets</a:t>
            </a:r>
          </a:p>
          <a:p>
            <a:pPr>
              <a:spcAft>
                <a:spcPts val="500"/>
              </a:spcAft>
              <a:defRPr sz="1450">
                <a:solidFill>
                  <a:srgbClr val="202020"/>
                </a:solidFill>
                <a:latin typeface="Arial"/>
              </a:defRPr>
            </a:pPr>
            <a:r>
              <a:t>Ward-level visibility into acuity and bottlenecks</a:t>
            </a:r>
          </a:p>
          <a:p>
            <a:pPr>
              <a:spcAft>
                <a:spcPts val="500"/>
              </a:spcAft>
              <a:defRPr sz="1450">
                <a:solidFill>
                  <a:srgbClr val="202020"/>
                </a:solidFill>
                <a:latin typeface="Arial"/>
              </a:defRPr>
            </a:pPr>
            <a:r>
              <a:t>Commercial viability across device, software, and services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5513832"/>
            <a:ext cx="3474720" cy="274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MEASURED BUSINESS IMPACT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498079" cy="34747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l">
              <a:defRPr sz="1800" b="1">
                <a:solidFill>
                  <a:srgbClr val="202020"/>
                </a:solidFill>
                <a:latin typeface="Arial"/>
              </a:defRPr>
            </a:pPr>
            <a:r>
              <a:t>India and APAC relevance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82880"/>
            <a:ext cx="2148840" cy="27432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50" b="0">
                <a:solidFill>
                  <a:srgbClr val="63666A"/>
                </a:solidFill>
                <a:latin typeface="Arial"/>
              </a:defRPr>
            </a:pPr>
            <a:r>
              <a:t>Built for high-volume hospitals and scalable adoption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6601968"/>
            <a:ext cx="585216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170432"/>
            <a:ext cx="3337560" cy="123444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170432"/>
            <a:ext cx="73152" cy="12344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1289304"/>
            <a:ext cx="301752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High-volume hospitals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1627632"/>
            <a:ext cx="3008376" cy="70408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Supports high patient throughput, constrained staffing, and practical automation needs.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170432"/>
            <a:ext cx="3337560" cy="123444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170432"/>
            <a:ext cx="73152" cy="12344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7" y="1289304"/>
            <a:ext cx="301752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Modular economics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7" y="1627632"/>
            <a:ext cx="3008376" cy="70408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Start with one ward and expand by module, bed, asset, or facility.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1170432"/>
            <a:ext cx="3337560" cy="123444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1170432"/>
            <a:ext cx="73152" cy="1234440"/>
          </a:xfrm>
          <a:prstGeom prst="rect">
            <a:avLst/>
          </a:prstGeom>
          <a:solidFill>
            <a:srgbClr val="636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9328" y="1289304"/>
            <a:ext cx="301752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Hospital chains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1627632"/>
            <a:ext cx="3008376" cy="70408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Standardize dashboards and KPIs across India and APAC sites.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999232"/>
            <a:ext cx="10149840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  <a:defRPr sz="1520">
                <a:solidFill>
                  <a:srgbClr val="202020"/>
                </a:solidFill>
                <a:latin typeface="Arial"/>
              </a:defRPr>
            </a:pPr>
            <a:r>
              <a:t>The platform can serve tertiary care, cardiac hospitals, mid-sized multi-specialty hospitals, medical colleges, and emerging-market providers.</a:t>
            </a:r>
          </a:p>
          <a:p>
            <a:pPr>
              <a:spcAft>
                <a:spcPts val="500"/>
              </a:spcAft>
              <a:defRPr sz="1520">
                <a:solidFill>
                  <a:srgbClr val="202020"/>
                </a:solidFill>
                <a:latin typeface="Arial"/>
              </a:defRPr>
            </a:pPr>
            <a:r>
              <a:t>It creates a path from Honeywell device-led innovation to recurring software, integration, analytics, and service revenue.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17520" y="4983480"/>
            <a:ext cx="6217920" cy="38404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Scalable, modular, future-ready Honeywell healthcare platform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498079" cy="34747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l">
              <a:defRPr sz="1800" b="1">
                <a:solidFill>
                  <a:srgbClr val="202020"/>
                </a:solidFill>
                <a:latin typeface="Arial"/>
              </a:defRPr>
            </a:pPr>
            <a:r>
              <a:t>Why this wins Phase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82880"/>
            <a:ext cx="2148840" cy="274320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850" b="0">
                <a:solidFill>
                  <a:srgbClr val="63666A"/>
                </a:solidFill>
                <a:latin typeface="Arial"/>
              </a:defRPr>
            </a:pPr>
            <a:r>
              <a:t>A bigger, measurable, future-ready healthcare innovation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6601968"/>
            <a:ext cx="585216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234440"/>
            <a:ext cx="5486400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  <a:defRPr sz="1450">
                <a:solidFill>
                  <a:srgbClr val="202020"/>
                </a:solidFill>
                <a:latin typeface="Arial"/>
              </a:defRPr>
            </a:pPr>
            <a:r>
              <a:t>Anchored in an existing Honeywell wearable patch concept and MVO path.</a:t>
            </a:r>
          </a:p>
          <a:p>
            <a:pPr>
              <a:spcAft>
                <a:spcPts val="500"/>
              </a:spcAft>
              <a:defRPr sz="1450">
                <a:solidFill>
                  <a:srgbClr val="202020"/>
                </a:solidFill>
                <a:latin typeface="Arial"/>
              </a:defRPr>
            </a:pPr>
            <a:r>
              <a:t>Expands the value proposition beyond patient monitoring into hospital operations.</a:t>
            </a:r>
          </a:p>
          <a:p>
            <a:pPr>
              <a:spcAft>
                <a:spcPts val="500"/>
              </a:spcAft>
              <a:defRPr sz="1450">
                <a:solidFill>
                  <a:srgbClr val="202020"/>
                </a:solidFill>
                <a:latin typeface="Arial"/>
              </a:defRPr>
            </a:pPr>
            <a:r>
              <a:t>Addresses customer value, business impact, and regional scalability together.</a:t>
            </a:r>
          </a:p>
          <a:p>
            <a:pPr>
              <a:spcAft>
                <a:spcPts val="500"/>
              </a:spcAft>
              <a:defRPr sz="1450">
                <a:solidFill>
                  <a:srgbClr val="202020"/>
                </a:solidFill>
                <a:latin typeface="Arial"/>
              </a:defRPr>
            </a:pPr>
            <a:r>
              <a:t>Creates a platform that can grow through devices, software, analytics, services, and partnerships.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417320"/>
            <a:ext cx="4343400" cy="2148840"/>
          </a:xfrm>
          <a:prstGeom prst="rect">
            <a:avLst/>
          </a:prstGeom>
          <a:solidFill>
            <a:srgbClr val="F3F4F6"/>
          </a:solidFill>
          <a:ln w="10160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20840" y="1417320"/>
            <a:ext cx="73152" cy="2148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22007" y="1536192"/>
            <a:ext cx="4023360" cy="256032"/>
          </a:xfrm>
          <a:prstGeom prst="rect">
            <a:avLst/>
          </a:prstGeom>
          <a:noFill/>
        </p:spPr>
        <p:txBody>
          <a:bodyPr wrap="none" lIns="36576" rIns="36576" tIns="18288" bIns="18288">
            <a:spAutoFit/>
          </a:bodyPr>
          <a:lstStyle/>
          <a:p>
            <a:pPr>
              <a:defRPr sz="1250" b="1">
                <a:solidFill>
                  <a:srgbClr val="202020"/>
                </a:solidFill>
                <a:latin typeface="Arial"/>
              </a:defRPr>
            </a:pPr>
            <a:r>
              <a:t>Submission statement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2007" y="1874519"/>
            <a:ext cx="4014215" cy="161848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36393F"/>
                </a:solidFill>
                <a:latin typeface="Arial"/>
              </a:defRPr>
            </a:pPr>
            <a:r>
              <a:t>The wearable smart patch is the starting point. The bigger Honeywell idea is a connected hospital platform that helps providers see patients, beds, and assets in real time - improving care response, throughput, and measurable outcomes.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4160520"/>
            <a:ext cx="4343400" cy="38404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From wearable to whole-hospital intelligence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