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56032"/>
            <a:ext cx="173736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Honeywell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0" y="301752"/>
            <a:ext cx="38862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1050" b="1">
                <a:solidFill>
                  <a:srgbClr val="FFFFFF"/>
                </a:solidFill>
                <a:latin typeface="Arial"/>
              </a:defRPr>
            </a:pPr>
            <a:r>
              <a:t>Whole-Hospital Application 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9692640" cy="10058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3800" b="1">
                <a:solidFill>
                  <a:srgbClr val="202020"/>
                </a:solidFill>
                <a:latin typeface="Arial"/>
              </a:defRPr>
            </a:pPr>
            <a:r>
              <a:t>Honeywell Connected Hospital 360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2331720"/>
            <a:ext cx="969264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000" b="1">
                <a:solidFill>
                  <a:srgbClr val="36393F"/>
                </a:solidFill>
                <a:latin typeface="Arial"/>
              </a:defRPr>
            </a:pPr>
            <a:r>
              <a:t>Patient Journey Command Center from OPD to post-discharge care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794760"/>
            <a:ext cx="1508760" cy="365760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19" b="1">
                <a:solidFill>
                  <a:srgbClr val="FFFFFF"/>
                </a:solidFill>
                <a:latin typeface="Arial"/>
              </a:defRPr>
            </a:pPr>
            <a:r>
              <a:t>OPD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97479" y="3794760"/>
            <a:ext cx="1508760" cy="365760"/>
          </a:xfrm>
          <a:prstGeom prst="round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19" b="1">
                <a:solidFill>
                  <a:srgbClr val="FFFFFF"/>
                </a:solidFill>
                <a:latin typeface="Arial"/>
              </a:defRPr>
            </a:pPr>
            <a:r>
              <a:t>Emergency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3794760"/>
            <a:ext cx="1508760" cy="365760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19" b="1">
                <a:solidFill>
                  <a:srgbClr val="FFFFFF"/>
                </a:solidFill>
                <a:latin typeface="Arial"/>
              </a:defRPr>
            </a:pPr>
            <a:r>
              <a:t>IPD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3794760"/>
            <a:ext cx="1508760" cy="365760"/>
          </a:xfrm>
          <a:prstGeom prst="round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19" b="1">
                <a:solidFill>
                  <a:srgbClr val="FFFFFF"/>
                </a:solidFill>
                <a:latin typeface="Arial"/>
              </a:defRPr>
            </a:pPr>
            <a:r>
              <a:t>OT / ICU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21040" y="3794760"/>
            <a:ext cx="1508760" cy="365760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19" b="1">
                <a:solidFill>
                  <a:srgbClr val="FFFFFF"/>
                </a:solidFill>
                <a:latin typeface="Arial"/>
              </a:defRPr>
            </a:pPr>
            <a:r>
              <a:t>Discharge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195560" y="3794760"/>
            <a:ext cx="1508760" cy="365760"/>
          </a:xfrm>
          <a:prstGeom prst="round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19" b="1">
                <a:solidFill>
                  <a:srgbClr val="FFFFFF"/>
                </a:solidFill>
                <a:latin typeface="Arial"/>
              </a:defRPr>
            </a:pPr>
            <a:r>
              <a:t>Post-discharge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709160"/>
            <a:ext cx="987552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1700" b="1">
                <a:solidFill>
                  <a:srgbClr val="202020"/>
                </a:solidFill>
                <a:latin typeface="Arial"/>
              </a:defRPr>
            </a:pPr>
            <a:r>
              <a:t>An intelligent operating layer that connects patient monitoring, hospital operations, risk prediction, discharge coordination, and care continuity.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10528"/>
            <a:ext cx="12191695" cy="36576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" y="6601968"/>
            <a:ext cx="29260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1">
                <a:solidFill>
                  <a:srgbClr val="63666A"/>
                </a:solidFill>
                <a:latin typeface="Arial"/>
              </a:defRPr>
            </a:pPr>
            <a:r>
              <a:t>Impact by Honeywell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80" y="6601968"/>
            <a:ext cx="61264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0">
                <a:solidFill>
                  <a:srgbClr val="63666A"/>
                </a:solidFill>
                <a:latin typeface="Arial"/>
              </a:defRPr>
            </a:pPr>
            <a:r>
              <a:t>Connected Hospital 360 | Patient Journey Command Center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01400" y="6601968"/>
            <a:ext cx="50292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50" b="0">
                <a:solidFill>
                  <a:srgbClr val="63666A"/>
                </a:solidFill>
                <a:latin typeface="Arial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12191695" cy="54864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01168"/>
            <a:ext cx="169164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E4002B"/>
                </a:solidFill>
                <a:latin typeface="Arial"/>
              </a:defRPr>
            </a:pPr>
            <a:r>
              <a:t>Honeywell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8840" y="164592"/>
            <a:ext cx="713232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202020"/>
                </a:solidFill>
                <a:latin typeface="Arial"/>
              </a:defRPr>
            </a:pPr>
            <a:r>
              <a:t>Executive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6840" y="182880"/>
            <a:ext cx="26517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850" b="0">
                <a:solidFill>
                  <a:srgbClr val="63666A"/>
                </a:solidFill>
                <a:latin typeface="Arial"/>
              </a:defRPr>
            </a:pPr>
            <a:r>
              <a:t>Connected Hospital 360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6576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601968"/>
            <a:ext cx="29260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1">
                <a:solidFill>
                  <a:srgbClr val="63666A"/>
                </a:solidFill>
                <a:latin typeface="Arial"/>
              </a:defRPr>
            </a:pPr>
            <a:r>
              <a:t>Impact by Honeywell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6601968"/>
            <a:ext cx="61264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0">
                <a:solidFill>
                  <a:srgbClr val="63666A"/>
                </a:solidFill>
                <a:latin typeface="Arial"/>
              </a:defRPr>
            </a:pPr>
            <a:r>
              <a:t>Connected Hospital 360 | Patient Journey Command Center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601968"/>
            <a:ext cx="50292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50" b="0">
                <a:solidFill>
                  <a:srgbClr val="63666A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051560"/>
            <a:ext cx="10607040" cy="7772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2000" b="1">
                <a:solidFill>
                  <a:srgbClr val="202020"/>
                </a:solidFill>
                <a:latin typeface="Arial"/>
              </a:defRPr>
            </a:pPr>
            <a:r>
              <a:t>Honeywell Connected Hospital 360 follows the patient across the full hospital journey and gives leaders one operating picture for care, capacity, assets, discharge, and post-discharge risk.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560320"/>
            <a:ext cx="2423160" cy="224028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85800" y="2560320"/>
            <a:ext cx="73152" cy="224028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2670048"/>
            <a:ext cx="21305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Clinical impact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017520"/>
            <a:ext cx="2112264" cy="172821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40">
                <a:solidFill>
                  <a:srgbClr val="36393F"/>
                </a:solidFill>
                <a:latin typeface="Arial"/>
              </a:defRPr>
            </a:pPr>
            <a:r>
              <a:t>Continuous risk visibility, early warning, faster intervention.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11880" y="2560320"/>
            <a:ext cx="2423160" cy="224028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11880" y="2560320"/>
            <a:ext cx="73152" cy="224028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94760" y="2670048"/>
            <a:ext cx="21305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Operational impact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60" y="3017520"/>
            <a:ext cx="2112264" cy="172821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40">
                <a:solidFill>
                  <a:srgbClr val="36393F"/>
                </a:solidFill>
                <a:latin typeface="Arial"/>
              </a:defRPr>
            </a:pPr>
            <a:r>
              <a:t>Bed flow, discharge readiness, asset availability, staff coordination.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37960" y="2560320"/>
            <a:ext cx="2423160" cy="224028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537960" y="2560320"/>
            <a:ext cx="73152" cy="224028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20840" y="2670048"/>
            <a:ext cx="21305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Patient impact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3017520"/>
            <a:ext cx="2112264" cy="172821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40">
                <a:solidFill>
                  <a:srgbClr val="36393F"/>
                </a:solidFill>
                <a:latin typeface="Arial"/>
              </a:defRPr>
            </a:pPr>
            <a:r>
              <a:t>Less waiting, safer transitions, stronger post-discharge follow-up.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64040" y="2560320"/>
            <a:ext cx="2423160" cy="224028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464040" y="2560320"/>
            <a:ext cx="73152" cy="224028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46919" y="2670048"/>
            <a:ext cx="21305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Business impact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46919" y="3017520"/>
            <a:ext cx="2112264" cy="172821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40">
                <a:solidFill>
                  <a:srgbClr val="36393F"/>
                </a:solidFill>
                <a:latin typeface="Arial"/>
              </a:defRPr>
            </a:pPr>
            <a:r>
              <a:t>Better throughput, lower delays, scalable software and services model.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926080" y="5349240"/>
            <a:ext cx="6217920" cy="365760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19" b="1">
                <a:solidFill>
                  <a:srgbClr val="FFFFFF"/>
                </a:solidFill>
                <a:latin typeface="Arial"/>
              </a:defRPr>
            </a:pPr>
            <a:r>
              <a:t>From device innovation to whole-hospital application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12191695" cy="54864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01168"/>
            <a:ext cx="169164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E4002B"/>
                </a:solidFill>
                <a:latin typeface="Arial"/>
              </a:defRPr>
            </a:pPr>
            <a:r>
              <a:t>Honeywell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8840" y="164592"/>
            <a:ext cx="713232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202020"/>
                </a:solidFill>
                <a:latin typeface="Arial"/>
              </a:defRPr>
            </a:pPr>
            <a:r>
              <a:t>End-to-end patient journey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6840" y="182880"/>
            <a:ext cx="26517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850" b="0">
                <a:solidFill>
                  <a:srgbClr val="63666A"/>
                </a:solidFill>
                <a:latin typeface="Arial"/>
              </a:defRPr>
            </a:pPr>
            <a:r>
              <a:t>OPD to post-discharge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6576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601968"/>
            <a:ext cx="29260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1">
                <a:solidFill>
                  <a:srgbClr val="63666A"/>
                </a:solidFill>
                <a:latin typeface="Arial"/>
              </a:defRPr>
            </a:pPr>
            <a:r>
              <a:t>Impact by Honeywell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6601968"/>
            <a:ext cx="61264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0">
                <a:solidFill>
                  <a:srgbClr val="63666A"/>
                </a:solidFill>
                <a:latin typeface="Arial"/>
              </a:defRPr>
            </a:pPr>
            <a:r>
              <a:t>Connected Hospital 360 | Patient Journey Command Center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601968"/>
            <a:ext cx="50292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50" b="0">
                <a:solidFill>
                  <a:srgbClr val="63666A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234440"/>
            <a:ext cx="1737360" cy="594360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80" b="1">
                <a:solidFill>
                  <a:srgbClr val="FFFFFF"/>
                </a:solidFill>
                <a:latin typeface="Arial"/>
              </a:defRPr>
            </a:pPr>
            <a:r>
              <a:t>OPD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40280" y="1536192"/>
            <a:ext cx="137159" cy="0"/>
          </a:xfrm>
          <a:prstGeom prst="line">
            <a:avLst/>
          </a:prstGeom>
          <a:ln w="15875">
            <a:solidFill>
              <a:srgbClr val="E40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377439" y="1234440"/>
            <a:ext cx="1737360" cy="594360"/>
          </a:xfrm>
          <a:prstGeom prst="round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80" b="1">
                <a:solidFill>
                  <a:srgbClr val="FFFFFF"/>
                </a:solidFill>
                <a:latin typeface="Arial"/>
              </a:defRPr>
            </a:pPr>
            <a:r>
              <a:t>Emergency / triage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114800" y="1536192"/>
            <a:ext cx="137159" cy="0"/>
          </a:xfrm>
          <a:prstGeom prst="line">
            <a:avLst/>
          </a:prstGeom>
          <a:ln w="15875">
            <a:solidFill>
              <a:srgbClr val="E40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251959" y="1234440"/>
            <a:ext cx="1737360" cy="594360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80" b="1">
                <a:solidFill>
                  <a:srgbClr val="FFFFFF"/>
                </a:solidFill>
                <a:latin typeface="Arial"/>
              </a:defRPr>
            </a:pPr>
            <a:r>
              <a:t>Admission / IPD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989319" y="1536192"/>
            <a:ext cx="137160" cy="0"/>
          </a:xfrm>
          <a:prstGeom prst="line">
            <a:avLst/>
          </a:prstGeom>
          <a:ln w="15875">
            <a:solidFill>
              <a:srgbClr val="E40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126479" y="1234440"/>
            <a:ext cx="1737360" cy="594360"/>
          </a:xfrm>
          <a:prstGeom prst="round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80" b="1">
                <a:solidFill>
                  <a:srgbClr val="FFFFFF"/>
                </a:solidFill>
                <a:latin typeface="Arial"/>
              </a:defRPr>
            </a:pPr>
            <a:r>
              <a:t>OT / ICU / step-down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863840" y="1536192"/>
            <a:ext cx="137160" cy="0"/>
          </a:xfrm>
          <a:prstGeom prst="line">
            <a:avLst/>
          </a:prstGeom>
          <a:ln w="15875">
            <a:solidFill>
              <a:srgbClr val="E40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001000" y="1234440"/>
            <a:ext cx="1737360" cy="594360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80" b="1">
                <a:solidFill>
                  <a:srgbClr val="FFFFFF"/>
                </a:solidFill>
                <a:latin typeface="Arial"/>
              </a:defRPr>
            </a:pPr>
            <a:r>
              <a:t>Discharge readiness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738360" y="1536192"/>
            <a:ext cx="137160" cy="0"/>
          </a:xfrm>
          <a:prstGeom prst="line">
            <a:avLst/>
          </a:prstGeom>
          <a:ln w="15875">
            <a:solidFill>
              <a:srgbClr val="E40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875520" y="1234440"/>
            <a:ext cx="1737360" cy="594360"/>
          </a:xfrm>
          <a:prstGeom prst="round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80" b="1">
                <a:solidFill>
                  <a:srgbClr val="FFFFFF"/>
                </a:solidFill>
                <a:latin typeface="Arial"/>
              </a:defRPr>
            </a:pPr>
            <a:r>
              <a:t>Post-discharge care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2514600"/>
            <a:ext cx="3429000" cy="114300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2514600"/>
            <a:ext cx="73152" cy="114300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2624328"/>
            <a:ext cx="313639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OPD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2971800"/>
            <a:ext cx="3118104" cy="63093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19">
                <a:solidFill>
                  <a:srgbClr val="36393F"/>
                </a:solidFill>
                <a:latin typeface="Arial"/>
              </a:defRPr>
            </a:pPr>
            <a:r>
              <a:t>Appointment, queue, vitals, ECG snapshot, risk pre-screening.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25112" y="2514600"/>
            <a:ext cx="3429000" cy="114300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25112" y="2514600"/>
            <a:ext cx="73152" cy="114300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07992" y="2624328"/>
            <a:ext cx="313639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Emergency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07992" y="2971800"/>
            <a:ext cx="3118104" cy="63093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19">
                <a:solidFill>
                  <a:srgbClr val="36393F"/>
                </a:solidFill>
                <a:latin typeface="Arial"/>
              </a:defRPr>
            </a:pPr>
            <a:r>
              <a:t>Triage scoring, ER vitals, intervention readiness.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47304" y="2514600"/>
            <a:ext cx="3429000" cy="114300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47304" y="2514600"/>
            <a:ext cx="73152" cy="114300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30183" y="2624328"/>
            <a:ext cx="313639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IPD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30183" y="2971800"/>
            <a:ext cx="3118104" cy="63093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19">
                <a:solidFill>
                  <a:srgbClr val="36393F"/>
                </a:solidFill>
                <a:latin typeface="Arial"/>
              </a:defRPr>
            </a:pPr>
            <a:r>
              <a:t>Patch monitoring, BP/SpO2, nurse task queue, risk score.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4069080"/>
            <a:ext cx="3429000" cy="114300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2920" y="4069080"/>
            <a:ext cx="73152" cy="114300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800" y="4178808"/>
            <a:ext cx="313639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OT/ICU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4526280"/>
            <a:ext cx="3118104" cy="63093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19">
                <a:solidFill>
                  <a:srgbClr val="36393F"/>
                </a:solidFill>
                <a:latin typeface="Arial"/>
              </a:defRPr>
            </a:pPr>
            <a:r>
              <a:t>Readiness board, transfer queue, post-procedure monitoring.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25112" y="4069080"/>
            <a:ext cx="3429000" cy="114300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325112" y="4069080"/>
            <a:ext cx="73152" cy="114300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07992" y="4178808"/>
            <a:ext cx="313639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Discharge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07992" y="4526280"/>
            <a:ext cx="3118104" cy="63093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19">
                <a:solidFill>
                  <a:srgbClr val="36393F"/>
                </a:solidFill>
                <a:latin typeface="Arial"/>
              </a:defRPr>
            </a:pPr>
            <a:r>
              <a:t>Clinical, pharmacy, billing, diagnostics, transport, housekeeping.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47304" y="4069080"/>
            <a:ext cx="3429000" cy="114300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147304" y="4069080"/>
            <a:ext cx="73152" cy="114300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30183" y="4178808"/>
            <a:ext cx="313639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Post-care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30183" y="4526280"/>
            <a:ext cx="3118104" cy="63093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19">
                <a:solidFill>
                  <a:srgbClr val="36393F"/>
                </a:solidFill>
                <a:latin typeface="Arial"/>
              </a:defRPr>
            </a:pPr>
            <a:r>
              <a:t>Remote monitoring, adherence, follow-up, readmission risk.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12191695" cy="54864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01168"/>
            <a:ext cx="169164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E4002B"/>
                </a:solidFill>
                <a:latin typeface="Arial"/>
              </a:defRPr>
            </a:pPr>
            <a:r>
              <a:t>Honeywell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8840" y="164592"/>
            <a:ext cx="713232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202020"/>
                </a:solidFill>
                <a:latin typeface="Arial"/>
              </a:defRPr>
            </a:pPr>
            <a:r>
              <a:t>Clinical imperative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6840" y="182880"/>
            <a:ext cx="26517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850" b="0">
                <a:solidFill>
                  <a:srgbClr val="63666A"/>
                </a:solidFill>
                <a:latin typeface="Arial"/>
              </a:defRPr>
            </a:pPr>
            <a:r>
              <a:t>Creating time to intervene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6576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601968"/>
            <a:ext cx="29260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1">
                <a:solidFill>
                  <a:srgbClr val="63666A"/>
                </a:solidFill>
                <a:latin typeface="Arial"/>
              </a:defRPr>
            </a:pPr>
            <a:r>
              <a:t>Impact by Honeywell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6601968"/>
            <a:ext cx="61264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0">
                <a:solidFill>
                  <a:srgbClr val="63666A"/>
                </a:solidFill>
                <a:latin typeface="Arial"/>
              </a:defRPr>
            </a:pPr>
            <a:r>
              <a:t>Connected Hospital 360 | Patient Journey Command Center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601968"/>
            <a:ext cx="50292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50" b="0">
                <a:solidFill>
                  <a:srgbClr val="63666A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024128"/>
            <a:ext cx="10332720" cy="10972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2300" b="1">
                <a:solidFill>
                  <a:srgbClr val="202020"/>
                </a:solidFill>
                <a:latin typeface="Arial"/>
              </a:defRPr>
            </a:pPr>
            <a:r>
              <a:t>Leading hospitals can save lives when patients reach the right intervention team in time. Connected Hospital 360 creates that time window through continuous monitoring, risk scoring, and coordinated escalation.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880360"/>
            <a:ext cx="3246120" cy="150876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77240" y="2880360"/>
            <a:ext cx="73152" cy="150876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990088"/>
            <a:ext cx="295351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Detect earlier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337560"/>
            <a:ext cx="2935224" cy="996695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40">
                <a:solidFill>
                  <a:srgbClr val="36393F"/>
                </a:solidFill>
                <a:latin typeface="Arial"/>
              </a:defRPr>
            </a:pPr>
            <a:r>
              <a:t>Continuous vitals, ECG, BP, SpO2, trends, missed observations.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34840" y="2880360"/>
            <a:ext cx="3246120" cy="150876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34840" y="2880360"/>
            <a:ext cx="73152" cy="150876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17720" y="2990088"/>
            <a:ext cx="295351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Predict 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3337560"/>
            <a:ext cx="2935224" cy="996695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40">
                <a:solidFill>
                  <a:srgbClr val="36393F"/>
                </a:solidFill>
                <a:latin typeface="Arial"/>
              </a:defRPr>
            </a:pPr>
            <a:r>
              <a:t>Patient-specific risk score and deterioration prediction.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92440" y="2880360"/>
            <a:ext cx="3246120" cy="150876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92440" y="2880360"/>
            <a:ext cx="73152" cy="150876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19" y="2990088"/>
            <a:ext cx="295351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Act faster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19" y="3337560"/>
            <a:ext cx="2935224" cy="996695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40">
                <a:solidFill>
                  <a:srgbClr val="36393F"/>
                </a:solidFill>
                <a:latin typeface="Arial"/>
              </a:defRPr>
            </a:pPr>
            <a:r>
              <a:t>Escalation queues, OT/ICU readiness, team coordination.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331720" y="5257800"/>
            <a:ext cx="7589520" cy="365760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19" b="1">
                <a:solidFill>
                  <a:srgbClr val="FFFFFF"/>
                </a:solidFill>
                <a:latin typeface="Arial"/>
              </a:defRPr>
            </a:pPr>
            <a:r>
              <a:t>Clinical outcome: right patient, right team, right time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12191695" cy="54864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01168"/>
            <a:ext cx="169164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E4002B"/>
                </a:solidFill>
                <a:latin typeface="Arial"/>
              </a:defRPr>
            </a:pPr>
            <a:r>
              <a:t>Honeywell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8840" y="164592"/>
            <a:ext cx="713232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202020"/>
                </a:solidFill>
                <a:latin typeface="Arial"/>
              </a:defRPr>
            </a:pPr>
            <a:r>
              <a:t>OPD and pre-admission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6840" y="182880"/>
            <a:ext cx="26517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850" b="0">
                <a:solidFill>
                  <a:srgbClr val="63666A"/>
                </a:solidFill>
                <a:latin typeface="Arial"/>
              </a:defRPr>
            </a:pPr>
            <a:r>
              <a:t>Front door intelligence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6576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601968"/>
            <a:ext cx="29260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1">
                <a:solidFill>
                  <a:srgbClr val="63666A"/>
                </a:solidFill>
                <a:latin typeface="Arial"/>
              </a:defRPr>
            </a:pPr>
            <a:r>
              <a:t>Impact by Honeywell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6601968"/>
            <a:ext cx="61264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0">
                <a:solidFill>
                  <a:srgbClr val="63666A"/>
                </a:solidFill>
                <a:latin typeface="Arial"/>
              </a:defRPr>
            </a:pPr>
            <a:r>
              <a:t>Connected Hospital 360 | Patient Journey Command Center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601968"/>
            <a:ext cx="50292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50" b="0">
                <a:solidFill>
                  <a:srgbClr val="63666A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143000"/>
            <a:ext cx="3291840" cy="141732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143000"/>
            <a:ext cx="73152" cy="141732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252728"/>
            <a:ext cx="299923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Connected vitals capture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1600200"/>
            <a:ext cx="2980944" cy="90525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40">
                <a:solidFill>
                  <a:srgbClr val="36393F"/>
                </a:solidFill>
                <a:latin typeface="Arial"/>
              </a:defRPr>
            </a:pPr>
            <a:r>
              <a:t>BP, SpO2, temperature, heart rate, ECG snapshot.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34840" y="1143000"/>
            <a:ext cx="3291840" cy="141732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143000"/>
            <a:ext cx="73152" cy="141732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1252728"/>
            <a:ext cx="299923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Risk pre-screening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1600200"/>
            <a:ext cx="2980944" cy="90525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40">
                <a:solidFill>
                  <a:srgbClr val="36393F"/>
                </a:solidFill>
                <a:latin typeface="Arial"/>
              </a:defRPr>
            </a:pPr>
            <a:r>
              <a:t>Cardiac, respiratory, diabetic, elderly, post-operative follow-up cohorts.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83879" y="1143000"/>
            <a:ext cx="3291840" cy="141732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83879" y="1143000"/>
            <a:ext cx="73152" cy="141732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59" y="1252728"/>
            <a:ext cx="299923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Doctor dashboard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59" y="1600200"/>
            <a:ext cx="2980944" cy="90525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40">
                <a:solidFill>
                  <a:srgbClr val="36393F"/>
                </a:solidFill>
                <a:latin typeface="Arial"/>
              </a:defRPr>
            </a:pPr>
            <a:r>
              <a:t>Patient history, risk trend, previous vitals, next action.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246120"/>
            <a:ext cx="10149840" cy="1325880"/>
          </a:xfrm>
          <a:prstGeom prst="rect">
            <a:avLst/>
          </a:prstGeom>
          <a:noFill/>
        </p:spPr>
        <p:txBody>
          <a:bodyPr wrap="square" lIns="45720" rIns="36576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02020"/>
                </a:solidFill>
                <a:latin typeface="Arial"/>
              </a:defRPr>
            </a:pPr>
            <a:r>
              <a:t>Queue visibility improves patient flow before consultation.</a:t>
            </a:r>
          </a:p>
          <a:p>
            <a:pPr>
              <a:spcAft>
                <a:spcPts val="400"/>
              </a:spcAft>
              <a:defRPr sz="1500">
                <a:solidFill>
                  <a:srgbClr val="202020"/>
                </a:solidFill>
                <a:latin typeface="Arial"/>
              </a:defRPr>
            </a:pPr>
            <a:r>
              <a:t>High-risk patients are fast-tracked to diagnostics, emergency, or admission.</a:t>
            </a:r>
          </a:p>
          <a:p>
            <a:pPr>
              <a:spcAft>
                <a:spcPts val="400"/>
              </a:spcAft>
              <a:defRPr sz="1500">
                <a:solidFill>
                  <a:srgbClr val="202020"/>
                </a:solidFill>
                <a:latin typeface="Arial"/>
              </a:defRPr>
            </a:pPr>
            <a:r>
              <a:t>OPD becomes a risk-detection layer rather than only a consultation endpoint.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12191695" cy="54864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01168"/>
            <a:ext cx="169164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E4002B"/>
                </a:solidFill>
                <a:latin typeface="Arial"/>
              </a:defRPr>
            </a:pPr>
            <a:r>
              <a:t>Honeywell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8840" y="164592"/>
            <a:ext cx="713232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202020"/>
                </a:solidFill>
                <a:latin typeface="Arial"/>
              </a:defRPr>
            </a:pPr>
            <a:r>
              <a:t>Emergency and triage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6840" y="182880"/>
            <a:ext cx="26517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850" b="0">
                <a:solidFill>
                  <a:srgbClr val="63666A"/>
                </a:solidFill>
                <a:latin typeface="Arial"/>
              </a:defRPr>
            </a:pPr>
            <a:r>
              <a:t>Critical-front-door workflow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6576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601968"/>
            <a:ext cx="29260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1">
                <a:solidFill>
                  <a:srgbClr val="63666A"/>
                </a:solidFill>
                <a:latin typeface="Arial"/>
              </a:defRPr>
            </a:pPr>
            <a:r>
              <a:t>Impact by Honeywell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6601968"/>
            <a:ext cx="61264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0">
                <a:solidFill>
                  <a:srgbClr val="63666A"/>
                </a:solidFill>
                <a:latin typeface="Arial"/>
              </a:defRPr>
            </a:pPr>
            <a:r>
              <a:t>Connected Hospital 360 | Patient Journey Command Center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601968"/>
            <a:ext cx="50292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50" b="0">
                <a:solidFill>
                  <a:srgbClr val="63666A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143000"/>
            <a:ext cx="3291840" cy="150876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143000"/>
            <a:ext cx="73152" cy="150876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252728"/>
            <a:ext cx="299923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Rapid triage score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1600200"/>
            <a:ext cx="2980944" cy="996695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40">
                <a:solidFill>
                  <a:srgbClr val="36393F"/>
                </a:solidFill>
                <a:latin typeface="Arial"/>
              </a:defRPr>
            </a:pPr>
            <a:r>
              <a:t>Vitals, symptoms, age, comorbidity, history.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34840" y="1143000"/>
            <a:ext cx="3291840" cy="150876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143000"/>
            <a:ext cx="73152" cy="150876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1252728"/>
            <a:ext cx="299923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ER command 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1600200"/>
            <a:ext cx="2980944" cy="996695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40">
                <a:solidFill>
                  <a:srgbClr val="36393F"/>
                </a:solidFill>
                <a:latin typeface="Arial"/>
              </a:defRPr>
            </a:pPr>
            <a:r>
              <a:t>Waiting risk, observation status, intervention priority.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83879" y="1143000"/>
            <a:ext cx="3291840" cy="150876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83879" y="1143000"/>
            <a:ext cx="73152" cy="150876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59" y="1252728"/>
            <a:ext cx="299923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Pre-arrival handoff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59" y="1600200"/>
            <a:ext cx="2980944" cy="996695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40">
                <a:solidFill>
                  <a:srgbClr val="36393F"/>
                </a:solidFill>
                <a:latin typeface="Arial"/>
              </a:defRPr>
            </a:pPr>
            <a:r>
              <a:t>Ambulance vitals and patient context before arrival.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011680" y="3383280"/>
            <a:ext cx="8183879" cy="365760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19" b="1">
                <a:solidFill>
                  <a:srgbClr val="FFFFFF"/>
                </a:solidFill>
                <a:latin typeface="Arial"/>
              </a:defRPr>
            </a:pPr>
            <a:r>
              <a:t>When risk crosses threshold, OT/ICU readiness begins before deterioration becomes irreversible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0" y="4251960"/>
            <a:ext cx="10012680" cy="91440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005840" y="4251960"/>
            <a:ext cx="73152" cy="91440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4361688"/>
            <a:ext cx="972007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Emergency outcome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4709160"/>
            <a:ext cx="9701784" cy="402335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40">
                <a:solidFill>
                  <a:srgbClr val="36393F"/>
                </a:solidFill>
                <a:latin typeface="Arial"/>
              </a:defRPr>
            </a:pPr>
            <a:r>
              <a:t>Earlier prioritization, faster escalation, better preparedness for cardiac and high-acuity events.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12191695" cy="54864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01168"/>
            <a:ext cx="169164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E4002B"/>
                </a:solidFill>
                <a:latin typeface="Arial"/>
              </a:defRPr>
            </a:pPr>
            <a:r>
              <a:t>Honeywell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8840" y="164592"/>
            <a:ext cx="713232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202020"/>
                </a:solidFill>
                <a:latin typeface="Arial"/>
              </a:defRPr>
            </a:pPr>
            <a:r>
              <a:t>Admission and IPD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6840" y="182880"/>
            <a:ext cx="26517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850" b="0">
                <a:solidFill>
                  <a:srgbClr val="63666A"/>
                </a:solidFill>
                <a:latin typeface="Arial"/>
              </a:defRPr>
            </a:pPr>
            <a:r>
              <a:t>Continuous ward intelligence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6576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601968"/>
            <a:ext cx="29260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1">
                <a:solidFill>
                  <a:srgbClr val="63666A"/>
                </a:solidFill>
                <a:latin typeface="Arial"/>
              </a:defRPr>
            </a:pPr>
            <a:r>
              <a:t>Impact by Honeywell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6601968"/>
            <a:ext cx="61264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0">
                <a:solidFill>
                  <a:srgbClr val="63666A"/>
                </a:solidFill>
                <a:latin typeface="Arial"/>
              </a:defRPr>
            </a:pPr>
            <a:r>
              <a:t>Connected Hospital 360 | Patient Journey Command Center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601968"/>
            <a:ext cx="50292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50" b="0">
                <a:solidFill>
                  <a:srgbClr val="63666A"/>
                </a:solidFill>
                <a:latin typeface="Arial"/>
              </a:defRPr>
            </a:pPr>
            <a:r>
              <a:t>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143000"/>
            <a:ext cx="2377440" cy="219456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1143000"/>
            <a:ext cx="73152" cy="219456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59" y="1252728"/>
            <a:ext cx="208483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Patient-bed-device assignment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59" y="1600200"/>
            <a:ext cx="2066544" cy="1682495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40">
                <a:solidFill>
                  <a:srgbClr val="36393F"/>
                </a:solidFill>
                <a:latin typeface="Arial"/>
              </a:defRPr>
            </a:pPr>
            <a:r>
              <a:t>Patient, bed, patch, BP device, ward, episode context.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11880" y="1143000"/>
            <a:ext cx="2377440" cy="219456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11880" y="1143000"/>
            <a:ext cx="73152" cy="219456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94760" y="1252728"/>
            <a:ext cx="208483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Wearable monitoring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1600200"/>
            <a:ext cx="2066544" cy="1682495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40">
                <a:solidFill>
                  <a:srgbClr val="36393F"/>
                </a:solidFill>
                <a:latin typeface="Arial"/>
              </a:defRPr>
            </a:pPr>
            <a:r>
              <a:t>ECG, HR, respiration, temperature, posture, restlessness.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0" y="1143000"/>
            <a:ext cx="2377440" cy="219456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583680" y="1143000"/>
            <a:ext cx="73152" cy="219456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60" y="1252728"/>
            <a:ext cx="208483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Nurse task queue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60" y="1600200"/>
            <a:ext cx="2066544" cy="1682495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40">
                <a:solidFill>
                  <a:srgbClr val="36393F"/>
                </a:solidFill>
                <a:latin typeface="Arial"/>
              </a:defRPr>
            </a:pPr>
            <a:r>
              <a:t>Vitals, alerts, medication reminders, escalation follow-up.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555480" y="1143000"/>
            <a:ext cx="2377440" cy="219456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555480" y="1143000"/>
            <a:ext cx="73152" cy="219456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38359" y="1252728"/>
            <a:ext cx="208483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Risk score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38359" y="1600200"/>
            <a:ext cx="2066544" cy="1682495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40">
                <a:solidFill>
                  <a:srgbClr val="36393F"/>
                </a:solidFill>
                <a:latin typeface="Arial"/>
              </a:defRPr>
            </a:pPr>
            <a:r>
              <a:t>Vitals, trends, missed observations, patient context.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97480" y="4892040"/>
            <a:ext cx="6812280" cy="365760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19" b="1">
                <a:solidFill>
                  <a:srgbClr val="FFFFFF"/>
                </a:solidFill>
                <a:latin typeface="Arial"/>
              </a:defRPr>
            </a:pPr>
            <a:r>
              <a:t>IPD outcome: fewer blind spots between rounds and clearer escalation ownership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12191695" cy="54864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01168"/>
            <a:ext cx="169164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E4002B"/>
                </a:solidFill>
                <a:latin typeface="Arial"/>
              </a:defRPr>
            </a:pPr>
            <a:r>
              <a:t>Honeywell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8840" y="164592"/>
            <a:ext cx="713232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202020"/>
                </a:solidFill>
                <a:latin typeface="Arial"/>
              </a:defRPr>
            </a:pPr>
            <a:r>
              <a:t>OT, ICU, and step-down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6840" y="182880"/>
            <a:ext cx="26517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850" b="0">
                <a:solidFill>
                  <a:srgbClr val="63666A"/>
                </a:solidFill>
                <a:latin typeface="Arial"/>
              </a:defRPr>
            </a:pPr>
            <a:r>
              <a:t>High-acuity coordination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6576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601968"/>
            <a:ext cx="29260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1">
                <a:solidFill>
                  <a:srgbClr val="63666A"/>
                </a:solidFill>
                <a:latin typeface="Arial"/>
              </a:defRPr>
            </a:pPr>
            <a:r>
              <a:t>Impact by Honeywell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6601968"/>
            <a:ext cx="61264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0">
                <a:solidFill>
                  <a:srgbClr val="63666A"/>
                </a:solidFill>
                <a:latin typeface="Arial"/>
              </a:defRPr>
            </a:pPr>
            <a:r>
              <a:t>Connected Hospital 360 | Patient Journey Command Center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601968"/>
            <a:ext cx="50292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50" b="0">
                <a:solidFill>
                  <a:srgbClr val="63666A"/>
                </a:solidFill>
                <a:latin typeface="Arial"/>
              </a:defRPr>
            </a:pPr>
            <a:r>
              <a:t>8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143000"/>
            <a:ext cx="3291840" cy="169164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143000"/>
            <a:ext cx="73152" cy="169164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252728"/>
            <a:ext cx="299923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OT readiness board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1600200"/>
            <a:ext cx="2980944" cy="117957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40">
                <a:solidFill>
                  <a:srgbClr val="36393F"/>
                </a:solidFill>
                <a:latin typeface="Arial"/>
              </a:defRPr>
            </a:pPr>
            <a:r>
              <a:t>Patient, staff, equipment, clearance, transfer status.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34840" y="1143000"/>
            <a:ext cx="3291840" cy="169164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143000"/>
            <a:ext cx="73152" cy="169164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1252728"/>
            <a:ext cx="299923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ICU / CCU capacity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1600200"/>
            <a:ext cx="2980944" cy="117957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40">
                <a:solidFill>
                  <a:srgbClr val="36393F"/>
                </a:solidFill>
                <a:latin typeface="Arial"/>
              </a:defRPr>
            </a:pPr>
            <a:r>
              <a:t>Bed availability, transfer queue, acuity demand.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83879" y="1143000"/>
            <a:ext cx="3291840" cy="169164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83879" y="1143000"/>
            <a:ext cx="73152" cy="169164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59" y="1252728"/>
            <a:ext cx="299923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Step-down readiness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59" y="1600200"/>
            <a:ext cx="2980944" cy="117957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40">
                <a:solidFill>
                  <a:srgbClr val="36393F"/>
                </a:solidFill>
                <a:latin typeface="Arial"/>
              </a:defRPr>
            </a:pPr>
            <a:r>
              <a:t>Stability trend, post-procedure monitoring, deterioration alerts.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429000"/>
            <a:ext cx="10241280" cy="1280160"/>
          </a:xfrm>
          <a:prstGeom prst="rect">
            <a:avLst/>
          </a:prstGeom>
          <a:noFill/>
        </p:spPr>
        <p:txBody>
          <a:bodyPr wrap="square" lIns="45720" rIns="36576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02020"/>
                </a:solidFill>
                <a:latin typeface="Arial"/>
              </a:defRPr>
            </a:pPr>
            <a:r>
              <a:t>Post-procedure patients remain visible through patch and connected vitals.</a:t>
            </a:r>
          </a:p>
          <a:p>
            <a:pPr>
              <a:spcAft>
                <a:spcPts val="400"/>
              </a:spcAft>
              <a:defRPr sz="1500">
                <a:solidFill>
                  <a:srgbClr val="202020"/>
                </a:solidFill>
                <a:latin typeface="Arial"/>
              </a:defRPr>
            </a:pPr>
            <a:r>
              <a:t>Step-down transitions become data-backed rather than only schedule-driven.</a:t>
            </a:r>
          </a:p>
          <a:p>
            <a:pPr>
              <a:spcAft>
                <a:spcPts val="400"/>
              </a:spcAft>
              <a:defRPr sz="1500">
                <a:solidFill>
                  <a:srgbClr val="202020"/>
                </a:solidFill>
                <a:latin typeface="Arial"/>
              </a:defRPr>
            </a:pPr>
            <a:r>
              <a:t>Care teams see deterioration risk after transfer, not only during ICU stay.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12191695" cy="54864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01168"/>
            <a:ext cx="169164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E4002B"/>
                </a:solidFill>
                <a:latin typeface="Arial"/>
              </a:defRPr>
            </a:pPr>
            <a:r>
              <a:t>Honeywell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8840" y="164592"/>
            <a:ext cx="713232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202020"/>
                </a:solidFill>
                <a:latin typeface="Arial"/>
              </a:defRPr>
            </a:pPr>
            <a:r>
              <a:t>Diagnostics, pharmacy, and support workflows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6840" y="182880"/>
            <a:ext cx="26517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850" b="0">
                <a:solidFill>
                  <a:srgbClr val="63666A"/>
                </a:solidFill>
                <a:latin typeface="Arial"/>
              </a:defRPr>
            </a:pPr>
            <a:r>
              <a:t>Department coordination layer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6576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601968"/>
            <a:ext cx="29260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1">
                <a:solidFill>
                  <a:srgbClr val="63666A"/>
                </a:solidFill>
                <a:latin typeface="Arial"/>
              </a:defRPr>
            </a:pPr>
            <a:r>
              <a:t>Impact by Honeywell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6601968"/>
            <a:ext cx="61264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0">
                <a:solidFill>
                  <a:srgbClr val="63666A"/>
                </a:solidFill>
                <a:latin typeface="Arial"/>
              </a:defRPr>
            </a:pPr>
            <a:r>
              <a:t>Connected Hospital 360 | Patient Journey Command Center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601968"/>
            <a:ext cx="50292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50" b="0">
                <a:solidFill>
                  <a:srgbClr val="63666A"/>
                </a:solidFill>
                <a:latin typeface="Arial"/>
              </a:defRPr>
            </a:pPr>
            <a:r>
              <a:t>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1143000"/>
            <a:ext cx="2926080" cy="365760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19" b="1">
                <a:solidFill>
                  <a:srgbClr val="FFFFFF"/>
                </a:solidFill>
                <a:latin typeface="Arial"/>
              </a:defRPr>
            </a:pPr>
            <a:r>
              <a:t>Diagnostics queue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1143000"/>
            <a:ext cx="2926080" cy="365760"/>
          </a:xfrm>
          <a:prstGeom prst="round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19" b="1">
                <a:solidFill>
                  <a:srgbClr val="FFFFFF"/>
                </a:solidFill>
                <a:latin typeface="Arial"/>
              </a:defRPr>
            </a:pPr>
            <a:r>
              <a:t>Pharmacy readiness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1143000"/>
            <a:ext cx="2926080" cy="365760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19" b="1">
                <a:solidFill>
                  <a:srgbClr val="FFFFFF"/>
                </a:solidFill>
                <a:latin typeface="Arial"/>
              </a:defRPr>
            </a:pPr>
            <a:r>
              <a:t>Billing clearance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2103120"/>
            <a:ext cx="2926080" cy="365760"/>
          </a:xfrm>
          <a:prstGeom prst="round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19" b="1">
                <a:solidFill>
                  <a:srgbClr val="FFFFFF"/>
                </a:solidFill>
                <a:latin typeface="Arial"/>
              </a:defRPr>
            </a:pPr>
            <a:r>
              <a:t>Biomedical status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26280" y="2103120"/>
            <a:ext cx="2926080" cy="365760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19" b="1">
                <a:solidFill>
                  <a:srgbClr val="FFFFFF"/>
                </a:solidFill>
                <a:latin typeface="Arial"/>
              </a:defRPr>
            </a:pPr>
            <a:r>
              <a:t>Patient transport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2103120"/>
            <a:ext cx="2926080" cy="365760"/>
          </a:xfrm>
          <a:prstGeom prst="round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19" b="1">
                <a:solidFill>
                  <a:srgbClr val="FFFFFF"/>
                </a:solidFill>
                <a:latin typeface="Arial"/>
              </a:defRPr>
            </a:pPr>
            <a:r>
              <a:t>Housekeeping queue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3429000"/>
            <a:ext cx="4983480" cy="132588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68680" y="3429000"/>
            <a:ext cx="73152" cy="132588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560" y="3538728"/>
            <a:ext cx="469087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Workflow state events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3886200"/>
            <a:ext cx="4672584" cy="813815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40">
                <a:solidFill>
                  <a:srgbClr val="36393F"/>
                </a:solidFill>
                <a:latin typeface="Arial"/>
              </a:defRPr>
            </a:pPr>
            <a:r>
              <a:t>Each department updates readiness, delay reason, owner, and expected completion time.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55080" y="3429000"/>
            <a:ext cx="4983480" cy="132588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80" y="3429000"/>
            <a:ext cx="73152" cy="132588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3538728"/>
            <a:ext cx="469087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Command-center value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3886200"/>
            <a:ext cx="4672584" cy="813815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40">
                <a:solidFill>
                  <a:srgbClr val="36393F"/>
                </a:solidFill>
                <a:latin typeface="Arial"/>
              </a:defRPr>
            </a:pPr>
            <a:r>
              <a:t>Bottlenecks become visible before they delay admission, discharge, or bed release.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12191695" cy="54864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01168"/>
            <a:ext cx="169164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E4002B"/>
                </a:solidFill>
                <a:latin typeface="Arial"/>
              </a:defRPr>
            </a:pPr>
            <a:r>
              <a:t>Honeywell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8840" y="164592"/>
            <a:ext cx="713232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202020"/>
                </a:solidFill>
                <a:latin typeface="Arial"/>
              </a:defRPr>
            </a:pPr>
            <a:r>
              <a:t>Discharge Command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6840" y="182880"/>
            <a:ext cx="26517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850" b="0">
                <a:solidFill>
                  <a:srgbClr val="63666A"/>
                </a:solidFill>
                <a:latin typeface="Arial"/>
              </a:defRPr>
            </a:pPr>
            <a:r>
              <a:t>Turning discharge into bed capacity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6576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601968"/>
            <a:ext cx="29260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1">
                <a:solidFill>
                  <a:srgbClr val="63666A"/>
                </a:solidFill>
                <a:latin typeface="Arial"/>
              </a:defRPr>
            </a:pPr>
            <a:r>
              <a:t>Impact by Honeywell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6601968"/>
            <a:ext cx="61264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0">
                <a:solidFill>
                  <a:srgbClr val="63666A"/>
                </a:solidFill>
                <a:latin typeface="Arial"/>
              </a:defRPr>
            </a:pPr>
            <a:r>
              <a:t>Connected Hospital 360 | Patient Journey Command Center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601968"/>
            <a:ext cx="50292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50" b="0">
                <a:solidFill>
                  <a:srgbClr val="63666A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143000"/>
            <a:ext cx="2331720" cy="502920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19" b="1">
                <a:solidFill>
                  <a:srgbClr val="FFFFFF"/>
                </a:solidFill>
                <a:latin typeface="Arial"/>
              </a:defRPr>
            </a:pPr>
            <a:r>
              <a:t>Clinical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1143000"/>
            <a:ext cx="2331720" cy="502920"/>
          </a:xfrm>
          <a:prstGeom prst="round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19" b="1">
                <a:solidFill>
                  <a:srgbClr val="FFFFFF"/>
                </a:solidFill>
                <a:latin typeface="Arial"/>
              </a:defRPr>
            </a:pPr>
            <a:r>
              <a:t>Diagnostics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143000"/>
            <a:ext cx="2331720" cy="502920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19" b="1">
                <a:solidFill>
                  <a:srgbClr val="FFFFFF"/>
                </a:solidFill>
                <a:latin typeface="Arial"/>
              </a:defRPr>
            </a:pPr>
            <a:r>
              <a:t>Pharmacy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1143000"/>
            <a:ext cx="2331720" cy="502920"/>
          </a:xfrm>
          <a:prstGeom prst="round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19" b="1">
                <a:solidFill>
                  <a:srgbClr val="FFFFFF"/>
                </a:solidFill>
                <a:latin typeface="Arial"/>
              </a:defRPr>
            </a:pPr>
            <a:r>
              <a:t>Billing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2057400"/>
            <a:ext cx="2331720" cy="502920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19" b="1">
                <a:solidFill>
                  <a:srgbClr val="FFFFFF"/>
                </a:solidFill>
                <a:latin typeface="Arial"/>
              </a:defRPr>
            </a:pPr>
            <a:r>
              <a:t>Nursing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474720" y="2057400"/>
            <a:ext cx="2331720" cy="502920"/>
          </a:xfrm>
          <a:prstGeom prst="round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19" b="1">
                <a:solidFill>
                  <a:srgbClr val="FFFFFF"/>
                </a:solidFill>
                <a:latin typeface="Arial"/>
              </a:defRPr>
            </a:pPr>
            <a:r>
              <a:t>Transport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2057400"/>
            <a:ext cx="2331720" cy="502920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19" b="1">
                <a:solidFill>
                  <a:srgbClr val="FFFFFF"/>
                </a:solidFill>
                <a:latin typeface="Arial"/>
              </a:defRPr>
            </a:pPr>
            <a:r>
              <a:t>Housekeeping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2057400"/>
            <a:ext cx="2331720" cy="502920"/>
          </a:xfrm>
          <a:prstGeom prst="round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19" b="1">
                <a:solidFill>
                  <a:srgbClr val="FFFFFF"/>
                </a:solidFill>
                <a:latin typeface="Arial"/>
              </a:defRPr>
            </a:pPr>
            <a:r>
              <a:t>Bed release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3337560"/>
            <a:ext cx="3246120" cy="132588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3337560"/>
            <a:ext cx="73152" cy="132588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3447288"/>
            <a:ext cx="295351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Discharge visibility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3794760"/>
            <a:ext cx="2935224" cy="813815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40">
                <a:solidFill>
                  <a:srgbClr val="36393F"/>
                </a:solidFill>
                <a:latin typeface="Arial"/>
              </a:defRPr>
            </a:pPr>
            <a:r>
              <a:t>Clearance status, delay reason codes, expected discharge time.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80560" y="3337560"/>
            <a:ext cx="3246120" cy="132588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80560" y="3337560"/>
            <a:ext cx="73152" cy="132588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63440" y="3447288"/>
            <a:ext cx="295351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Operational trigger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3794760"/>
            <a:ext cx="2935224" cy="813815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40">
                <a:solidFill>
                  <a:srgbClr val="36393F"/>
                </a:solidFill>
                <a:latin typeface="Arial"/>
              </a:defRPr>
            </a:pPr>
            <a:r>
              <a:t>Bed cleaning starts after discharge confirmation and bed release.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83879" y="3337560"/>
            <a:ext cx="3246120" cy="132588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83879" y="3337560"/>
            <a:ext cx="73152" cy="132588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66759" y="3447288"/>
            <a:ext cx="295351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Capacity impact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59" y="3794760"/>
            <a:ext cx="2935224" cy="813815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40">
                <a:solidFill>
                  <a:srgbClr val="36393F"/>
                </a:solidFill>
                <a:latin typeface="Arial"/>
              </a:defRPr>
            </a:pPr>
            <a:r>
              <a:t>Admission and emergency teams see upcoming bed availability.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971800" y="5257800"/>
            <a:ext cx="6309360" cy="365760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19" b="1">
                <a:solidFill>
                  <a:srgbClr val="FFFFFF"/>
                </a:solidFill>
                <a:latin typeface="Arial"/>
              </a:defRPr>
            </a:pPr>
            <a:r>
              <a:t>Discharge readiness becomes a measurable operating workflow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12191695" cy="54864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01168"/>
            <a:ext cx="169164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E4002B"/>
                </a:solidFill>
                <a:latin typeface="Arial"/>
              </a:defRPr>
            </a:pPr>
            <a:r>
              <a:t>Honeywell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8840" y="164592"/>
            <a:ext cx="713232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202020"/>
                </a:solidFill>
                <a:latin typeface="Arial"/>
              </a:defRPr>
            </a:pPr>
            <a:r>
              <a:t>Post-discharge remote care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6840" y="182880"/>
            <a:ext cx="26517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850" b="0">
                <a:solidFill>
                  <a:srgbClr val="63666A"/>
                </a:solidFill>
                <a:latin typeface="Arial"/>
              </a:defRPr>
            </a:pPr>
            <a:r>
              <a:t>Care continuity beyond hospital walls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6576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601968"/>
            <a:ext cx="29260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1">
                <a:solidFill>
                  <a:srgbClr val="63666A"/>
                </a:solidFill>
                <a:latin typeface="Arial"/>
              </a:defRPr>
            </a:pPr>
            <a:r>
              <a:t>Impact by Honeywell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6601968"/>
            <a:ext cx="61264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0">
                <a:solidFill>
                  <a:srgbClr val="63666A"/>
                </a:solidFill>
                <a:latin typeface="Arial"/>
              </a:defRPr>
            </a:pPr>
            <a:r>
              <a:t>Connected Hospital 360 | Patient Journey Command Center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601968"/>
            <a:ext cx="50292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50" b="0">
                <a:solidFill>
                  <a:srgbClr val="63666A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143000"/>
            <a:ext cx="3291840" cy="164592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143000"/>
            <a:ext cx="73152" cy="164592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252728"/>
            <a:ext cx="299923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Home monitoring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1600200"/>
            <a:ext cx="2980944" cy="113385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40">
                <a:solidFill>
                  <a:srgbClr val="36393F"/>
                </a:solidFill>
                <a:latin typeface="Arial"/>
              </a:defRPr>
            </a:pPr>
            <a:r>
              <a:t>Wearable patch, BP monitor, SpO2, home vitals kit.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34840" y="1143000"/>
            <a:ext cx="3291840" cy="164592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143000"/>
            <a:ext cx="73152" cy="164592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1252728"/>
            <a:ext cx="299923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Patient engagement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1600200"/>
            <a:ext cx="2980944" cy="113385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40">
                <a:solidFill>
                  <a:srgbClr val="36393F"/>
                </a:solidFill>
                <a:latin typeface="Arial"/>
              </a:defRPr>
            </a:pPr>
            <a:r>
              <a:t>Medication reminders, follow-up coordination, symptoms check-ins.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83879" y="1143000"/>
            <a:ext cx="3291840" cy="164592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83879" y="1143000"/>
            <a:ext cx="73152" cy="164592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59" y="1252728"/>
            <a:ext cx="299923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Readmission risk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59" y="1600200"/>
            <a:ext cx="2980944" cy="113385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40">
                <a:solidFill>
                  <a:srgbClr val="36393F"/>
                </a:solidFill>
                <a:latin typeface="Arial"/>
              </a:defRPr>
            </a:pPr>
            <a:r>
              <a:t>Risk prediction and escalation to hospital care team.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383280"/>
            <a:ext cx="10149840" cy="1417320"/>
          </a:xfrm>
          <a:prstGeom prst="rect">
            <a:avLst/>
          </a:prstGeom>
          <a:noFill/>
        </p:spPr>
        <p:txBody>
          <a:bodyPr wrap="square" lIns="45720" rIns="36576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02020"/>
                </a:solidFill>
                <a:latin typeface="Arial"/>
              </a:defRPr>
            </a:pPr>
            <a:r>
              <a:t>Post-discharge patients remain visible during the risk window after hospitalization.</a:t>
            </a:r>
          </a:p>
          <a:p>
            <a:pPr>
              <a:spcAft>
                <a:spcPts val="400"/>
              </a:spcAft>
              <a:defRPr sz="1500">
                <a:solidFill>
                  <a:srgbClr val="202020"/>
                </a:solidFill>
                <a:latin typeface="Arial"/>
              </a:defRPr>
            </a:pPr>
            <a:r>
              <a:t>Care teams receive alerts when vitals or symptoms cross thresholds.</a:t>
            </a:r>
          </a:p>
          <a:p>
            <a:pPr>
              <a:spcAft>
                <a:spcPts val="400"/>
              </a:spcAft>
              <a:defRPr sz="1500">
                <a:solidFill>
                  <a:srgbClr val="202020"/>
                </a:solidFill>
                <a:latin typeface="Arial"/>
              </a:defRPr>
            </a:pPr>
            <a:r>
              <a:t>The hospital extends its care relationship and reduces avoidable readmission risk.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12191695" cy="54864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01168"/>
            <a:ext cx="169164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E4002B"/>
                </a:solidFill>
                <a:latin typeface="Arial"/>
              </a:defRPr>
            </a:pPr>
            <a:r>
              <a:t>Honeywell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8840" y="164592"/>
            <a:ext cx="713232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202020"/>
                </a:solidFill>
                <a:latin typeface="Arial"/>
              </a:defRPr>
            </a:pPr>
            <a:r>
              <a:t>Whole-hospital operations modules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6840" y="182880"/>
            <a:ext cx="26517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850" b="0">
                <a:solidFill>
                  <a:srgbClr val="63666A"/>
                </a:solidFill>
                <a:latin typeface="Arial"/>
              </a:defRPr>
            </a:pPr>
            <a:r>
              <a:t>Beyond patient monitoring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6576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601968"/>
            <a:ext cx="29260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1">
                <a:solidFill>
                  <a:srgbClr val="63666A"/>
                </a:solidFill>
                <a:latin typeface="Arial"/>
              </a:defRPr>
            </a:pPr>
            <a:r>
              <a:t>Impact by Honeywell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6601968"/>
            <a:ext cx="61264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0">
                <a:solidFill>
                  <a:srgbClr val="63666A"/>
                </a:solidFill>
                <a:latin typeface="Arial"/>
              </a:defRPr>
            </a:pPr>
            <a:r>
              <a:t>Connected Hospital 360 | Patient Journey Command Center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601968"/>
            <a:ext cx="50292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50" b="0">
                <a:solidFill>
                  <a:srgbClr val="63666A"/>
                </a:solidFill>
                <a:latin typeface="Arial"/>
              </a:defRPr>
            </a:pPr>
            <a:r>
              <a:t>12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051560"/>
            <a:ext cx="3337560" cy="150876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051560"/>
            <a:ext cx="73152" cy="150876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161288"/>
            <a:ext cx="30449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Bed management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1508760"/>
            <a:ext cx="3026664" cy="996695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40">
                <a:solidFill>
                  <a:srgbClr val="36393F"/>
                </a:solidFill>
                <a:latin typeface="Arial"/>
              </a:defRPr>
            </a:pPr>
            <a:r>
              <a:t>Occupancy, cleaning, blocked, maintenance, transfer, discharge-ready.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34840" y="1051560"/>
            <a:ext cx="3337560" cy="150876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051560"/>
            <a:ext cx="73152" cy="150876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1161288"/>
            <a:ext cx="30449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Asset intelligence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1508760"/>
            <a:ext cx="3026664" cy="996695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40">
                <a:solidFill>
                  <a:srgbClr val="36393F"/>
                </a:solidFill>
                <a:latin typeface="Arial"/>
              </a:defRPr>
            </a:pPr>
            <a:r>
              <a:t>Pumps, monitors, wheelchairs, cylinders, ECG carts, stretchers.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83879" y="1051560"/>
            <a:ext cx="3337560" cy="150876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83879" y="1051560"/>
            <a:ext cx="73152" cy="150876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59" y="1161288"/>
            <a:ext cx="30449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Staff coordination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59" y="1508760"/>
            <a:ext cx="3026664" cy="996695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40">
                <a:solidFill>
                  <a:srgbClr val="36393F"/>
                </a:solidFill>
                <a:latin typeface="Arial"/>
              </a:defRPr>
            </a:pPr>
            <a:r>
              <a:t>Nurse tasks, transport requests, housekeeping, biomedical actions.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2971800"/>
            <a:ext cx="3337560" cy="150876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" y="2971800"/>
            <a:ext cx="73152" cy="150876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3081528"/>
            <a:ext cx="30449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Patient flow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3429000"/>
            <a:ext cx="3026664" cy="996695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40">
                <a:solidFill>
                  <a:srgbClr val="36393F"/>
                </a:solidFill>
                <a:latin typeface="Arial"/>
              </a:defRPr>
            </a:pPr>
            <a:r>
              <a:t>OPD queues, ER wait, transfer queue, discharge queue.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34840" y="2971800"/>
            <a:ext cx="3337560" cy="150876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34840" y="2971800"/>
            <a:ext cx="73152" cy="150876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17720" y="3081528"/>
            <a:ext cx="30449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Service SLAs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3429000"/>
            <a:ext cx="3026664" cy="996695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40">
                <a:solidFill>
                  <a:srgbClr val="36393F"/>
                </a:solidFill>
                <a:latin typeface="Arial"/>
              </a:defRPr>
            </a:pPr>
            <a:r>
              <a:t>Department delays, owner, aging, bottleneck view.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83879" y="2971800"/>
            <a:ext cx="3337560" cy="150876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83879" y="2971800"/>
            <a:ext cx="73152" cy="150876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66759" y="3081528"/>
            <a:ext cx="30449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Leadership KPIs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59" y="3429000"/>
            <a:ext cx="3026664" cy="996695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40">
                <a:solidFill>
                  <a:srgbClr val="36393F"/>
                </a:solidFill>
                <a:latin typeface="Arial"/>
              </a:defRPr>
            </a:pPr>
            <a:r>
              <a:t>Throughput, occupancy, risk heatmap, utilization, readmission risk.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12191695" cy="54864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01168"/>
            <a:ext cx="169164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E4002B"/>
                </a:solidFill>
                <a:latin typeface="Arial"/>
              </a:defRPr>
            </a:pPr>
            <a:r>
              <a:t>Honeywell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8840" y="164592"/>
            <a:ext cx="713232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202020"/>
                </a:solidFill>
                <a:latin typeface="Arial"/>
              </a:defRPr>
            </a:pPr>
            <a:r>
              <a:t>Clinical Risk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6840" y="182880"/>
            <a:ext cx="26517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850" b="0">
                <a:solidFill>
                  <a:srgbClr val="63666A"/>
                </a:solidFill>
                <a:latin typeface="Arial"/>
              </a:defRPr>
            </a:pPr>
            <a:r>
              <a:t>Continuous scoring and early warning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6576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601968"/>
            <a:ext cx="29260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1">
                <a:solidFill>
                  <a:srgbClr val="63666A"/>
                </a:solidFill>
                <a:latin typeface="Arial"/>
              </a:defRPr>
            </a:pPr>
            <a:r>
              <a:t>Impact by Honeywell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6601968"/>
            <a:ext cx="61264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0">
                <a:solidFill>
                  <a:srgbClr val="63666A"/>
                </a:solidFill>
                <a:latin typeface="Arial"/>
              </a:defRPr>
            </a:pPr>
            <a:r>
              <a:t>Connected Hospital 360 | Patient Journey Command Center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601968"/>
            <a:ext cx="50292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50" b="0">
                <a:solidFill>
                  <a:srgbClr val="63666A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1051560"/>
            <a:ext cx="1874519" cy="365760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40" b="1">
                <a:solidFill>
                  <a:srgbClr val="FFFFFF"/>
                </a:solidFill>
                <a:latin typeface="Arial"/>
              </a:defRPr>
            </a:pPr>
            <a:r>
              <a:t>Vitals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62072" y="1051560"/>
            <a:ext cx="1874519" cy="365760"/>
          </a:xfrm>
          <a:prstGeom prst="round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40" b="1">
                <a:solidFill>
                  <a:srgbClr val="FFFFFF"/>
                </a:solidFill>
                <a:latin typeface="Arial"/>
              </a:defRPr>
            </a:pPr>
            <a:r>
              <a:t>ECG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129784" y="1051560"/>
            <a:ext cx="1874519" cy="365760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40" b="1">
                <a:solidFill>
                  <a:srgbClr val="FFFFFF"/>
                </a:solidFill>
                <a:latin typeface="Arial"/>
              </a:defRPr>
            </a:pPr>
            <a:r>
              <a:t>BP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97496" y="1051560"/>
            <a:ext cx="1874519" cy="365760"/>
          </a:xfrm>
          <a:prstGeom prst="round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40" b="1">
                <a:solidFill>
                  <a:srgbClr val="FFFFFF"/>
                </a:solidFill>
                <a:latin typeface="Arial"/>
              </a:defRPr>
            </a:pPr>
            <a:r>
              <a:t>SpO2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665208" y="1051560"/>
            <a:ext cx="1874519" cy="365760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40" b="1">
                <a:solidFill>
                  <a:srgbClr val="FFFFFF"/>
                </a:solidFill>
                <a:latin typeface="Arial"/>
              </a:defRPr>
            </a:pPr>
            <a:r>
              <a:t>Respiration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1737360"/>
            <a:ext cx="1874519" cy="365760"/>
          </a:xfrm>
          <a:prstGeom prst="round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40" b="1">
                <a:solidFill>
                  <a:srgbClr val="FFFFFF"/>
                </a:solidFill>
                <a:latin typeface="Arial"/>
              </a:defRPr>
            </a:pPr>
            <a:r>
              <a:t>Temperature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62072" y="1737360"/>
            <a:ext cx="1874519" cy="365760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40" b="1">
                <a:solidFill>
                  <a:srgbClr val="FFFFFF"/>
                </a:solidFill>
                <a:latin typeface="Arial"/>
              </a:defRPr>
            </a:pPr>
            <a:r>
              <a:t>Symptoms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29784" y="1737360"/>
            <a:ext cx="1874519" cy="365760"/>
          </a:xfrm>
          <a:prstGeom prst="round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40" b="1">
                <a:solidFill>
                  <a:srgbClr val="FFFFFF"/>
                </a:solidFill>
                <a:latin typeface="Arial"/>
              </a:defRPr>
            </a:pPr>
            <a:r>
              <a:t>History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97496" y="1737360"/>
            <a:ext cx="1874519" cy="365760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40" b="1">
                <a:solidFill>
                  <a:srgbClr val="FFFFFF"/>
                </a:solidFill>
                <a:latin typeface="Arial"/>
              </a:defRPr>
            </a:pPr>
            <a:r>
              <a:t>Missed observations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65208" y="1737360"/>
            <a:ext cx="1874519" cy="365760"/>
          </a:xfrm>
          <a:prstGeom prst="round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40" b="1">
                <a:solidFill>
                  <a:srgbClr val="FFFFFF"/>
                </a:solidFill>
                <a:latin typeface="Arial"/>
              </a:defRPr>
            </a:pPr>
            <a:r>
              <a:t>Care context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2788920"/>
            <a:ext cx="3383280" cy="777240"/>
          </a:xfrm>
          <a:prstGeom prst="round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Risk score + deterioration prediction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508760" y="1783080"/>
            <a:ext cx="4572000" cy="1005840"/>
          </a:xfrm>
          <a:prstGeom prst="line">
            <a:avLst/>
          </a:prstGeom>
          <a:ln w="15875">
            <a:solidFill>
              <a:srgbClr val="E40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776472" y="1783080"/>
            <a:ext cx="2304288" cy="1005840"/>
          </a:xfrm>
          <a:prstGeom prst="line">
            <a:avLst/>
          </a:prstGeom>
          <a:ln w="15875">
            <a:solidFill>
              <a:srgbClr val="E40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044184" y="1783080"/>
            <a:ext cx="36576" cy="1005840"/>
          </a:xfrm>
          <a:prstGeom prst="line">
            <a:avLst/>
          </a:prstGeom>
          <a:ln w="15875">
            <a:solidFill>
              <a:srgbClr val="E40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6080760" y="1783080"/>
            <a:ext cx="2231136" cy="1005840"/>
          </a:xfrm>
          <a:prstGeom prst="line">
            <a:avLst/>
          </a:prstGeom>
          <a:ln w="15875">
            <a:solidFill>
              <a:srgbClr val="E40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H="1">
            <a:off x="6080760" y="1783080"/>
            <a:ext cx="4498848" cy="1005840"/>
          </a:xfrm>
          <a:prstGeom prst="line">
            <a:avLst/>
          </a:prstGeom>
          <a:ln w="15875">
            <a:solidFill>
              <a:srgbClr val="E40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508760" y="2468880"/>
            <a:ext cx="4572000" cy="320040"/>
          </a:xfrm>
          <a:prstGeom prst="line">
            <a:avLst/>
          </a:prstGeom>
          <a:ln w="15875">
            <a:solidFill>
              <a:srgbClr val="E40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3776472" y="2468880"/>
            <a:ext cx="2304288" cy="320040"/>
          </a:xfrm>
          <a:prstGeom prst="line">
            <a:avLst/>
          </a:prstGeom>
          <a:ln w="15875">
            <a:solidFill>
              <a:srgbClr val="E40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044184" y="2468880"/>
            <a:ext cx="36576" cy="320040"/>
          </a:xfrm>
          <a:prstGeom prst="line">
            <a:avLst/>
          </a:prstGeom>
          <a:ln w="15875">
            <a:solidFill>
              <a:srgbClr val="E40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6080760" y="2468880"/>
            <a:ext cx="2231136" cy="320040"/>
          </a:xfrm>
          <a:prstGeom prst="line">
            <a:avLst/>
          </a:prstGeom>
          <a:ln w="15875">
            <a:solidFill>
              <a:srgbClr val="E40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H="1">
            <a:off x="6080760" y="2468880"/>
            <a:ext cx="4498848" cy="320040"/>
          </a:xfrm>
          <a:prstGeom prst="line">
            <a:avLst/>
          </a:prstGeom>
          <a:ln w="15875">
            <a:solidFill>
              <a:srgbClr val="E40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ectangle 31"/>
          <p:cNvSpPr/>
          <p:nvPr/>
        </p:nvSpPr>
        <p:spPr>
          <a:xfrm>
            <a:off x="868680" y="4160520"/>
            <a:ext cx="4846320" cy="96012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68680" y="4160520"/>
            <a:ext cx="73152" cy="96012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51560" y="4270248"/>
            <a:ext cx="455371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Clinical output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" y="4617720"/>
            <a:ext cx="4535424" cy="44805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40">
                <a:solidFill>
                  <a:srgbClr val="36393F"/>
                </a:solidFill>
                <a:latin typeface="Arial"/>
              </a:defRPr>
            </a:pPr>
            <a:r>
              <a:t>Risk band, trend, reason codes, escalation queue, intervention readiness.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5080" y="4160520"/>
            <a:ext cx="4846320" cy="96012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55080" y="4160520"/>
            <a:ext cx="73152" cy="96012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37960" y="4270248"/>
            <a:ext cx="455371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Operational output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37960" y="4617720"/>
            <a:ext cx="4535424" cy="44805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40">
                <a:solidFill>
                  <a:srgbClr val="36393F"/>
                </a:solidFill>
                <a:latin typeface="Arial"/>
              </a:defRPr>
            </a:pPr>
            <a:r>
              <a:t>Nurse task, doctor review, OT/ICU readiness, transfer priority.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12191695" cy="54864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01168"/>
            <a:ext cx="169164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E4002B"/>
                </a:solidFill>
                <a:latin typeface="Arial"/>
              </a:defRPr>
            </a:pPr>
            <a:r>
              <a:t>Honeywell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8840" y="164592"/>
            <a:ext cx="713232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202020"/>
                </a:solidFill>
                <a:latin typeface="Arial"/>
              </a:defRPr>
            </a:pPr>
            <a:r>
              <a:t>Leadership Command Center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6840" y="182880"/>
            <a:ext cx="26517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850" b="0">
                <a:solidFill>
                  <a:srgbClr val="63666A"/>
                </a:solidFill>
                <a:latin typeface="Arial"/>
              </a:defRPr>
            </a:pPr>
            <a:r>
              <a:t>One hospital operating picture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6576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601968"/>
            <a:ext cx="29260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1">
                <a:solidFill>
                  <a:srgbClr val="63666A"/>
                </a:solidFill>
                <a:latin typeface="Arial"/>
              </a:defRPr>
            </a:pPr>
            <a:r>
              <a:t>Impact by Honeywell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6601968"/>
            <a:ext cx="61264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0">
                <a:solidFill>
                  <a:srgbClr val="63666A"/>
                </a:solidFill>
                <a:latin typeface="Arial"/>
              </a:defRPr>
            </a:pPr>
            <a:r>
              <a:t>Connected Hospital 360 | Patient Journey Command Center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601968"/>
            <a:ext cx="50292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50" b="0">
                <a:solidFill>
                  <a:srgbClr val="63666A"/>
                </a:solidFill>
                <a:latin typeface="Arial"/>
              </a:defRPr>
            </a:pPr>
            <a:r>
              <a:t>14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051560"/>
            <a:ext cx="3337560" cy="150876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051560"/>
            <a:ext cx="73152" cy="150876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161288"/>
            <a:ext cx="30449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OPD load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1508760"/>
            <a:ext cx="3026664" cy="996695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40">
                <a:solidFill>
                  <a:srgbClr val="36393F"/>
                </a:solidFill>
                <a:latin typeface="Arial"/>
              </a:defRPr>
            </a:pPr>
            <a:r>
              <a:t>Queue, wait, high-risk OPD patients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34840" y="1051560"/>
            <a:ext cx="3337560" cy="150876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051560"/>
            <a:ext cx="73152" cy="150876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1161288"/>
            <a:ext cx="30449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ER risk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1508760"/>
            <a:ext cx="3026664" cy="996695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40">
                <a:solidFill>
                  <a:srgbClr val="36393F"/>
                </a:solidFill>
                <a:latin typeface="Arial"/>
              </a:defRPr>
            </a:pPr>
            <a:r>
              <a:t>Triage status, observation, critical escalations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83879" y="1051560"/>
            <a:ext cx="3337560" cy="150876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83879" y="1051560"/>
            <a:ext cx="73152" cy="150876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59" y="1161288"/>
            <a:ext cx="30449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IPD acuity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59" y="1508760"/>
            <a:ext cx="3026664" cy="996695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40">
                <a:solidFill>
                  <a:srgbClr val="36393F"/>
                </a:solidFill>
                <a:latin typeface="Arial"/>
              </a:defRPr>
            </a:pPr>
            <a:r>
              <a:t>Ward risk heatmap, nurse workload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2971800"/>
            <a:ext cx="3337560" cy="150876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" y="2971800"/>
            <a:ext cx="73152" cy="150876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3081528"/>
            <a:ext cx="30449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Bed flow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3429000"/>
            <a:ext cx="3026664" cy="996695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40">
                <a:solidFill>
                  <a:srgbClr val="36393F"/>
                </a:solidFill>
                <a:latin typeface="Arial"/>
              </a:defRPr>
            </a:pPr>
            <a:r>
              <a:t>Occupancy, cleaning, discharge-ready, blocked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34840" y="2971800"/>
            <a:ext cx="3337560" cy="150876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34840" y="2971800"/>
            <a:ext cx="73152" cy="150876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17720" y="3081528"/>
            <a:ext cx="30449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Asset availability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3429000"/>
            <a:ext cx="3026664" cy="996695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40">
                <a:solidFill>
                  <a:srgbClr val="36393F"/>
                </a:solidFill>
                <a:latin typeface="Arial"/>
              </a:defRPr>
            </a:pPr>
            <a:r>
              <a:t>Critical equipment location and utilization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83879" y="2971800"/>
            <a:ext cx="3337560" cy="150876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83879" y="2971800"/>
            <a:ext cx="73152" cy="150876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66759" y="3081528"/>
            <a:ext cx="30449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Readmission risk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59" y="3429000"/>
            <a:ext cx="3026664" cy="996695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40">
                <a:solidFill>
                  <a:srgbClr val="36393F"/>
                </a:solidFill>
                <a:latin typeface="Arial"/>
              </a:defRPr>
            </a:pPr>
            <a:r>
              <a:t>Post-discharge alerts and follow-up gaps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12191695" cy="54864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01168"/>
            <a:ext cx="169164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E4002B"/>
                </a:solidFill>
                <a:latin typeface="Arial"/>
              </a:defRPr>
            </a:pPr>
            <a:r>
              <a:t>Honeywell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8840" y="164592"/>
            <a:ext cx="713232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202020"/>
                </a:solidFill>
                <a:latin typeface="Arial"/>
              </a:defRPr>
            </a:pPr>
            <a:r>
              <a:t>Data and integration foundation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6840" y="182880"/>
            <a:ext cx="26517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850" b="0">
                <a:solidFill>
                  <a:srgbClr val="63666A"/>
                </a:solidFill>
                <a:latin typeface="Arial"/>
              </a:defRPr>
            </a:pPr>
            <a:r>
              <a:t>Hospital systems plus connected telemetry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6576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601968"/>
            <a:ext cx="29260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1">
                <a:solidFill>
                  <a:srgbClr val="63666A"/>
                </a:solidFill>
                <a:latin typeface="Arial"/>
              </a:defRPr>
            </a:pPr>
            <a:r>
              <a:t>Impact by Honeywell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6601968"/>
            <a:ext cx="61264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0">
                <a:solidFill>
                  <a:srgbClr val="63666A"/>
                </a:solidFill>
                <a:latin typeface="Arial"/>
              </a:defRPr>
            </a:pPr>
            <a:r>
              <a:t>Connected Hospital 360 | Patient Journey Command Center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601968"/>
            <a:ext cx="50292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50" b="0">
                <a:solidFill>
                  <a:srgbClr val="63666A"/>
                </a:solidFill>
                <a:latin typeface="Arial"/>
              </a:defRPr>
            </a:pPr>
            <a:r>
              <a:t>15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234440"/>
            <a:ext cx="1965960" cy="621792"/>
          </a:xfrm>
          <a:prstGeom prst="round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HMS / EHR / EMR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1234440"/>
            <a:ext cx="1965960" cy="621792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ADT + appointments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1234440"/>
            <a:ext cx="1965960" cy="621792"/>
          </a:xfrm>
          <a:prstGeom prst="round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Device telemetry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49640" y="1234440"/>
            <a:ext cx="1965960" cy="621792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Workflow events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840480" y="2743200"/>
            <a:ext cx="4480560" cy="777240"/>
          </a:xfrm>
          <a:prstGeom prst="round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Connected Hospital 360 Platform</a:t>
            </a:r>
            <a:br/>
            <a:r>
              <a:t>FHIR / HL7 / REST / adapters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714500" y="1856231"/>
            <a:ext cx="4366260" cy="886969"/>
          </a:xfrm>
          <a:prstGeom prst="line">
            <a:avLst/>
          </a:prstGeom>
          <a:ln w="15875">
            <a:solidFill>
              <a:srgbClr val="E40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4320540" y="1856231"/>
            <a:ext cx="1760220" cy="886969"/>
          </a:xfrm>
          <a:prstGeom prst="line">
            <a:avLst/>
          </a:prstGeom>
          <a:ln w="15875">
            <a:solidFill>
              <a:srgbClr val="E40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6080760" y="1856231"/>
            <a:ext cx="845820" cy="886969"/>
          </a:xfrm>
          <a:prstGeom prst="line">
            <a:avLst/>
          </a:prstGeom>
          <a:ln w="15875">
            <a:solidFill>
              <a:srgbClr val="E40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>
            <a:off x="6080760" y="1856231"/>
            <a:ext cx="3451860" cy="886969"/>
          </a:xfrm>
          <a:prstGeom prst="line">
            <a:avLst/>
          </a:prstGeom>
          <a:ln w="15875">
            <a:solidFill>
              <a:srgbClr val="E400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>
          <a:xfrm>
            <a:off x="868680" y="4251960"/>
            <a:ext cx="3108960" cy="100584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68680" y="4251960"/>
            <a:ext cx="73152" cy="100584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51560" y="4361688"/>
            <a:ext cx="28163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Telemetry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4709160"/>
            <a:ext cx="2798064" cy="49377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40">
                <a:solidFill>
                  <a:srgbClr val="36393F"/>
                </a:solidFill>
                <a:latin typeface="Arial"/>
              </a:defRPr>
            </a:pPr>
            <a:r>
              <a:t>Patch, BP, SpO2, bed sensors, asset tags.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26280" y="4251960"/>
            <a:ext cx="3108960" cy="100584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26280" y="4251960"/>
            <a:ext cx="73152" cy="100584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09160" y="4361688"/>
            <a:ext cx="28163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Workflow state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09160" y="4709160"/>
            <a:ext cx="2798064" cy="49377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40">
                <a:solidFill>
                  <a:srgbClr val="36393F"/>
                </a:solidFill>
                <a:latin typeface="Arial"/>
              </a:defRPr>
            </a:pPr>
            <a:r>
              <a:t>Nursing, pharmacy, diagnostics, billing, housekeeping.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83879" y="4251960"/>
            <a:ext cx="3108960" cy="100584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83879" y="4251960"/>
            <a:ext cx="73152" cy="100584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66759" y="4361688"/>
            <a:ext cx="28163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Analytics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59" y="4709160"/>
            <a:ext cx="2798064" cy="493776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40">
                <a:solidFill>
                  <a:srgbClr val="36393F"/>
                </a:solidFill>
                <a:latin typeface="Arial"/>
              </a:defRPr>
            </a:pPr>
            <a:r>
              <a:t>Patient risk, flow KPIs, utilization, readmission risk.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12191695" cy="54864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01168"/>
            <a:ext cx="169164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E4002B"/>
                </a:solidFill>
                <a:latin typeface="Arial"/>
              </a:defRPr>
            </a:pPr>
            <a:r>
              <a:t>Honeywell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8840" y="164592"/>
            <a:ext cx="713232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202020"/>
                </a:solidFill>
                <a:latin typeface="Arial"/>
              </a:defRPr>
            </a:pPr>
            <a:r>
              <a:t>Business impact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6840" y="182880"/>
            <a:ext cx="26517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850" b="0">
                <a:solidFill>
                  <a:srgbClr val="63666A"/>
                </a:solidFill>
                <a:latin typeface="Arial"/>
              </a:defRPr>
            </a:pPr>
            <a:r>
              <a:t>Measurable value across hospital and Honeywell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6576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601968"/>
            <a:ext cx="29260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1">
                <a:solidFill>
                  <a:srgbClr val="63666A"/>
                </a:solidFill>
                <a:latin typeface="Arial"/>
              </a:defRPr>
            </a:pPr>
            <a:r>
              <a:t>Impact by Honeywell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6601968"/>
            <a:ext cx="61264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0">
                <a:solidFill>
                  <a:srgbClr val="63666A"/>
                </a:solidFill>
                <a:latin typeface="Arial"/>
              </a:defRPr>
            </a:pPr>
            <a:r>
              <a:t>Connected Hospital 360 | Patient Journey Command Center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601968"/>
            <a:ext cx="50292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50" b="0">
                <a:solidFill>
                  <a:srgbClr val="63666A"/>
                </a:solidFill>
                <a:latin typeface="Arial"/>
              </a:defRPr>
            </a:pPr>
            <a:r>
              <a:t>16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051560"/>
            <a:ext cx="3337560" cy="150876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051560"/>
            <a:ext cx="73152" cy="150876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161288"/>
            <a:ext cx="30449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Patient safety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1508760"/>
            <a:ext cx="3026664" cy="996695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40">
                <a:solidFill>
                  <a:srgbClr val="36393F"/>
                </a:solidFill>
                <a:latin typeface="Arial"/>
              </a:defRPr>
            </a:pPr>
            <a:r>
              <a:t>Continuous risk visibility and faster escalation.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34840" y="1051560"/>
            <a:ext cx="3337560" cy="150876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051560"/>
            <a:ext cx="73152" cy="150876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1161288"/>
            <a:ext cx="30449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Capacity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1508760"/>
            <a:ext cx="3026664" cy="996695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40">
                <a:solidFill>
                  <a:srgbClr val="36393F"/>
                </a:solidFill>
                <a:latin typeface="Arial"/>
              </a:defRPr>
            </a:pPr>
            <a:r>
              <a:t>Better bed utilization, discharge readiness, and turnover.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83879" y="1051560"/>
            <a:ext cx="3337560" cy="150876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83879" y="1051560"/>
            <a:ext cx="73152" cy="150876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59" y="1161288"/>
            <a:ext cx="30449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Productivity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59" y="1508760"/>
            <a:ext cx="3026664" cy="996695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40">
                <a:solidFill>
                  <a:srgbClr val="36393F"/>
                </a:solidFill>
                <a:latin typeface="Arial"/>
              </a:defRPr>
            </a:pPr>
            <a:r>
              <a:t>Lower manual coordination and asset search time.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2971800"/>
            <a:ext cx="3337560" cy="150876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" y="2971800"/>
            <a:ext cx="73152" cy="150876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3081528"/>
            <a:ext cx="30449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Care continuity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3429000"/>
            <a:ext cx="3026664" cy="996695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40">
                <a:solidFill>
                  <a:srgbClr val="36393F"/>
                </a:solidFill>
                <a:latin typeface="Arial"/>
              </a:defRPr>
            </a:pPr>
            <a:r>
              <a:t>Remote monitoring and reduced avoidable readmission risk.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34840" y="2971800"/>
            <a:ext cx="3337560" cy="150876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34840" y="2971800"/>
            <a:ext cx="73152" cy="150876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17720" y="3081528"/>
            <a:ext cx="30449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Leadership control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3429000"/>
            <a:ext cx="3026664" cy="996695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40">
                <a:solidFill>
                  <a:srgbClr val="36393F"/>
                </a:solidFill>
                <a:latin typeface="Arial"/>
              </a:defRPr>
            </a:pPr>
            <a:r>
              <a:t>One operating picture across departments and facilities.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83879" y="2971800"/>
            <a:ext cx="3337560" cy="150876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83879" y="2971800"/>
            <a:ext cx="73152" cy="150876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66759" y="3081528"/>
            <a:ext cx="30449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Honeywell growth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59" y="3429000"/>
            <a:ext cx="3026664" cy="996695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40">
                <a:solidFill>
                  <a:srgbClr val="36393F"/>
                </a:solidFill>
                <a:latin typeface="Arial"/>
              </a:defRPr>
            </a:pPr>
            <a:r>
              <a:t>Software, devices, analytics, integration, services, enterprise licensing.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12191695" cy="54864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01168"/>
            <a:ext cx="169164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E4002B"/>
                </a:solidFill>
                <a:latin typeface="Arial"/>
              </a:defRPr>
            </a:pPr>
            <a:r>
              <a:t>Honeywell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8840" y="164592"/>
            <a:ext cx="713232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202020"/>
                </a:solidFill>
                <a:latin typeface="Arial"/>
              </a:defRPr>
            </a:pPr>
            <a:r>
              <a:t>Application packaging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6840" y="182880"/>
            <a:ext cx="26517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850" b="0">
                <a:solidFill>
                  <a:srgbClr val="63666A"/>
                </a:solidFill>
                <a:latin typeface="Arial"/>
              </a:defRPr>
            </a:pPr>
            <a:r>
              <a:t>Modular platform for phased hospital adoption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6576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601968"/>
            <a:ext cx="29260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1">
                <a:solidFill>
                  <a:srgbClr val="63666A"/>
                </a:solidFill>
                <a:latin typeface="Arial"/>
              </a:defRPr>
            </a:pPr>
            <a:r>
              <a:t>Impact by Honeywell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6601968"/>
            <a:ext cx="61264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0">
                <a:solidFill>
                  <a:srgbClr val="63666A"/>
                </a:solidFill>
                <a:latin typeface="Arial"/>
              </a:defRPr>
            </a:pPr>
            <a:r>
              <a:t>Connected Hospital 360 | Patient Journey Command Center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601968"/>
            <a:ext cx="50292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50" b="0">
                <a:solidFill>
                  <a:srgbClr val="63666A"/>
                </a:solidFill>
                <a:latin typeface="Arial"/>
              </a:defRPr>
            </a:pPr>
            <a:r>
              <a:t>17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1051560"/>
            <a:ext cx="3337560" cy="150876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051560"/>
            <a:ext cx="73152" cy="150876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1161288"/>
            <a:ext cx="30449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Care module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1508760"/>
            <a:ext cx="3026664" cy="996695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40">
                <a:solidFill>
                  <a:srgbClr val="36393F"/>
                </a:solidFill>
                <a:latin typeface="Arial"/>
              </a:defRPr>
            </a:pPr>
            <a:r>
              <a:t>OPD, ER, IPD, OT/ICU monitoring and clinical risk engine.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434840" y="1051560"/>
            <a:ext cx="3337560" cy="150876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34840" y="1051560"/>
            <a:ext cx="73152" cy="150876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1161288"/>
            <a:ext cx="30449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Operations module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1508760"/>
            <a:ext cx="3026664" cy="996695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40">
                <a:solidFill>
                  <a:srgbClr val="36393F"/>
                </a:solidFill>
                <a:latin typeface="Arial"/>
              </a:defRPr>
            </a:pPr>
            <a:r>
              <a:t>Bed management, asset intelligence, staff tasks, service queues.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83879" y="1051560"/>
            <a:ext cx="3337560" cy="150876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83879" y="1051560"/>
            <a:ext cx="73152" cy="150876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59" y="1161288"/>
            <a:ext cx="30449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Discharge module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59" y="1508760"/>
            <a:ext cx="3026664" cy="996695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40">
                <a:solidFill>
                  <a:srgbClr val="36393F"/>
                </a:solidFill>
                <a:latin typeface="Arial"/>
              </a:defRPr>
            </a:pPr>
            <a:r>
              <a:t>Discharge readiness, clearances, delay reasons, bed release.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2971800"/>
            <a:ext cx="3337560" cy="150876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" y="2971800"/>
            <a:ext cx="73152" cy="150876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" y="3081528"/>
            <a:ext cx="30449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Remote care module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3429000"/>
            <a:ext cx="3026664" cy="996695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40">
                <a:solidFill>
                  <a:srgbClr val="36393F"/>
                </a:solidFill>
                <a:latin typeface="Arial"/>
              </a:defRPr>
            </a:pPr>
            <a:r>
              <a:t>Post-discharge monitoring, adherence, follow-up, readmission risk.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34840" y="2971800"/>
            <a:ext cx="3337560" cy="150876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34840" y="2971800"/>
            <a:ext cx="73152" cy="1508760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17720" y="3081528"/>
            <a:ext cx="30449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Command center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17720" y="3429000"/>
            <a:ext cx="3026664" cy="996695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40">
                <a:solidFill>
                  <a:srgbClr val="36393F"/>
                </a:solidFill>
                <a:latin typeface="Arial"/>
              </a:defRPr>
            </a:pPr>
            <a:r>
              <a:t>Leadership dashboards, KPIs, bottlenecks, multi-site analytics.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83879" y="2971800"/>
            <a:ext cx="3337560" cy="1508760"/>
          </a:xfrm>
          <a:prstGeom prst="rect">
            <a:avLst/>
          </a:prstGeom>
          <a:solidFill>
            <a:srgbClr val="F3F4F6"/>
          </a:solidFill>
          <a:ln w="9525">
            <a:solidFill>
              <a:srgbClr val="E8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83879" y="2971800"/>
            <a:ext cx="73152" cy="1508760"/>
          </a:xfrm>
          <a:prstGeom prst="rect">
            <a:avLst/>
          </a:prstGeom>
          <a:solidFill>
            <a:srgbClr val="2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66759" y="3081528"/>
            <a:ext cx="3044952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1">
                <a:solidFill>
                  <a:srgbClr val="202020"/>
                </a:solidFill>
                <a:latin typeface="Arial"/>
              </a:defRPr>
            </a:pPr>
            <a:r>
              <a:t>Integration layer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66759" y="3429000"/>
            <a:ext cx="3026664" cy="996695"/>
          </a:xfrm>
          <a:prstGeom prst="rect">
            <a:avLst/>
          </a:prstGeom>
          <a:noFill/>
        </p:spPr>
        <p:txBody>
          <a:bodyPr wrap="square" lIns="0" rIns="18288" tIns="0">
            <a:spAutoFit/>
          </a:bodyPr>
          <a:lstStyle/>
          <a:p>
            <a:pPr>
              <a:spcAft>
                <a:spcPts val="300"/>
              </a:spcAft>
              <a:defRPr sz="1040">
                <a:solidFill>
                  <a:srgbClr val="36393F"/>
                </a:solidFill>
                <a:latin typeface="Arial"/>
              </a:defRPr>
            </a:pPr>
            <a:r>
              <a:t>HMS/EHR/EMR, ADT, FHIR/HL7, REST, hospital adapters.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"/>
            <a:ext cx="12191695" cy="54864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01168"/>
            <a:ext cx="1691640" cy="29260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E4002B"/>
                </a:solidFill>
                <a:latin typeface="Arial"/>
              </a:defRPr>
            </a:pPr>
            <a:r>
              <a:t>Honeywell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48840" y="164592"/>
            <a:ext cx="713232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800" b="1">
                <a:solidFill>
                  <a:srgbClr val="202020"/>
                </a:solidFill>
                <a:latin typeface="Arial"/>
              </a:defRPr>
            </a:pPr>
            <a:r>
              <a:t>Closing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6840" y="182880"/>
            <a:ext cx="265176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850" b="0">
                <a:solidFill>
                  <a:srgbClr val="63666A"/>
                </a:solidFill>
                <a:latin typeface="Arial"/>
              </a:defRPr>
            </a:pPr>
            <a:r>
              <a:t>Whole-hospital intelligence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36576"/>
          </a:xfrm>
          <a:prstGeom prst="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6601968"/>
            <a:ext cx="29260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1">
                <a:solidFill>
                  <a:srgbClr val="63666A"/>
                </a:solidFill>
                <a:latin typeface="Arial"/>
              </a:defRPr>
            </a:pPr>
            <a:r>
              <a:t>Impact by Honeywell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6601968"/>
            <a:ext cx="612648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50" b="0">
                <a:solidFill>
                  <a:srgbClr val="63666A"/>
                </a:solidFill>
                <a:latin typeface="Arial"/>
              </a:defRPr>
            </a:pPr>
            <a:r>
              <a:t>Connected Hospital 360 | Patient Journey Command Center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601968"/>
            <a:ext cx="502920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>
              <a:defRPr sz="950" b="0">
                <a:solidFill>
                  <a:srgbClr val="63666A"/>
                </a:solidFill>
                <a:latin typeface="Arial"/>
              </a:defRPr>
            </a:pPr>
            <a:r>
              <a:t>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097280"/>
            <a:ext cx="10332720" cy="12344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2800" b="1">
                <a:solidFill>
                  <a:srgbClr val="202020"/>
                </a:solidFill>
                <a:latin typeface="Arial"/>
              </a:defRPr>
            </a:pPr>
            <a:r>
              <a:t>Honeywell Connected Hospital 360 is the intelligent operating layer for modern hospitals.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743200"/>
            <a:ext cx="9921240" cy="9144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>
              <a:defRPr sz="2000" b="1">
                <a:solidFill>
                  <a:srgbClr val="36393F"/>
                </a:solidFill>
                <a:latin typeface="Arial"/>
              </a:defRPr>
            </a:pPr>
            <a:r>
              <a:t>It connects the full patient journey with hospital operations, helping providers move from reactive care to predictive, coordinated, and measurable care across OPD, IPD, discharge, and post-discharge services.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26080" y="4892040"/>
            <a:ext cx="6309360" cy="365760"/>
          </a:xfrm>
          <a:prstGeom prst="roundRect">
            <a:avLst/>
          </a:prstGeom>
          <a:solidFill>
            <a:srgbClr val="E400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From wearable patch to whole-hospital command center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