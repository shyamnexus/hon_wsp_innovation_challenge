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30175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Arial"/>
              </a:defRPr>
            </a:pPr>
            <a:r>
              <a:t>Technical Architecture Version |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202020"/>
                </a:solidFill>
                <a:latin typeface="Arial"/>
              </a:defRPr>
            </a:pPr>
            <a:r>
              <a:t>Connected Care and Hospital Operations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87168"/>
            <a:ext cx="6126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36393F"/>
                </a:solidFill>
                <a:latin typeface="Arial"/>
              </a:defRPr>
            </a:pPr>
            <a:r>
              <a:t>A technically rich architecture view using existing WSP product, prototype, and component visuals</a:t>
            </a:r>
          </a:p>
        </p:txBody>
      </p:sp>
      <p:pic>
        <p:nvPicPr>
          <p:cNvPr id="7" name="Picture 6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480560" cy="2215964"/>
          </a:xfrm>
          <a:prstGeom prst="rect">
            <a:avLst/>
          </a:prstGeom>
        </p:spPr>
      </p:pic>
      <p:pic>
        <p:nvPicPr>
          <p:cNvPr id="8" name="Picture 7" descr="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160520"/>
            <a:ext cx="2834640" cy="21060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3886200"/>
            <a:ext cx="20116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Patient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886200"/>
            <a:ext cx="182880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Edge +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886200"/>
            <a:ext cx="182880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6400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63666A"/>
                </a:solidFill>
                <a:latin typeface="Arial"/>
              </a:defRPr>
            </a:pPr>
            <a:r>
              <a:t>2026 India and APAC Innovation 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Honeywell extends the wearable smart patch into a hospital-grade connected-care architecture spanning sensing, edge, interoperability, workflow intelligence, and command-center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23160"/>
            <a:ext cx="73152" cy="2331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Patch, BP, SpO2, bed sensors, asset tags.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423160"/>
            <a:ext cx="73152" cy="23317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Resilient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Authentication, buffering, protocol normalization, gateway orchestration.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423160"/>
            <a:ext cx="73152" cy="2331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Platform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Registry, assignment, time-series ingest, rules, alerts, analytics.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4040" y="2423160"/>
            <a:ext cx="73152" cy="23317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Hospital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Nurse, doctor, bed board, asset map, leadership command center.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349240"/>
            <a:ext cx="66751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Technical objective: one event-driven hospital operating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Existing visual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Images reused from WSP source decks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1" name="Picture 10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383280" cy="2392311"/>
          </a:xfrm>
          <a:prstGeom prst="rect">
            <a:avLst/>
          </a:prstGeom>
        </p:spPr>
      </p:pic>
      <p:pic>
        <p:nvPicPr>
          <p:cNvPr id="12" name="Picture 11" descr="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78992"/>
            <a:ext cx="3154680" cy="2343829"/>
          </a:xfrm>
          <a:prstGeom prst="rect">
            <a:avLst/>
          </a:prstGeom>
        </p:spPr>
      </p:pic>
      <p:pic>
        <p:nvPicPr>
          <p:cNvPr id="13" name="Picture 12" descr="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097280"/>
            <a:ext cx="3337560" cy="235998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" y="4315968"/>
            <a:ext cx="338328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15968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25696"/>
            <a:ext cx="30906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Industrial design 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07238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Reusable patch housing, LED indication, button, USB-C opening.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315968"/>
            <a:ext cx="315468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4315968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425696"/>
            <a:ext cx="28620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Prototype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773168"/>
            <a:ext cx="284378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Physical WSP unit, ECG cable, charger, and lead interface.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315968"/>
            <a:ext cx="33375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4315968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25696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Electrode-side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773168"/>
            <a:ext cx="30266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Electrode placement concept for ECG and body-contact sensing.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577840"/>
            <a:ext cx="626364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Source visuals embedded from existing concept and MVO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Wearable patch hardware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Current MVO component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15568"/>
            <a:ext cx="1508760" cy="1225296"/>
          </a:xfrm>
          <a:prstGeom prst="rect">
            <a:avLst/>
          </a:prstGeom>
        </p:spPr>
      </p:pic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43200"/>
            <a:ext cx="1417320" cy="1202436"/>
          </a:xfrm>
          <a:prstGeom prst="rect">
            <a:avLst/>
          </a:prstGeom>
        </p:spPr>
      </p:pic>
      <p:pic>
        <p:nvPicPr>
          <p:cNvPr id="13" name="Picture 12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43000"/>
            <a:ext cx="3108960" cy="15611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0" y="105156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ESP32-S3-MINI-1</a:t>
            </a:r>
            <a:br/>
            <a:r>
              <a:t>MCU + Wi-Fi + 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05156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MAX30003</a:t>
            </a:r>
            <a:br/>
            <a:r>
              <a:t>ECG 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105156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TMP1075</a:t>
            </a:r>
            <a:br/>
            <a:r>
              <a:t>Skin temp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14884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ADXL367</a:t>
            </a:r>
            <a:br/>
            <a:r>
              <a:t>Posture +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14884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MAX20356 PMIC</a:t>
            </a:r>
            <a:br/>
            <a:r>
              <a:t>Charger + power path + fuel gauge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214884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450 mAh Li-Po</a:t>
            </a:r>
            <a:br/>
            <a:r>
              <a:t>Rechargeable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42900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USB-C + ECG lead cable</a:t>
            </a:r>
            <a:br/>
            <a:r>
              <a:t>Power + data + sensor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42900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RGB LED + button</a:t>
            </a:r>
            <a:br/>
            <a:r>
              <a:t>Status + wakeup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42900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Debug UART</a:t>
            </a:r>
            <a:br/>
            <a:r>
              <a:t>Manufacturing + support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5968" y="1371600"/>
            <a:ext cx="484632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73368" y="1371600"/>
            <a:ext cx="13716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15968" y="2468880"/>
            <a:ext cx="484632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73368" y="2468880"/>
            <a:ext cx="13716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29584" y="1709928"/>
            <a:ext cx="0" cy="438912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4315968" y="1371600"/>
            <a:ext cx="484632" cy="2377439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29600" y="3886200"/>
            <a:ext cx="306324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8862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95928"/>
            <a:ext cx="27706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Hardware 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275234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Patient-worn telemetry endpoint for ECG, temperature, posture, movement, derived respiration, device health, and future vitals expansion.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Patch signal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From body signal to actionable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1" name="Picture 10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51560"/>
            <a:ext cx="3383280" cy="166698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Body contact</a:t>
            </a:r>
            <a:br/>
            <a:r>
              <a:t>ECG/temp/motion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146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Analog front end</a:t>
            </a:r>
            <a:br/>
            <a:r>
              <a:t>filter + sample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MCU processing</a:t>
            </a:r>
            <a:br/>
            <a:r>
              <a:t>packetize + status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22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Wi-Fi/BLE telemetry</a:t>
            </a:r>
            <a:br/>
            <a:r>
              <a:t>authenticated send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Edge ingest</a:t>
            </a:r>
            <a:br/>
            <a:r>
              <a:t>buffer + normalize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Rules + dashboard</a:t>
            </a:r>
            <a:br/>
            <a:r>
              <a:t>alerts +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097280"/>
            <a:ext cx="6492240" cy="196596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Sampling and packet cadence configurable by clinical workflow and battery budget.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Telemetry contains sensor values, timestamp, device ID, battery, RSSI/connectivity state, and firmware/config version.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Edge buffering protects against temporary hospital Wi-Fi disruption.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Platform association links every payload to patient, bed, ward, and care episode.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Expanded device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Clinical and operational telemetry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11" name="Picture 10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2743200" cy="13567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703320"/>
            <a:ext cx="2926080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03320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13048"/>
            <a:ext cx="26334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Wearable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615184" cy="6583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Continuous ECG, HR, temperature, respiration, posture, restlessness.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234440"/>
            <a:ext cx="2057400" cy="7315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Connected BP + SpO2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194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Periodic vitals capture during ward rounds and high-risk monitoring.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234440"/>
            <a:ext cx="2057400" cy="7315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state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194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Occupied, vacant, cleaning, blocked, transfer, discharge-ready, maintenance.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234440"/>
            <a:ext cx="2057400" cy="7315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 tags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194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BLE, Wi-Fi, RFID, or UWB tags for pumps, monitors, cylinders, carts, wheelchairs.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429000" y="1600200"/>
            <a:ext cx="548639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29000" y="1600200"/>
            <a:ext cx="3063240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29000" y="1600200"/>
            <a:ext cx="5577840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83280" y="5440680"/>
            <a:ext cx="62179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Unified event model across clinical signals and operations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Connectivity and edge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Hospital-grade connectivity under network variability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0972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Patch + BP + SpO2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1704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Wi-Fi / 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1371600"/>
            <a:ext cx="777240" cy="13716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20116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848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BLE / wired 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2286000"/>
            <a:ext cx="777240" cy="4572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29260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 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9992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BLE / RFID / UWB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40480" y="2743200"/>
            <a:ext cx="777240" cy="4572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8404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Mobile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9136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Tablet / workstation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840480" y="2743200"/>
            <a:ext cx="777240" cy="13716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2148840"/>
            <a:ext cx="2331720" cy="11887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Honeywell Edge Gateway</a:t>
            </a:r>
            <a:br/>
            <a:r>
              <a:t>Auth + buffer + normalize + route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325880"/>
            <a:ext cx="2423160" cy="56692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Device registry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949440" y="1609344"/>
            <a:ext cx="1417320" cy="1133856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66760" y="2240280"/>
            <a:ext cx="2423160" cy="56692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Time-series ingestion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949440" y="2523744"/>
            <a:ext cx="1417320" cy="219456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66760" y="3154680"/>
            <a:ext cx="2423160" cy="56692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Event bus +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49440" y="2743200"/>
            <a:ext cx="1417320" cy="694944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4069080"/>
            <a:ext cx="2423160" cy="56692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Command center APIs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49440" y="2743200"/>
            <a:ext cx="1417320" cy="1609344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77240" y="5074920"/>
            <a:ext cx="10058400" cy="6858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074920"/>
            <a:ext cx="73152" cy="6858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184648"/>
            <a:ext cx="9765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Edge 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532120"/>
            <a:ext cx="9747504" cy="17373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Local buffering, retry logic, time synchronization, device-health monitoring, and controlled reconnect behavior support hospital network variability.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Event-driven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Telemetry, workflow state, and analytics separation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024128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024128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133856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Raw telemetry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481328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Sensor payloads, ECG snapshots, vitals values, device metadata, timestamps.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56816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56816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066544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event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14016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Bed state changes, asset zone events, assignment changes, alert lifecycle.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89504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889504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999232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Rules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46704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Thresholds, trends, missed-vitals windows, battery/connectivity, bed/asset exceptions.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822191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822191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931920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9392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Nurse queue, doctor review, housekeeping queue, biomedical action, transport task.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54879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754879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64607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Analytics aggregates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79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Ward, hospital, and hospital-chain KPIs for throughput, acuity, utilization,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Patient-bed-device assignment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Avoiding orphan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MRN / episode / demographics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234440"/>
            <a:ext cx="1691640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Admission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60" y="205740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ward / department / care episode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234440"/>
            <a:ext cx="1691640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205740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bed ID / state / location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serial / firmware / battery /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404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19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tag ID / class / zone / service 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744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6656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6112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14400" y="3886200"/>
            <a:ext cx="484632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3886200"/>
            <a:ext cx="73152" cy="1234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9592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Assignment service responsibilities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343400"/>
            <a:ext cx="4535424" cy="7223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Pair device to patient, patient to bed, asset to zone, and events to care episode with auditability.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886200"/>
            <a:ext cx="484632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3886200"/>
            <a:ext cx="73152" cy="12344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99592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343400"/>
            <a:ext cx="4535424" cy="7223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Every telemetry point, bed event, and asset event is traceable to the right operational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Rules engine and alerting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Clinical and operations logic in one configurable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78992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Vitals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BP, HR, SpO2, temperature, ECG-derived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78992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Trend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Change over baseline, repeated abnormalities, escalation windows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78992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Missed vitals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Expected observation not received within defined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53511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Battery, RSSI, offline, firmware/config mismatch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53511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delay, blocked bed, discharge-ready 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53511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exception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Missing asset, zone exit, service due, low utilization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5349240"/>
            <a:ext cx="59893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Alert lifecycle: generated -&gt; routed -&gt; acknowledged -&gt; resolved -&gt; audited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Bed management technical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State machine plus workflow queues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Vacant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45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Occupied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Discharge-ready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120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Cleaning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951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Blocked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Maintenance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514600"/>
            <a:ext cx="73152" cy="19202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State 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ADT feed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Nurse/ward update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Housekeeping update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Maintenance status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Transfer request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2514600"/>
            <a:ext cx="73152" cy="19202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Admission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Transport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Maintenance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Discharge coordination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514600"/>
            <a:ext cx="73152" cy="19202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KPIs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Turnaround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Blocked-bed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cycle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Occupancy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Transfer bottlenecks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257800"/>
            <a:ext cx="66751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intelligence connects patient acuity, capacity, and hospital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Asset tracking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Accuracy tiers matched to operational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1556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115568"/>
            <a:ext cx="73152" cy="107899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25295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BLE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57276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Low cost zone proximity for pumps, wheelchairs, monitors.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115568"/>
            <a:ext cx="73152" cy="107899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25295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RFID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Entry/exit control for storerooms, wards, departments.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2432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624328"/>
            <a:ext cx="73152" cy="107899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34056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UWB zones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8152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Higher precision for critical assets and high-value equipment.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62432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624328"/>
            <a:ext cx="73152" cy="107899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34056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Wi-Fi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8152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Network-based location where infrastructure supports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72000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72000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81728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event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tag_id, asset_class, zone, timestamp, movement event, utilization state, service state, exception type, assigned department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Hospital integration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API-first, adapter-ready interoperability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205740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Hospital systems</a:t>
            </a:r>
            <a:br/>
            <a:r>
              <a:t>HMS / EHR / EMR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234440"/>
            <a:ext cx="205740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Integration adapter</a:t>
            </a:r>
            <a:br/>
            <a:r>
              <a:t>FHIR / HL7 /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234440"/>
            <a:ext cx="205740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Platform services</a:t>
            </a:r>
            <a:br/>
            <a:r>
              <a:t>ADT + assignment +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234440"/>
            <a:ext cx="182880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  <a:br/>
            <a:r>
              <a:t>Dashboards + APIs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21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239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7432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Inbound hospital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ADT, patient demographics, ward, bed, encounter, clinician assignment.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74320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Outbound platform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Alerts, vitals summaries, device events, bed-state updates, asset exceptions.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7432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Mapping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Hospital-specific data dictionaries, interface monitoring, retry/error handling.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5166360"/>
            <a:ext cx="672084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Integration pattern supports heterogeneous India and APAC hospital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Security and compliance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Controls across device, edge, platform, and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Provisioning, device registry, serial binding, firmware/config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9728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Secure 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Authenticated ingestion, encryption in transit, controlled gateways.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Role-based access for nurse, doctor, biomedical, operations, admin, leadership.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Auditability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Assignment changes, alert lifecycle, integration events, device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Network segmentation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Device, edge, platform, and hospital integration zones separated.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Deployment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On-premise, private cloud, or hybrid data-retention 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Deployment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Ward, hospital, and hospital-chain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210312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Ward deployment</a:t>
            </a:r>
            <a:br/>
            <a:r>
              <a:t>50-100 beds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234440"/>
            <a:ext cx="237744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Hospital deployment</a:t>
            </a:r>
            <a:br/>
            <a:r>
              <a:t>Multiple wards +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234440"/>
            <a:ext cx="237744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Chain deployment</a:t>
            </a:r>
            <a:br/>
            <a:r>
              <a:t>Multi-site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234440"/>
            <a:ext cx="164592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Enterprise</a:t>
            </a:r>
            <a:br/>
            <a:r>
              <a:t>Analytics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1572768"/>
            <a:ext cx="77724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1572768"/>
            <a:ext cx="77724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1572768"/>
            <a:ext cx="7315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78892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Ward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Patch devices, BP/SpO2, BLE gateway, nurse dashboard, basic alerts.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78892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Hospital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Bed board, asset tags, integration adapter, command-center workflows.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Enterprise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Multi-site KPIs, analytics aggregates, standard deployment template.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 guardrails for hospital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Buffered edge telemetry, retry logic, device health monitoring.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9728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Ward-to-chain architecture with event partitioning and modular services.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Device registry, firmware/config visibility, interface monitoring.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Interoperability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FHIR/HL7 where available, REST adapters for local hospital systems.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Usability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Role-specific dashboards and exception-first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Telemetry-to-patient-to-bed-to-event lineage and audit logs.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End-to-end technical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How the platform demonstrates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1. 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Patient + bed + patch + BP device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74320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1460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2.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ECG, vitals, posture, temperature, device health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274320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3484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3. 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Edge authentication, buffering, payload normalization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35507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4. 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Rules for trends, thresholds, missed vitals, battery, connectivity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244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7531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19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5. 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Nurse queue, doctor review, bed board, asset map, command center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1268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19555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95559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3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6. 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3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Ward KPIs, throughput, utilization, enterprise reporting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5257800"/>
            <a:ext cx="65836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Demo story: sensor signal becomes operational action and measurable KPI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Architecture-led healthcare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18</a:t>
            </a:r>
          </a:p>
        </p:txBody>
      </p:sp>
      <p:pic>
        <p:nvPicPr>
          <p:cNvPr id="11" name="Picture 10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78992"/>
            <a:ext cx="3474720" cy="17185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143000"/>
            <a:ext cx="6309360" cy="420624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Honeywell sensing foundation connected to hospital workflow intelligence.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Multi-domain architecture for vitals, bed state, asset tracking, and command-center operations.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Edge resilience for real-world hospital network variability.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Integration-aware design for heterogeneous India and APAC hospital systems.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Scalable event model supporting ward deployment, hospital operations, and chain-level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40680"/>
            <a:ext cx="6080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From wearable telemetry to whole-hospital technical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