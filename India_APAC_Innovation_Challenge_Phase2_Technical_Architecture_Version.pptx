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.jp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56032"/>
            <a:ext cx="173736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35240" y="301752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1050" b="1">
                <a:solidFill>
                  <a:srgbClr val="FFFFFF"/>
                </a:solidFill>
                <a:latin typeface="Arial"/>
              </a:defRPr>
            </a:pPr>
            <a:r>
              <a:t>Technical Architecture Version | Phase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6400800" cy="10515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3400" b="1">
                <a:solidFill>
                  <a:srgbClr val="202020"/>
                </a:solidFill>
                <a:latin typeface="Arial"/>
              </a:defRPr>
            </a:pPr>
            <a:r>
              <a:t>Connected Care and Hospital Operations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487168"/>
            <a:ext cx="6126480" cy="6400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500" b="0">
                <a:solidFill>
                  <a:srgbClr val="36393F"/>
                </a:solidFill>
                <a:latin typeface="Arial"/>
              </a:defRPr>
            </a:pPr>
            <a:r>
              <a:t>A technically rich architecture view using existing WSP product, prototype, and component visuals</a:t>
            </a:r>
          </a:p>
        </p:txBody>
      </p:sp>
      <p:pic>
        <p:nvPicPr>
          <p:cNvPr id="7" name="Picture 6" descr="image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234440"/>
            <a:ext cx="4480560" cy="2215964"/>
          </a:xfrm>
          <a:prstGeom prst="rect">
            <a:avLst/>
          </a:prstGeom>
        </p:spPr>
      </p:pic>
      <p:pic>
        <p:nvPicPr>
          <p:cNvPr id="8" name="Picture 7" descr="image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720" y="4160520"/>
            <a:ext cx="2834640" cy="210604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22960" y="3886200"/>
            <a:ext cx="201168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Patient telemetry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3886200"/>
            <a:ext cx="1828800" cy="36576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Edge + APIs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3886200"/>
            <a:ext cx="182880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Command center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016752"/>
            <a:ext cx="64008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050" b="0">
                <a:solidFill>
                  <a:srgbClr val="63666A"/>
                </a:solidFill>
                <a:latin typeface="Arial"/>
              </a:defRPr>
            </a:pPr>
            <a:r>
              <a:t>2026 India and APAC Innovation Challenge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Technical 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Architecture demonstration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051560"/>
            <a:ext cx="1060704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>
              <a:defRPr sz="2000" b="1">
                <a:solidFill>
                  <a:srgbClr val="202020"/>
                </a:solidFill>
                <a:latin typeface="Arial"/>
              </a:defRPr>
            </a:pPr>
            <a:r>
              <a:t>Clinical imperative: world-class hospitals can save patients when they reach the intervention team in time. Honeywell creates that time window through continuous risk scoring, deterioration prediction, and faster escalation.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423160"/>
            <a:ext cx="2423160" cy="23317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423160"/>
            <a:ext cx="73152" cy="23317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532888"/>
            <a:ext cx="21305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Device ecosystem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112264" cy="181965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Patch, BP, SpO2, bed sensors, asset tags.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11880" y="2423160"/>
            <a:ext cx="2423160" cy="23317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11880" y="2423160"/>
            <a:ext cx="73152" cy="23317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2532888"/>
            <a:ext cx="21305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Resilient edge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2880360"/>
            <a:ext cx="2112264" cy="181965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Authentication, buffering, protocol normalization, gateway orchestration.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60" y="2423160"/>
            <a:ext cx="2423160" cy="23317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37960" y="2423160"/>
            <a:ext cx="73152" cy="23317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20840" y="2532888"/>
            <a:ext cx="21305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Platform services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2880360"/>
            <a:ext cx="2112264" cy="181965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Registry, assignment, time-series ingest, rules, alerts, analytics.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64040" y="2423160"/>
            <a:ext cx="2423160" cy="23317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64040" y="2423160"/>
            <a:ext cx="73152" cy="23317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46919" y="2532888"/>
            <a:ext cx="21305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Hospital apps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46919" y="2880360"/>
            <a:ext cx="2112264" cy="181965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Nurse, doctor, bed board, asset map, leadership command center.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743200" y="5349240"/>
            <a:ext cx="667512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Clinical objective: monitor risk continuously, predict attacks earlier, and help save lives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WSP foundation already achieved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Prototype, concept, and hardware visuals already documented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3</a:t>
            </a:r>
          </a:p>
        </p:txBody>
      </p:sp>
      <p:pic>
        <p:nvPicPr>
          <p:cNvPr id="11" name="Picture 10" descr="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3383280" cy="2392311"/>
          </a:xfrm>
          <a:prstGeom prst="rect">
            <a:avLst/>
          </a:prstGeom>
        </p:spPr>
      </p:pic>
      <p:pic>
        <p:nvPicPr>
          <p:cNvPr id="12" name="Picture 11" descr="image3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1078992"/>
            <a:ext cx="3154680" cy="2343829"/>
          </a:xfrm>
          <a:prstGeom prst="rect">
            <a:avLst/>
          </a:prstGeom>
        </p:spPr>
      </p:pic>
      <p:pic>
        <p:nvPicPr>
          <p:cNvPr id="13" name="Picture 12" descr="image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560" y="1097280"/>
            <a:ext cx="3337560" cy="2359982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31520" y="4315968"/>
            <a:ext cx="3383280" cy="10058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315968"/>
            <a:ext cx="73152" cy="10058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25696"/>
            <a:ext cx="309067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Industrial design render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773168"/>
            <a:ext cx="3072384" cy="4937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Reusable patch housing, LED indication, button, USB-C opening.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34840" y="4315968"/>
            <a:ext cx="3154680" cy="10058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4840" y="4315968"/>
            <a:ext cx="73152" cy="100584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4425696"/>
            <a:ext cx="286207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Prototype kit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4773168"/>
            <a:ext cx="2843784" cy="4937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Physical WSP unit, ECG cable, charger, and lead interface.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09560" y="4315968"/>
            <a:ext cx="3337560" cy="10058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09560" y="4315968"/>
            <a:ext cx="73152" cy="10058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2440" y="4425696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Electrode-side concept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4773168"/>
            <a:ext cx="3026664" cy="4937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Electrode placement concept for ECG and body-contact sensing.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971800" y="5577840"/>
            <a:ext cx="626364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Source visuals embedded from existing concept and MVO documents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Wearable patch hardware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Current MVO component baseline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4</a:t>
            </a:r>
          </a:p>
        </p:txBody>
      </p:sp>
      <p:pic>
        <p:nvPicPr>
          <p:cNvPr id="11" name="Picture 10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15568"/>
            <a:ext cx="1508760" cy="1225296"/>
          </a:xfrm>
          <a:prstGeom prst="rect">
            <a:avLst/>
          </a:prstGeom>
        </p:spPr>
      </p:pic>
      <p:pic>
        <p:nvPicPr>
          <p:cNvPr id="12" name="Picture 11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743200"/>
            <a:ext cx="1417320" cy="1202436"/>
          </a:xfrm>
          <a:prstGeom prst="rect">
            <a:avLst/>
          </a:prstGeom>
        </p:spPr>
      </p:pic>
      <p:pic>
        <p:nvPicPr>
          <p:cNvPr id="13" name="Picture 12" descr="image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1143000"/>
            <a:ext cx="3108960" cy="156118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2743200" y="1051560"/>
            <a:ext cx="1572768" cy="65836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ESP32-S3-MINI-1</a:t>
            </a:r>
            <a:br/>
            <a:r>
              <a:t>MCU + Wi-Fi + BLE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00600" y="1051560"/>
            <a:ext cx="1572768" cy="65836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MAX30003</a:t>
            </a:r>
            <a:br/>
            <a:r>
              <a:t>ECG AFE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0528" y="1051560"/>
            <a:ext cx="1572768" cy="65836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TMP1075</a:t>
            </a:r>
            <a:br/>
            <a:r>
              <a:t>Skin temp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2148840"/>
            <a:ext cx="1572768" cy="65836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ADXL367</a:t>
            </a:r>
            <a:br/>
            <a:r>
              <a:t>Posture + motion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0600" y="2148840"/>
            <a:ext cx="1572768" cy="65836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MAX20356 PMIC</a:t>
            </a:r>
            <a:br/>
            <a:r>
              <a:t>Charger + power path + fuel gauge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10528" y="2148840"/>
            <a:ext cx="1572768" cy="65836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450 mAh Li-Po</a:t>
            </a:r>
            <a:br/>
            <a:r>
              <a:t>Rechargeable battery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3429000"/>
            <a:ext cx="1572768" cy="65836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USB-C + ECG lead cable</a:t>
            </a:r>
            <a:br/>
            <a:r>
              <a:t>Power + data + sensor interface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0600" y="3429000"/>
            <a:ext cx="1572768" cy="65836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RGB LED + button</a:t>
            </a:r>
            <a:br/>
            <a:r>
              <a:t>Status + wakeup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10528" y="3429000"/>
            <a:ext cx="1572768" cy="65836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Debug UART</a:t>
            </a:r>
            <a:br/>
            <a:r>
              <a:t>Manufacturing + support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315968" y="1371600"/>
            <a:ext cx="484632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373368" y="1371600"/>
            <a:ext cx="13716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315968" y="2468880"/>
            <a:ext cx="484632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373368" y="2468880"/>
            <a:ext cx="13716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529584" y="1709928"/>
            <a:ext cx="0" cy="438912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4315968" y="1371600"/>
            <a:ext cx="484632" cy="2377439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8229600" y="3886200"/>
            <a:ext cx="3063240" cy="114300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29600" y="3886200"/>
            <a:ext cx="73152" cy="114300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3995928"/>
            <a:ext cx="27706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Hardware role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4343400"/>
            <a:ext cx="2752344" cy="63093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Patient-worn telemetry endpoint for ECG, temperature, posture, movement, derived respiration, device health, and future vitals expansion.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Patch signal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From body signal to actionable telemetry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5</a:t>
            </a:r>
          </a:p>
        </p:txBody>
      </p:sp>
      <p:pic>
        <p:nvPicPr>
          <p:cNvPr id="11" name="Picture 10" descr="image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51560"/>
            <a:ext cx="3383280" cy="166698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85800" y="3794760"/>
            <a:ext cx="1600200" cy="7772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  <a:latin typeface="Arial"/>
              </a:defRPr>
            </a:pPr>
            <a:r>
              <a:t>Body contact</a:t>
            </a:r>
            <a:br/>
            <a:r>
              <a:t>ECG/temp/motion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286000" y="4187952"/>
            <a:ext cx="22860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514600" y="3794760"/>
            <a:ext cx="1600200" cy="77724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  <a:latin typeface="Arial"/>
              </a:defRPr>
            </a:pPr>
            <a:r>
              <a:t>Analog front end</a:t>
            </a:r>
            <a:br/>
            <a:r>
              <a:t>filter + sample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14800" y="4187952"/>
            <a:ext cx="22860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343400" y="3794760"/>
            <a:ext cx="1600200" cy="7772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  <a:latin typeface="Arial"/>
              </a:defRPr>
            </a:pPr>
            <a:r>
              <a:t>MCU processing</a:t>
            </a:r>
            <a:br/>
            <a:r>
              <a:t>packetize + status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43600" y="4187952"/>
            <a:ext cx="22860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172200" y="3794760"/>
            <a:ext cx="1600200" cy="77724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  <a:latin typeface="Arial"/>
              </a:defRPr>
            </a:pPr>
            <a:r>
              <a:t>Wi-Fi/BLE telemetry</a:t>
            </a:r>
            <a:br/>
            <a:r>
              <a:t>authenticated send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772400" y="4187952"/>
            <a:ext cx="22860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001000" y="3794760"/>
            <a:ext cx="1600200" cy="7772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  <a:latin typeface="Arial"/>
              </a:defRPr>
            </a:pPr>
            <a:r>
              <a:t>Edge ingest</a:t>
            </a:r>
            <a:br/>
            <a:r>
              <a:t>buffer + normalize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601200" y="4187952"/>
            <a:ext cx="22860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829800" y="3794760"/>
            <a:ext cx="1600200" cy="77724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19" b="1">
                <a:solidFill>
                  <a:srgbClr val="FFFFFF"/>
                </a:solidFill>
                <a:latin typeface="Arial"/>
              </a:defRPr>
            </a:pPr>
            <a:r>
              <a:t>Rules + dashboard</a:t>
            </a:r>
            <a:br/>
            <a:r>
              <a:t>alerts + trends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097280"/>
            <a:ext cx="6492240" cy="1965960"/>
          </a:xfrm>
          <a:prstGeom prst="rect">
            <a:avLst/>
          </a:prstGeom>
          <a:noFill/>
        </p:spPr>
        <p:txBody>
          <a:bodyPr wrap="square" lIns="45720" rIns="36576">
            <a:spAutoFit/>
          </a:bodyPr>
          <a:lstStyle/>
          <a:p>
            <a:pPr>
              <a:spcAft>
                <a:spcPts val="400"/>
              </a:spcAft>
              <a:defRPr sz="1280">
                <a:solidFill>
                  <a:srgbClr val="202020"/>
                </a:solidFill>
                <a:latin typeface="Arial"/>
              </a:defRPr>
            </a:pPr>
            <a:r>
              <a:t>Sampling and packet cadence configurable by clinical workflow and battery budget.</a:t>
            </a:r>
          </a:p>
          <a:p>
            <a:pPr>
              <a:spcAft>
                <a:spcPts val="400"/>
              </a:spcAft>
              <a:defRPr sz="1280">
                <a:solidFill>
                  <a:srgbClr val="202020"/>
                </a:solidFill>
                <a:latin typeface="Arial"/>
              </a:defRPr>
            </a:pPr>
            <a:r>
              <a:t>Telemetry contains sensor values, timestamp, device ID, battery, RSSI/connectivity state, and firmware/config version.</a:t>
            </a:r>
          </a:p>
          <a:p>
            <a:pPr>
              <a:spcAft>
                <a:spcPts val="400"/>
              </a:spcAft>
              <a:defRPr sz="1280">
                <a:solidFill>
                  <a:srgbClr val="202020"/>
                </a:solidFill>
                <a:latin typeface="Arial"/>
              </a:defRPr>
            </a:pPr>
            <a:r>
              <a:t>Edge buffering protects against temporary hospital Wi-Fi disruption.</a:t>
            </a:r>
          </a:p>
          <a:p>
            <a:pPr>
              <a:spcAft>
                <a:spcPts val="400"/>
              </a:spcAft>
              <a:defRPr sz="1280">
                <a:solidFill>
                  <a:srgbClr val="202020"/>
                </a:solidFill>
                <a:latin typeface="Arial"/>
              </a:defRPr>
            </a:pPr>
            <a:r>
              <a:t>Platform association links every payload to patient, bed, ward, and care episode.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Expanded device ecosystem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Clinical and operational telemetry endpoints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6</a:t>
            </a:r>
          </a:p>
        </p:txBody>
      </p:sp>
      <p:pic>
        <p:nvPicPr>
          <p:cNvPr id="11" name="Picture 10" descr="image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97280"/>
            <a:ext cx="2743200" cy="135671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85800" y="3703320"/>
            <a:ext cx="2926080" cy="117043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703320"/>
            <a:ext cx="73152" cy="1170432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813048"/>
            <a:ext cx="263347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Wearable patch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160520"/>
            <a:ext cx="2615184" cy="658368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Continuous ECG, HR, temperature, respiration, posture, restlessness.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7639" y="1234440"/>
            <a:ext cx="2057400" cy="73152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Connected BP + SpO2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77639" y="2194560"/>
            <a:ext cx="205740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77639" y="2194560"/>
            <a:ext cx="73152" cy="150876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60520" y="2304288"/>
            <a:ext cx="17647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Telemetry 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2651760"/>
            <a:ext cx="174650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969">
                <a:solidFill>
                  <a:srgbClr val="36393F"/>
                </a:solidFill>
                <a:latin typeface="Arial"/>
              </a:defRPr>
            </a:pPr>
            <a:r>
              <a:t>Periodic vitals capture during ward rounds and high-risk monitoring.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1234440"/>
            <a:ext cx="2057400" cy="73152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Bed state input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2194560"/>
            <a:ext cx="205740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2240" y="2194560"/>
            <a:ext cx="73152" cy="150876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0" y="2304288"/>
            <a:ext cx="17647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Telemetry role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651760"/>
            <a:ext cx="174650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969">
                <a:solidFill>
                  <a:srgbClr val="36393F"/>
                </a:solidFill>
                <a:latin typeface="Arial"/>
              </a:defRPr>
            </a:pPr>
            <a:r>
              <a:t>Occupied, vacant, cleaning, blocked, transfer, discharge-ready, maintenance.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06840" y="1234440"/>
            <a:ext cx="2057400" cy="73152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Asset tags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2194560"/>
            <a:ext cx="2057400" cy="150876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06840" y="2194560"/>
            <a:ext cx="73152" cy="150876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89719" y="2304288"/>
            <a:ext cx="17647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Telemetry role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19" y="2651760"/>
            <a:ext cx="1746504" cy="99669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969">
                <a:solidFill>
                  <a:srgbClr val="36393F"/>
                </a:solidFill>
                <a:latin typeface="Arial"/>
              </a:defRPr>
            </a:pPr>
            <a:r>
              <a:t>BLE, Wi-Fi, RFID, or UWB tags for pumps, monitors, cylinders, carts, wheelchairs.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3429000" y="1600200"/>
            <a:ext cx="548639" cy="64008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429000" y="1600200"/>
            <a:ext cx="3063240" cy="64008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3429000" y="1600200"/>
            <a:ext cx="5577840" cy="64008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383280" y="5440680"/>
            <a:ext cx="621792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Unified event model across clinical signals and operations events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Connectivity and edge topology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Hospital-grade connectivity under network variability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097280"/>
            <a:ext cx="2011680" cy="5486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Patch + BP + SpO2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1170432"/>
            <a:ext cx="10972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Wi-Fi / BLE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40480" y="1371600"/>
            <a:ext cx="777240" cy="137160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77240" y="2011680"/>
            <a:ext cx="2011680" cy="5486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Bed sensors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2084832"/>
            <a:ext cx="10972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BLE / wired input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840480" y="2286000"/>
            <a:ext cx="777240" cy="45720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77240" y="2926080"/>
            <a:ext cx="2011680" cy="5486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Asset tags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2999232"/>
            <a:ext cx="10972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BLE / RFID / UWB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3840480" y="2743200"/>
            <a:ext cx="777240" cy="45720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77240" y="3840480"/>
            <a:ext cx="2011680" cy="5486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Mobile workflows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3913632"/>
            <a:ext cx="109728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Tablet / workstation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3840480" y="2743200"/>
            <a:ext cx="777240" cy="137160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617720" y="2148840"/>
            <a:ext cx="2331720" cy="118872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Honeywell Edge Gateway</a:t>
            </a:r>
            <a:br/>
            <a:r>
              <a:t>Auth + buffer + normalize + route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66760" y="1325880"/>
            <a:ext cx="2423160" cy="56692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Device registry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6949440" y="1609344"/>
            <a:ext cx="1417320" cy="1133856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366760" y="2240280"/>
            <a:ext cx="2423160" cy="56692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Time-series ingestion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6949440" y="2523744"/>
            <a:ext cx="1417320" cy="219456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8366760" y="3154680"/>
            <a:ext cx="2423160" cy="56692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Event bus + rules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949440" y="2743200"/>
            <a:ext cx="1417320" cy="694944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366760" y="4069080"/>
            <a:ext cx="2423160" cy="56692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Command center APIs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949440" y="2743200"/>
            <a:ext cx="1417320" cy="1609344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777240" y="5074920"/>
            <a:ext cx="10058400" cy="68580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5074920"/>
            <a:ext cx="73152" cy="68580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5184648"/>
            <a:ext cx="97657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Edge resilience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5532120"/>
            <a:ext cx="9747504" cy="17373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Local buffering, retry logic, time synchronization, device-health monitoring, and controlled reconnect behavior support hospital network variability.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Event-driven data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Telemetry, workflow state, and analytics separation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1024128"/>
            <a:ext cx="1033272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" y="1024128"/>
            <a:ext cx="73152" cy="749808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1133856"/>
            <a:ext cx="100401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Raw telemetry store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481328"/>
            <a:ext cx="10021824" cy="237743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110">
                <a:solidFill>
                  <a:srgbClr val="36393F"/>
                </a:solidFill>
                <a:latin typeface="Arial"/>
              </a:defRPr>
            </a:pPr>
            <a:r>
              <a:t>Sensor payloads, ECG snapshots, vitals values, device metadata, timestamps.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1956816"/>
            <a:ext cx="1033272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4400" y="1956816"/>
            <a:ext cx="73152" cy="749808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066544"/>
            <a:ext cx="100401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Operational event stream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414016"/>
            <a:ext cx="10021824" cy="237743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110">
                <a:solidFill>
                  <a:srgbClr val="36393F"/>
                </a:solidFill>
                <a:latin typeface="Arial"/>
              </a:defRPr>
            </a:pPr>
            <a:r>
              <a:t>Bed state changes, asset zone events, assignment changes, alert lifecycle.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" y="2889504"/>
            <a:ext cx="1033272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" y="2889504"/>
            <a:ext cx="73152" cy="749808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2999232"/>
            <a:ext cx="100401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Rules outputs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3346704"/>
            <a:ext cx="10021824" cy="237743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110">
                <a:solidFill>
                  <a:srgbClr val="36393F"/>
                </a:solidFill>
                <a:latin typeface="Arial"/>
              </a:defRPr>
            </a:pPr>
            <a:r>
              <a:t>Thresholds, trends, missed-vitals windows, battery/connectivity, bed/asset exceptions.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3822191"/>
            <a:ext cx="1033272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" y="3822191"/>
            <a:ext cx="73152" cy="749808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931920"/>
            <a:ext cx="100401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Workflow tasks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4279392"/>
            <a:ext cx="10021824" cy="237743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110">
                <a:solidFill>
                  <a:srgbClr val="36393F"/>
                </a:solidFill>
                <a:latin typeface="Arial"/>
              </a:defRPr>
            </a:pPr>
            <a:r>
              <a:t>Nurse queue, doctor review, housekeeping queue, biomedical action, transport task.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4754879"/>
            <a:ext cx="1033272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4400" y="4754879"/>
            <a:ext cx="73152" cy="749808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864607"/>
            <a:ext cx="100401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Analytics aggregates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5212079"/>
            <a:ext cx="10021824" cy="237743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110">
                <a:solidFill>
                  <a:srgbClr val="36393F"/>
                </a:solidFill>
                <a:latin typeface="Arial"/>
              </a:defRPr>
            </a:pPr>
            <a:r>
              <a:t>Ward, hospital, and hospital-chain KPIs for throughput, acuity, utilization, response.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Patient-bed-device assignment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Avoiding orphan telemetry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234440"/>
            <a:ext cx="1691640" cy="65836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Patient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057400"/>
            <a:ext cx="1691640" cy="10058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2057400"/>
            <a:ext cx="73152" cy="10058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167128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202020"/>
                </a:solidFill>
                <a:latin typeface="Arial"/>
              </a:defRPr>
            </a:pPr>
            <a:r>
              <a:t>Data keys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14600"/>
            <a:ext cx="1380744" cy="4937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850">
                <a:solidFill>
                  <a:srgbClr val="36393F"/>
                </a:solidFill>
                <a:latin typeface="Arial"/>
              </a:defRPr>
            </a:pPr>
            <a:r>
              <a:t>MRN / episode / demographics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80360" y="1234440"/>
            <a:ext cx="1691640" cy="65836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Admission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80360" y="2057400"/>
            <a:ext cx="1691640" cy="10058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80360" y="2057400"/>
            <a:ext cx="73152" cy="100584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63240" y="2167128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202020"/>
                </a:solidFill>
                <a:latin typeface="Arial"/>
              </a:defRPr>
            </a:pPr>
            <a:r>
              <a:t>Data keys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2514600"/>
            <a:ext cx="1380744" cy="4937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850">
                <a:solidFill>
                  <a:srgbClr val="36393F"/>
                </a:solidFill>
                <a:latin typeface="Arial"/>
              </a:defRPr>
            </a:pPr>
            <a:r>
              <a:t>ward / department / care episode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74920" y="1234440"/>
            <a:ext cx="1691640" cy="658368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Bed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74920" y="2057400"/>
            <a:ext cx="1691640" cy="10058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74920" y="2057400"/>
            <a:ext cx="73152" cy="100584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57800" y="2167128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202020"/>
                </a:solidFill>
                <a:latin typeface="Arial"/>
              </a:defRPr>
            </a:pPr>
            <a:r>
              <a:t>Data keys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2514600"/>
            <a:ext cx="1380744" cy="4937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850">
                <a:solidFill>
                  <a:srgbClr val="36393F"/>
                </a:solidFill>
                <a:latin typeface="Arial"/>
              </a:defRPr>
            </a:pPr>
            <a:r>
              <a:t>bed ID / state / location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69480" y="1234440"/>
            <a:ext cx="1691640" cy="65836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Device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2057400"/>
            <a:ext cx="1691640" cy="10058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269480" y="2057400"/>
            <a:ext cx="73152" cy="10058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52360" y="2167128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202020"/>
                </a:solidFill>
                <a:latin typeface="Arial"/>
              </a:defRPr>
            </a:pPr>
            <a:r>
              <a:t>Data keys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2514600"/>
            <a:ext cx="1380744" cy="4937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850">
                <a:solidFill>
                  <a:srgbClr val="36393F"/>
                </a:solidFill>
                <a:latin typeface="Arial"/>
              </a:defRPr>
            </a:pPr>
            <a:r>
              <a:t>serial / firmware / battery / status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64040" y="1234440"/>
            <a:ext cx="1691640" cy="658368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Asset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64040" y="2057400"/>
            <a:ext cx="1691640" cy="10058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464040" y="2057400"/>
            <a:ext cx="73152" cy="10058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46919" y="2167128"/>
            <a:ext cx="13990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202020"/>
                </a:solidFill>
                <a:latin typeface="Arial"/>
              </a:defRPr>
            </a:pPr>
            <a:r>
              <a:t>Data keys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46919" y="2514600"/>
            <a:ext cx="1380744" cy="4937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850">
                <a:solidFill>
                  <a:srgbClr val="36393F"/>
                </a:solidFill>
                <a:latin typeface="Arial"/>
              </a:defRPr>
            </a:pPr>
            <a:r>
              <a:t>tag ID / class / zone / service state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377440" y="1554480"/>
            <a:ext cx="50292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572000" y="1554480"/>
            <a:ext cx="50292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766560" y="1554480"/>
            <a:ext cx="50292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961120" y="1554480"/>
            <a:ext cx="50292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14400" y="3886200"/>
            <a:ext cx="4846320" cy="12344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4400" y="3886200"/>
            <a:ext cx="73152" cy="12344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97280" y="3995928"/>
            <a:ext cx="45537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Assignment service responsibilities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343400"/>
            <a:ext cx="4535424" cy="7223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Pair device to patient, patient to bed, asset to zone, and events to care episode with auditability.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00800" y="3886200"/>
            <a:ext cx="4846320" cy="12344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400800" y="3886200"/>
            <a:ext cx="73152" cy="123444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0" y="3995928"/>
            <a:ext cx="45537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Why it matters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4343400"/>
            <a:ext cx="4535424" cy="7223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Every telemetry point, bed event, and asset event is traceable to the right operational context.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Rules engine and alerting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Clinical and operations logic in one configurable layer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078992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078992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188719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Vitals threshold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1536192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BP, HR, SpO2, temperature, ECG-derived alerts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078992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1078992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1188719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Trend detection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1536192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Change over baseline, repeated abnormalities, escalation windows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1078992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79" y="1078992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1188719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Missed vitals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1536192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Expected observation not received within defined time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2953511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2953511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063239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Device health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410711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Battery, RSSI, offline, firmware/config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2953511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34840" y="2953511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17720" y="3063239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Bed workflow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410711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Cleaning delay, blocked bed, discharge-ready queue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83879" y="2953511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79" y="2953511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59" y="3063239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Asset exception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59" y="3410711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Missing asset, zone exit, service due, low utilization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063240" y="5349240"/>
            <a:ext cx="598932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Alert lifecycle: generated -&gt; routed -&gt; acknowledged -&gt; resolved -&gt; audited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Bed management technical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State machine plus workflow queues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188720"/>
            <a:ext cx="1417320" cy="5486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Vacant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11680" y="1463040"/>
            <a:ext cx="18288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194560" y="1188720"/>
            <a:ext cx="1417320" cy="54864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Occupied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11880" y="1463040"/>
            <a:ext cx="18288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794760" y="1188720"/>
            <a:ext cx="1417320" cy="5486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Discharge-ready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212080" y="1463040"/>
            <a:ext cx="18288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394960" y="1188720"/>
            <a:ext cx="1417320" cy="54864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Cleaning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12280" y="1463040"/>
            <a:ext cx="18288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995160" y="1188720"/>
            <a:ext cx="1417320" cy="5486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Blocked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12480" y="1463040"/>
            <a:ext cx="18288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595360" y="1188720"/>
            <a:ext cx="1417320" cy="54864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Maintenance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0012680" y="1463040"/>
            <a:ext cx="18288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10195560" y="1188720"/>
            <a:ext cx="1417320" cy="54864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Arial"/>
              </a:defRPr>
            </a:pPr>
            <a:r>
              <a:t>Transfer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2514600"/>
            <a:ext cx="3429000" cy="19202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2514600"/>
            <a:ext cx="73152" cy="19202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2624328"/>
            <a:ext cx="31363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State inputs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2971800"/>
            <a:ext cx="3118104" cy="14081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ADT feed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Nurse/ward update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Housekeeping update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Maintenance status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Transfer request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2514600"/>
            <a:ext cx="3429000" cy="19202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2514600"/>
            <a:ext cx="73152" cy="192024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63440" y="2624328"/>
            <a:ext cx="31363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Workflow queues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971800"/>
            <a:ext cx="3118104" cy="14081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Admission queue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Cleaning queue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Transport queue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Maintenance queue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Discharge coordination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83879" y="2514600"/>
            <a:ext cx="3429000" cy="192024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83879" y="2514600"/>
            <a:ext cx="73152" cy="192024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66759" y="2624328"/>
            <a:ext cx="313639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Operational KPIs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59" y="2971800"/>
            <a:ext cx="3118104" cy="140817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Turnaround time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Blocked-bed time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Cleaning cycle time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Occupancy</a:t>
            </a:r>
          </a:p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Transfer bottlenecks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43200" y="5257800"/>
            <a:ext cx="667512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Bed intelligence connects patient acuity, capacity, and hospital flow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Asset tracking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Accuracy tiers matched to operational value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1115568"/>
            <a:ext cx="4983480" cy="107899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1115568"/>
            <a:ext cx="73152" cy="1078992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1225295"/>
            <a:ext cx="469087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BLE tags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572768"/>
            <a:ext cx="4672584" cy="566927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Low cost zone proximity for pumps, wheelchairs, monitors.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115568"/>
            <a:ext cx="4983480" cy="107899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1115568"/>
            <a:ext cx="73152" cy="1078992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225295"/>
            <a:ext cx="469087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RFID gates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572768"/>
            <a:ext cx="4672584" cy="566927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Entry/exit control for storerooms, wards, departments.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2624328"/>
            <a:ext cx="4983480" cy="107899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2624328"/>
            <a:ext cx="73152" cy="1078992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2734056"/>
            <a:ext cx="469087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UWB zones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081528"/>
            <a:ext cx="4672584" cy="566927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Higher precision for critical assets and high-value equipment.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624328"/>
            <a:ext cx="4983480" cy="107899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2624328"/>
            <a:ext cx="73152" cy="1078992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2734056"/>
            <a:ext cx="469087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Wi-Fi tags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081528"/>
            <a:ext cx="4672584" cy="566927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Network-based location where infrastructure supports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572000"/>
            <a:ext cx="1033272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4572000"/>
            <a:ext cx="73152" cy="749808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681728"/>
            <a:ext cx="1004011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Asset event 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5029200"/>
            <a:ext cx="10021824" cy="237743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tag_id, asset_class, zone, timestamp, movement event, utilization state, service state, exception type, assigned department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Hospital integration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API-first, adapter-ready interoperability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234440"/>
            <a:ext cx="2057400" cy="68580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Hospital systems</a:t>
            </a:r>
            <a:br/>
            <a:r>
              <a:t>HMS / EHR / EMR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94760" y="1234440"/>
            <a:ext cx="2057400" cy="68580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Integration adapter</a:t>
            </a:r>
            <a:br/>
            <a:r>
              <a:t>FHIR / HL7 / REST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66560" y="1234440"/>
            <a:ext cx="2057400" cy="68580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Platform services</a:t>
            </a:r>
            <a:br/>
            <a:r>
              <a:t>ADT + assignment + alerts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738360" y="1234440"/>
            <a:ext cx="1828800" cy="68580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Applications</a:t>
            </a:r>
            <a:br/>
            <a:r>
              <a:t>Dashboards + APIs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80360" y="1572768"/>
            <a:ext cx="91440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852160" y="1572768"/>
            <a:ext cx="91440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823960" y="1572768"/>
            <a:ext cx="91440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2743200"/>
            <a:ext cx="3291840" cy="132588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2743200"/>
            <a:ext cx="73152" cy="132588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285292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Inbound hospital context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200400"/>
            <a:ext cx="2980944" cy="81381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ADT, patient demographics, ward, bed, encounter, clinician assignment.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743200"/>
            <a:ext cx="3291840" cy="132588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34840" y="2743200"/>
            <a:ext cx="73152" cy="132588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720" y="285292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Outbound platform events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3200400"/>
            <a:ext cx="2980944" cy="81381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Alerts, vitals summaries, device events, bed-state updates, asset exceptions.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2743200"/>
            <a:ext cx="3291840" cy="132588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2743200"/>
            <a:ext cx="73152" cy="132588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285292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Mapping controls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200400"/>
            <a:ext cx="2980944" cy="813815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Hospital-specific data dictionaries, interface monitoring, retry/error handling.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5166360"/>
            <a:ext cx="672084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Integration pattern supports heterogeneous India and APAC hospital environments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Security and compliance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Controls across device, edge, platform, and users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09728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097280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207007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Device identity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155448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Provisioning, device registry, serial binding, firmware/config visibility.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09728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1097280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1207007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Secure transport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155448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Authenticated ingestion, encryption in transit, controlled gateways.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109728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79" y="1097280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1207007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Access 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155448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Role-based access for nurse, doctor, biomedical, operations, admin, leadership.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297180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2971800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Auditability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42900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Assignment changes, alert lifecycle, integration events, device actions.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297180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34840" y="2971800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17720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Network segmentation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42900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Device, edge, platform, and hospital integration zones separated.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83879" y="297180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79" y="2971800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59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Deployment control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59" y="342900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On-premise, private cloud, or hybrid data-retention policies.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Deployment topology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Ward, hospital, and hospital-chain scale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234440"/>
            <a:ext cx="2103120" cy="68580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Ward deployment</a:t>
            </a:r>
            <a:br/>
            <a:r>
              <a:t>50-100 beds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234440"/>
            <a:ext cx="2377440" cy="68580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Hospital deployment</a:t>
            </a:r>
            <a:br/>
            <a:r>
              <a:t>Multiple wards + ops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12280" y="1234440"/>
            <a:ext cx="2377440" cy="68580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Chain deployment</a:t>
            </a:r>
            <a:br/>
            <a:r>
              <a:t>Multi-site dashboards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21240" y="1234440"/>
            <a:ext cx="1645920" cy="68580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Enterprise</a:t>
            </a:r>
            <a:br/>
            <a:r>
              <a:t>Analytics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80360" y="1572768"/>
            <a:ext cx="77724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035040" y="1572768"/>
            <a:ext cx="77724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189720" y="1572768"/>
            <a:ext cx="73152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2788920"/>
            <a:ext cx="329184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2788920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289864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Ward package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246120"/>
            <a:ext cx="298094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Patch devices, BP/SpO2, BLE gateway, nurse dashboard, basic alerts.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788920"/>
            <a:ext cx="329184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34840" y="2788920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720" y="289864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Hospital package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3246120"/>
            <a:ext cx="298094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Bed board, asset tags, integration adapter, command-center workflows.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2788920"/>
            <a:ext cx="329184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46720" y="2788920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0" y="2898648"/>
            <a:ext cx="299923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Enterprise package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246120"/>
            <a:ext cx="298094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Multi-site KPIs, analytics aggregates, standard deployment template.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Technical non-functional requirements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Architecture guardrails for hospital operations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09728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097280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207007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Reliability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155448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Buffered edge telemetry, retry logic, device health monitoring.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09728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34840" y="1097280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1207007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Scalability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155448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Ward-to-chain architecture with event partitioning and modular services.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109728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79" y="1097280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1207007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Maintainability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155448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Device registry, firmware/config visibility, interface monitoring.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297180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2971800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Interoperability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42900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FHIR/HL7 where available, REST adapters for local hospital systems.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297180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34840" y="2971800"/>
            <a:ext cx="73152" cy="14173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17720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Usability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17720" y="342900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Role-specific dashboards and exception-first workflows.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83879" y="2971800"/>
            <a:ext cx="3337560" cy="14173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83879" y="2971800"/>
            <a:ext cx="73152" cy="14173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66759" y="3081528"/>
            <a:ext cx="3044952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200" b="1">
                <a:solidFill>
                  <a:srgbClr val="202020"/>
                </a:solidFill>
                <a:latin typeface="Arial"/>
              </a:defRPr>
            </a:pPr>
            <a:r>
              <a:t>Traceability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59" y="3429000"/>
            <a:ext cx="3026664" cy="9052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50">
                <a:solidFill>
                  <a:srgbClr val="36393F"/>
                </a:solidFill>
                <a:latin typeface="Arial"/>
              </a:defRPr>
            </a:pPr>
            <a:r>
              <a:t>Telemetry-to-patient-to-bed-to-event lineage and audit logs.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End-to-end technical demo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How the platform demonstrates value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143000"/>
            <a:ext cx="1737360" cy="32461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143000"/>
            <a:ext cx="73152" cy="32461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252728"/>
            <a:ext cx="1444751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1. Assign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1600200"/>
            <a:ext cx="1426463" cy="27340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6393F"/>
                </a:solidFill>
                <a:latin typeface="Arial"/>
              </a:defRPr>
            </a:pPr>
            <a:r>
              <a:t>Patient + bed + patch + BP device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31720" y="2743200"/>
            <a:ext cx="18288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514600" y="1143000"/>
            <a:ext cx="1737360" cy="32461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14600" y="1143000"/>
            <a:ext cx="73152" cy="32461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97480" y="1252728"/>
            <a:ext cx="1444751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2. Capture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1600200"/>
            <a:ext cx="1426463" cy="27340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6393F"/>
                </a:solidFill>
                <a:latin typeface="Arial"/>
              </a:defRPr>
            </a:pPr>
            <a:r>
              <a:t>ECG, vitals, posture, temperature, device health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51960" y="2743200"/>
            <a:ext cx="182880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434840" y="1143000"/>
            <a:ext cx="1737360" cy="32461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34840" y="1143000"/>
            <a:ext cx="73152" cy="32461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1252728"/>
            <a:ext cx="1444751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3. Normalize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1600200"/>
            <a:ext cx="1426463" cy="27340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6393F"/>
                </a:solidFill>
                <a:latin typeface="Arial"/>
              </a:defRPr>
            </a:pPr>
            <a:r>
              <a:t>Edge authentication, buffering, payload normalization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72200" y="2743200"/>
            <a:ext cx="182879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6355079" y="1143000"/>
            <a:ext cx="1737360" cy="32461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355079" y="1143000"/>
            <a:ext cx="73152" cy="32461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1252728"/>
            <a:ext cx="1444751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4. Evaluate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59" y="1600200"/>
            <a:ext cx="1426463" cy="27340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6393F"/>
                </a:solidFill>
                <a:latin typeface="Arial"/>
              </a:defRPr>
            </a:pPr>
            <a:r>
              <a:t>Risk scores, trends, thresholds, missed vitals, battery, connectivity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092440" y="2743200"/>
            <a:ext cx="182879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8275319" y="1143000"/>
            <a:ext cx="1737360" cy="32461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275319" y="1143000"/>
            <a:ext cx="73152" cy="3246120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58199" y="1252728"/>
            <a:ext cx="1444751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5. Act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199" y="1600200"/>
            <a:ext cx="1426463" cy="27340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6393F"/>
                </a:solidFill>
                <a:latin typeface="Arial"/>
              </a:defRPr>
            </a:pPr>
            <a:r>
              <a:t>Nurse queue, doctor review, bed board, asset map, command center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012680" y="2743200"/>
            <a:ext cx="182879" cy="0"/>
          </a:xfrm>
          <a:prstGeom prst="line">
            <a:avLst/>
          </a:prstGeom>
          <a:ln w="15240">
            <a:solidFill>
              <a:srgbClr val="E400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10195559" y="1143000"/>
            <a:ext cx="1737360" cy="3246120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195559" y="1143000"/>
            <a:ext cx="73152" cy="324612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378439" y="1252728"/>
            <a:ext cx="1444751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6. Analyze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78439" y="1600200"/>
            <a:ext cx="1426463" cy="2734056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6393F"/>
                </a:solidFill>
                <a:latin typeface="Arial"/>
              </a:defRPr>
            </a:pPr>
            <a:r>
              <a:t>Ward KPIs, throughput, utilization, enterprise reporting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788920" y="5257800"/>
            <a:ext cx="658368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Demo story: sensor signal becomes risk score, clinical action, and measurable outcome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31520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Technical differentiators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Architecture-led healthcare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18</a:t>
            </a:r>
          </a:p>
        </p:txBody>
      </p:sp>
      <p:pic>
        <p:nvPicPr>
          <p:cNvPr id="11" name="Picture 10" descr="image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79" y="1078992"/>
            <a:ext cx="3474720" cy="17185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" y="1143000"/>
            <a:ext cx="6309360" cy="4206240"/>
          </a:xfrm>
          <a:prstGeom prst="rect">
            <a:avLst/>
          </a:prstGeom>
          <a:noFill/>
        </p:spPr>
        <p:txBody>
          <a:bodyPr wrap="square" lIns="45720" rIns="36576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  <a:latin typeface="Arial"/>
              </a:defRPr>
            </a:pPr>
            <a:r>
              <a:t>Honeywell sensing foundation connected to hospital workflow intelligence.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  <a:latin typeface="Arial"/>
              </a:defRPr>
            </a:pPr>
            <a:r>
              <a:t>Multi-domain architecture for vitals, bed state, asset tracking, and command-center operations.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  <a:latin typeface="Arial"/>
              </a:defRPr>
            </a:pPr>
            <a:r>
              <a:t>Edge resilience for real-world hospital network variability.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  <a:latin typeface="Arial"/>
              </a:defRPr>
            </a:pPr>
            <a:r>
              <a:t>Integration-aware design for heterogeneous India and APAC hospital systems.</a:t>
            </a:r>
          </a:p>
          <a:p>
            <a:pPr>
              <a:spcAft>
                <a:spcPts val="400"/>
              </a:spcAft>
              <a:defRPr sz="1500">
                <a:solidFill>
                  <a:srgbClr val="202020"/>
                </a:solidFill>
                <a:latin typeface="Arial"/>
              </a:defRPr>
            </a:pPr>
            <a:r>
              <a:t>Scalable event model supporting ward deployment, hospital operations, and chain-level analytics.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5440680"/>
            <a:ext cx="6080760" cy="365760"/>
          </a:xfrm>
          <a:prstGeom prst="round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FFFF"/>
                </a:solidFill>
                <a:latin typeface="Arial"/>
              </a:defRPr>
            </a:pPr>
            <a:r>
              <a:t>From wearable telemetry to whole-hospital technical architecture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1792"/>
            <a:ext cx="12191695" cy="54864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201168"/>
            <a:ext cx="1691640" cy="29260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E4002B"/>
                </a:solidFill>
                <a:latin typeface="Arial"/>
              </a:defRPr>
            </a:pPr>
            <a:r>
              <a:t>Honeywell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4592"/>
            <a:ext cx="7132320" cy="34747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800" b="1">
                <a:solidFill>
                  <a:srgbClr val="202020"/>
                </a:solidFill>
                <a:latin typeface="Arial"/>
              </a:defRPr>
            </a:pPr>
            <a:r>
              <a:t>What we have already achieved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98280" y="18288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850" b="0">
                <a:solidFill>
                  <a:srgbClr val="63666A"/>
                </a:solidFill>
                <a:latin typeface="Arial"/>
              </a:defRPr>
            </a:pPr>
            <a:r>
              <a:t>Wearable Smart Patch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024128"/>
            <a:ext cx="3364992" cy="117043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024128"/>
            <a:ext cx="73152" cy="1170432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133856"/>
            <a:ext cx="3072384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Clinical scope defined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453896"/>
            <a:ext cx="3054096" cy="685800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defRPr sz="940">
                <a:solidFill>
                  <a:srgbClr val="36393F"/>
                </a:solidFill>
                <a:latin typeface="Arial"/>
              </a:defRPr>
            </a:pPr>
            <a:r>
              <a:t>ECG, heart rate, skin temperature, respiration, posture, restlessness, SpO2 expansion, connected vitals workflows.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024128"/>
            <a:ext cx="3364992" cy="117043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024128"/>
            <a:ext cx="73152" cy="1170432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133856"/>
            <a:ext cx="3072384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MVO1 requirements captured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453896"/>
            <a:ext cx="3054096" cy="685800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defRPr sz="940">
                <a:solidFill>
                  <a:srgbClr val="36393F"/>
                </a:solidFill>
                <a:latin typeface="Arial"/>
              </a:defRPr>
            </a:pPr>
            <a:r>
              <a:t>Narayana Hrudayalaya business overview, reusable rechargeable device, periodic telemetry, API endpoint direction.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80" y="1024128"/>
            <a:ext cx="3364992" cy="117043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3880" y="1024128"/>
            <a:ext cx="73152" cy="1170432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133856"/>
            <a:ext cx="3072384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Prototype and concepts created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1453896"/>
            <a:ext cx="3054096" cy="685800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defRPr sz="940">
                <a:solidFill>
                  <a:srgbClr val="36393F"/>
                </a:solidFill>
                <a:latin typeface="Arial"/>
              </a:defRPr>
            </a:pPr>
            <a:r>
              <a:t>Industrial design renders, POC visuals, electrode placement, ECG cable options, USB-C interface, enclosure concepts.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2596896"/>
            <a:ext cx="3364992" cy="117043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2596896"/>
            <a:ext cx="73152" cy="1170432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2706624"/>
            <a:ext cx="3072384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Hardware baseline developed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3026663"/>
            <a:ext cx="3054096" cy="685800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defRPr sz="940">
                <a:solidFill>
                  <a:srgbClr val="36393F"/>
                </a:solidFill>
                <a:latin typeface="Arial"/>
              </a:defRPr>
            </a:pPr>
            <a:r>
              <a:t>ESP32-S3-MINI-1, MAX30003 ECG AFE, TMP1075, ADXL367, MAX20356 PMIC, Li-polymer battery, LED, debug support.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0" y="2596896"/>
            <a:ext cx="3364992" cy="117043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20" y="2596896"/>
            <a:ext cx="73152" cy="1170432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2706624"/>
            <a:ext cx="3072384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Deliverables identified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3026663"/>
            <a:ext cx="3054096" cy="685800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defRPr sz="940">
                <a:solidFill>
                  <a:srgbClr val="36393F"/>
                </a:solidFill>
                <a:latin typeface="Arial"/>
              </a:defRPr>
            </a:pPr>
            <a:r>
              <a:t>Smart patch device, ECG-USB cable, adhesive samples, user manual, Type-C charger, ECG plotting utility.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80" y="2596896"/>
            <a:ext cx="3364992" cy="117043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83880" y="2596896"/>
            <a:ext cx="73152" cy="1170432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2706624"/>
            <a:ext cx="3072384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Integration model mapped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3026663"/>
            <a:ext cx="3054096" cy="685800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defRPr sz="940">
                <a:solidFill>
                  <a:srgbClr val="36393F"/>
                </a:solidFill>
                <a:latin typeface="Arial"/>
              </a:defRPr>
            </a:pPr>
            <a:r>
              <a:t>Honeywell hardware/firmware/backend responsibilities and NH API, HMS/patient-ID, reporting, alerts, validation roles.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" y="4169664"/>
            <a:ext cx="3364992" cy="117043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94360" y="4169664"/>
            <a:ext cx="73152" cy="1170432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279392"/>
            <a:ext cx="3072384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Clinical protocols researched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599432"/>
            <a:ext cx="3054096" cy="685800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defRPr sz="940">
                <a:solidFill>
                  <a:srgbClr val="36393F"/>
                </a:solidFill>
                <a:latin typeface="Arial"/>
              </a:defRPr>
            </a:pPr>
            <a:r>
              <a:t>Pre-surgical, post-cardiac, post-major surgery, emergency chest pain, arrhythmia, ICU/sepsis/shock monitoring.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0" y="4169664"/>
            <a:ext cx="3364992" cy="117043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89120" y="4169664"/>
            <a:ext cx="73152" cy="1170432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0" y="4279392"/>
            <a:ext cx="3072384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Business case prepared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4599432"/>
            <a:ext cx="3054096" cy="685800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defRPr sz="940">
                <a:solidFill>
                  <a:srgbClr val="36393F"/>
                </a:solidFill>
                <a:latin typeface="Arial"/>
              </a:defRPr>
            </a:pPr>
            <a:r>
              <a:t>Bed capacity, launch device assumptions, pricing rationale, lifecycle view, patient-charge positioning, benefit/cost framing.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83880" y="4169664"/>
            <a:ext cx="3364992" cy="1170432"/>
          </a:xfrm>
          <a:prstGeom prst="rect">
            <a:avLst/>
          </a:prstGeom>
          <a:solidFill>
            <a:srgbClr val="F3F4F6"/>
          </a:solidFill>
          <a:ln w="9525">
            <a:solidFill>
              <a:srgbClr val="E8EB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183880" y="4169664"/>
            <a:ext cx="73152" cy="1170432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66760" y="4279392"/>
            <a:ext cx="3072384" cy="25603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1130" b="1">
                <a:solidFill>
                  <a:srgbClr val="202020"/>
                </a:solidFill>
                <a:latin typeface="Arial"/>
              </a:defRPr>
            </a:pPr>
            <a:r>
              <a:t>MVO expansion path outlined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4599432"/>
            <a:ext cx="3054096" cy="685800"/>
          </a:xfrm>
          <a:prstGeom prst="rect">
            <a:avLst/>
          </a:prstGeom>
          <a:noFill/>
        </p:spPr>
        <p:txBody>
          <a:bodyPr wrap="square" lIns="0" rIns="18288" tIns="0">
            <a:spAutoFit/>
          </a:bodyPr>
          <a:lstStyle/>
          <a:p>
            <a:pPr>
              <a:defRPr sz="940">
                <a:solidFill>
                  <a:srgbClr val="36393F"/>
                </a:solidFill>
                <a:latin typeface="Arial"/>
              </a:defRPr>
            </a:pPr>
            <a:r>
              <a:t>MVO1 foundation toward respiration rate, HRV, posture, IPX4, and SpO2 expansion.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10528"/>
            <a:ext cx="12191695" cy="36576"/>
          </a:xfrm>
          <a:prstGeom prst="rect">
            <a:avLst/>
          </a:prstGeom>
          <a:solidFill>
            <a:srgbClr val="E400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5488" y="6601968"/>
            <a:ext cx="292608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1">
                <a:solidFill>
                  <a:srgbClr val="63666A"/>
                </a:solidFill>
                <a:latin typeface="Arial"/>
              </a:defRPr>
            </a:pPr>
            <a:r>
              <a:t>Impact by Honeywell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63240" y="6601968"/>
            <a:ext cx="640080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defRPr sz="950" b="0">
                <a:solidFill>
                  <a:srgbClr val="63666A"/>
                </a:solidFill>
                <a:latin typeface="Arial"/>
              </a:defRPr>
            </a:pPr>
            <a:r>
              <a:t>Technical Architecture Version | India and APAC Innovation Challenge - Phase 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01400" y="6601968"/>
            <a:ext cx="502920" cy="1645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>
              <a:defRPr sz="950" b="0">
                <a:solidFill>
                  <a:srgbClr val="63666A"/>
                </a:solidFill>
                <a:latin typeface="Arial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